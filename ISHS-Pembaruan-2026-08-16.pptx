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2103120"/>
            <a:ext cx="64008"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84831"/>
            <a:ext cx="9144000" cy="274320"/>
          </a:xfrm>
          <a:prstGeom prst="rect">
            <a:avLst/>
          </a:prstGeom>
          <a:noFill/>
        </p:spPr>
        <p:txBody>
          <a:bodyPr wrap="square">
            <a:spAutoFit/>
          </a:bodyPr>
          <a:lstStyle/>
          <a:p>
            <a:pPr algn="l">
              <a:lnSpc>
                <a:spcPct val="100000"/>
              </a:lnSpc>
            </a:pPr>
            <a:r>
              <a:rPr sz="1050" b="0">
                <a:solidFill>
                  <a:srgbClr val="F59E0B"/>
                </a:solidFill>
                <a:latin typeface="Consolas"/>
              </a:rPr>
              <a:t>PEMBARUAN SISTEM</a:t>
            </a:r>
          </a:p>
        </p:txBody>
      </p:sp>
      <p:sp>
        <p:nvSpPr>
          <p:cNvPr id="4" name="TextBox 3"/>
          <p:cNvSpPr txBox="1"/>
          <p:nvPr/>
        </p:nvSpPr>
        <p:spPr>
          <a:xfrm>
            <a:off x="694944" y="2395728"/>
            <a:ext cx="10607040" cy="822960"/>
          </a:xfrm>
          <a:prstGeom prst="rect">
            <a:avLst/>
          </a:prstGeom>
          <a:noFill/>
        </p:spPr>
        <p:txBody>
          <a:bodyPr wrap="square">
            <a:spAutoFit/>
          </a:bodyPr>
          <a:lstStyle/>
          <a:p>
            <a:pPr algn="l">
              <a:lnSpc>
                <a:spcPct val="100000"/>
              </a:lnSpc>
            </a:pPr>
            <a:r>
              <a:rPr sz="4000" b="1">
                <a:solidFill>
                  <a:srgbClr val="F8FAFC"/>
                </a:solidFill>
                <a:latin typeface="Segoe UI"/>
              </a:rPr>
              <a:t>Perhitungan Ritase yang Bisa Dipertanggungjawabkan</a:t>
            </a:r>
          </a:p>
        </p:txBody>
      </p:sp>
      <p:sp>
        <p:nvSpPr>
          <p:cNvPr id="5" name="TextBox 4"/>
          <p:cNvSpPr txBox="1"/>
          <p:nvPr/>
        </p:nvSpPr>
        <p:spPr>
          <a:xfrm>
            <a:off x="713232" y="3310128"/>
            <a:ext cx="9509760" cy="822960"/>
          </a:xfrm>
          <a:prstGeom prst="rect">
            <a:avLst/>
          </a:prstGeom>
          <a:noFill/>
        </p:spPr>
        <p:txBody>
          <a:bodyPr wrap="square">
            <a:spAutoFit/>
          </a:bodyPr>
          <a:lstStyle/>
          <a:p>
            <a:pPr algn="l">
              <a:lnSpc>
                <a:spcPct val="125000"/>
              </a:lnSpc>
            </a:pPr>
            <a:r>
              <a:rPr sz="1500" b="0">
                <a:solidFill>
                  <a:srgbClr val="A3AEC2"/>
                </a:solidFill>
                <a:latin typeface="Segoe UI"/>
              </a:rPr>
              <a:t>Arah masuk-keluar diperbaiki, laporan mengikuti hari tambang 06:00–06:00, dan rincian per pos cek — diuji ulang dengan sepuluh rekaman gerbang.</a:t>
            </a:r>
          </a:p>
        </p:txBody>
      </p:sp>
      <p:sp>
        <p:nvSpPr>
          <p:cNvPr id="6" name="TextBox 5"/>
          <p:cNvSpPr txBox="1"/>
          <p:nvPr/>
        </p:nvSpPr>
        <p:spPr>
          <a:xfrm>
            <a:off x="713232" y="4663440"/>
            <a:ext cx="7315200" cy="274320"/>
          </a:xfrm>
          <a:prstGeom prst="rect">
            <a:avLst/>
          </a:prstGeom>
          <a:noFill/>
        </p:spPr>
        <p:txBody>
          <a:bodyPr wrap="square">
            <a:spAutoFit/>
          </a:bodyPr>
          <a:lstStyle/>
          <a:p>
            <a:pPr algn="l">
              <a:lnSpc>
                <a:spcPct val="100000"/>
              </a:lnSpc>
            </a:pPr>
            <a:r>
              <a:rPr sz="1000" b="0">
                <a:solidFill>
                  <a:srgbClr val="6B7688"/>
                </a:solidFill>
                <a:latin typeface="Consolas"/>
              </a:rPr>
              <a:t>16 AGUSTUS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RINGKASAN</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Tiga hal yang berubah untuk Anda</a:t>
            </a:r>
          </a:p>
        </p:txBody>
      </p:sp>
      <p:sp>
        <p:nvSpPr>
          <p:cNvPr id="5" name="Rounded Rectangle 4"/>
          <p:cNvSpPr/>
          <p:nvPr/>
        </p:nvSpPr>
        <p:spPr>
          <a:xfrm>
            <a:off x="502920" y="1600200"/>
            <a:ext cx="355092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10512"/>
            <a:ext cx="3093720" cy="365760"/>
          </a:xfrm>
          <a:prstGeom prst="rect">
            <a:avLst/>
          </a:prstGeom>
          <a:noFill/>
        </p:spPr>
        <p:txBody>
          <a:bodyPr wrap="square">
            <a:spAutoFit/>
          </a:bodyPr>
          <a:lstStyle/>
          <a:p>
            <a:pPr algn="l">
              <a:lnSpc>
                <a:spcPct val="100000"/>
              </a:lnSpc>
            </a:pPr>
            <a:r>
              <a:rPr sz="1700" b="1">
                <a:solidFill>
                  <a:srgbClr val="F59E0B"/>
                </a:solidFill>
                <a:latin typeface="Consolas"/>
              </a:rPr>
              <a:t>01</a:t>
            </a:r>
          </a:p>
        </p:txBody>
      </p:sp>
      <p:sp>
        <p:nvSpPr>
          <p:cNvPr id="7" name="TextBox 6"/>
          <p:cNvSpPr txBox="1"/>
          <p:nvPr/>
        </p:nvSpPr>
        <p:spPr>
          <a:xfrm>
            <a:off x="758952" y="2267712"/>
            <a:ext cx="3093720" cy="457200"/>
          </a:xfrm>
          <a:prstGeom prst="rect">
            <a:avLst/>
          </a:prstGeom>
          <a:noFill/>
        </p:spPr>
        <p:txBody>
          <a:bodyPr wrap="square">
            <a:spAutoFit/>
          </a:bodyPr>
          <a:lstStyle/>
          <a:p>
            <a:pPr algn="l">
              <a:lnSpc>
                <a:spcPct val="100000"/>
              </a:lnSpc>
            </a:pPr>
            <a:r>
              <a:rPr sz="1550" b="1">
                <a:solidFill>
                  <a:srgbClr val="F8FAFC"/>
                </a:solidFill>
                <a:latin typeface="Segoe UI"/>
              </a:rPr>
              <a:t>Arah terbaca benar</a:t>
            </a:r>
          </a:p>
        </p:txBody>
      </p:sp>
      <p:sp>
        <p:nvSpPr>
          <p:cNvPr id="8" name="TextBox 7"/>
          <p:cNvSpPr txBox="1"/>
          <p:nvPr/>
        </p:nvSpPr>
        <p:spPr>
          <a:xfrm>
            <a:off x="758952" y="2788920"/>
            <a:ext cx="3038856" cy="1828800"/>
          </a:xfrm>
          <a:prstGeom prst="rect">
            <a:avLst/>
          </a:prstGeom>
          <a:noFill/>
        </p:spPr>
        <p:txBody>
          <a:bodyPr wrap="square">
            <a:spAutoFit/>
          </a:bodyPr>
          <a:lstStyle/>
          <a:p>
            <a:pPr algn="l">
              <a:lnSpc>
                <a:spcPct val="135000"/>
              </a:lnSpc>
            </a:pPr>
            <a:r>
              <a:rPr sz="1150" b="0">
                <a:solidFill>
                  <a:srgbClr val="A3AEC2"/>
                </a:solidFill>
                <a:latin typeface="Segoe UI"/>
              </a:rPr>
              <a:t>Sistem sempat mencatat truk masuk sebagai keluar. Truk yang sudah pulang tetap terhitung berada di dalam area, dan ritase gagal berpasangan. Sekarang arah ditentukan dari gerak truk di layar, dan bisa disetel per pos dari dasbor.</a:t>
            </a:r>
          </a:p>
        </p:txBody>
      </p:sp>
      <p:sp>
        <p:nvSpPr>
          <p:cNvPr id="9" name="Rounded Rectangle 8"/>
          <p:cNvSpPr/>
          <p:nvPr/>
        </p:nvSpPr>
        <p:spPr>
          <a:xfrm>
            <a:off x="4328160" y="1600200"/>
            <a:ext cx="355092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4192" y="1810512"/>
            <a:ext cx="3093720" cy="365760"/>
          </a:xfrm>
          <a:prstGeom prst="rect">
            <a:avLst/>
          </a:prstGeom>
          <a:noFill/>
        </p:spPr>
        <p:txBody>
          <a:bodyPr wrap="square">
            <a:spAutoFit/>
          </a:bodyPr>
          <a:lstStyle/>
          <a:p>
            <a:pPr algn="l">
              <a:lnSpc>
                <a:spcPct val="100000"/>
              </a:lnSpc>
            </a:pPr>
            <a:r>
              <a:rPr sz="1700" b="1">
                <a:solidFill>
                  <a:srgbClr val="F59E0B"/>
                </a:solidFill>
                <a:latin typeface="Consolas"/>
              </a:rPr>
              <a:t>02</a:t>
            </a:r>
          </a:p>
        </p:txBody>
      </p:sp>
      <p:sp>
        <p:nvSpPr>
          <p:cNvPr id="11" name="TextBox 10"/>
          <p:cNvSpPr txBox="1"/>
          <p:nvPr/>
        </p:nvSpPr>
        <p:spPr>
          <a:xfrm>
            <a:off x="4584192" y="2267712"/>
            <a:ext cx="3093720" cy="457200"/>
          </a:xfrm>
          <a:prstGeom prst="rect">
            <a:avLst/>
          </a:prstGeom>
          <a:noFill/>
        </p:spPr>
        <p:txBody>
          <a:bodyPr wrap="square">
            <a:spAutoFit/>
          </a:bodyPr>
          <a:lstStyle/>
          <a:p>
            <a:pPr algn="l">
              <a:lnSpc>
                <a:spcPct val="100000"/>
              </a:lnSpc>
            </a:pPr>
            <a:r>
              <a:rPr sz="1550" b="1">
                <a:solidFill>
                  <a:srgbClr val="F8FAFC"/>
                </a:solidFill>
                <a:latin typeface="Segoe UI"/>
              </a:rPr>
              <a:t>Satu hari = 06:00 ke 06:00</a:t>
            </a:r>
          </a:p>
        </p:txBody>
      </p:sp>
      <p:sp>
        <p:nvSpPr>
          <p:cNvPr id="12" name="TextBox 11"/>
          <p:cNvSpPr txBox="1"/>
          <p:nvPr/>
        </p:nvSpPr>
        <p:spPr>
          <a:xfrm>
            <a:off x="4584192" y="2788920"/>
            <a:ext cx="3038856" cy="1828800"/>
          </a:xfrm>
          <a:prstGeom prst="rect">
            <a:avLst/>
          </a:prstGeom>
          <a:noFill/>
        </p:spPr>
        <p:txBody>
          <a:bodyPr wrap="square">
            <a:spAutoFit/>
          </a:bodyPr>
          <a:lstStyle/>
          <a:p>
            <a:pPr algn="l">
              <a:lnSpc>
                <a:spcPct val="135000"/>
              </a:lnSpc>
            </a:pPr>
            <a:r>
              <a:rPr sz="1150" b="0">
                <a:solidFill>
                  <a:srgbClr val="A3AEC2"/>
                </a:solidFill>
                <a:latin typeface="Segoe UI"/>
              </a:rPr>
              <a:t>Laporan harian mengikuti siklus tambang, bukan pergantian tanggal tengah malam. Shift malam tidak lagi terbelah ke dua laporan, sehingga angkanya bisa dicocokkan dengan berkas BIB.</a:t>
            </a:r>
          </a:p>
        </p:txBody>
      </p:sp>
      <p:sp>
        <p:nvSpPr>
          <p:cNvPr id="13" name="Rounded Rectangle 12"/>
          <p:cNvSpPr/>
          <p:nvPr/>
        </p:nvSpPr>
        <p:spPr>
          <a:xfrm>
            <a:off x="8153400" y="1600200"/>
            <a:ext cx="355092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09432" y="1810512"/>
            <a:ext cx="3093720" cy="365760"/>
          </a:xfrm>
          <a:prstGeom prst="rect">
            <a:avLst/>
          </a:prstGeom>
          <a:noFill/>
        </p:spPr>
        <p:txBody>
          <a:bodyPr wrap="square">
            <a:spAutoFit/>
          </a:bodyPr>
          <a:lstStyle/>
          <a:p>
            <a:pPr algn="l">
              <a:lnSpc>
                <a:spcPct val="100000"/>
              </a:lnSpc>
            </a:pPr>
            <a:r>
              <a:rPr sz="1700" b="1">
                <a:solidFill>
                  <a:srgbClr val="F59E0B"/>
                </a:solidFill>
                <a:latin typeface="Consolas"/>
              </a:rPr>
              <a:t>03</a:t>
            </a:r>
          </a:p>
        </p:txBody>
      </p:sp>
      <p:sp>
        <p:nvSpPr>
          <p:cNvPr id="15" name="TextBox 14"/>
          <p:cNvSpPr txBox="1"/>
          <p:nvPr/>
        </p:nvSpPr>
        <p:spPr>
          <a:xfrm>
            <a:off x="8409432" y="2267712"/>
            <a:ext cx="3093720" cy="457200"/>
          </a:xfrm>
          <a:prstGeom prst="rect">
            <a:avLst/>
          </a:prstGeom>
          <a:noFill/>
        </p:spPr>
        <p:txBody>
          <a:bodyPr wrap="square">
            <a:spAutoFit/>
          </a:bodyPr>
          <a:lstStyle/>
          <a:p>
            <a:pPr algn="l">
              <a:lnSpc>
                <a:spcPct val="100000"/>
              </a:lnSpc>
            </a:pPr>
            <a:r>
              <a:rPr sz="1550" b="1">
                <a:solidFill>
                  <a:srgbClr val="F8FAFC"/>
                </a:solidFill>
                <a:latin typeface="Segoe UI"/>
              </a:rPr>
              <a:t>Dipecah per pos cek</a:t>
            </a:r>
          </a:p>
        </p:txBody>
      </p:sp>
      <p:sp>
        <p:nvSpPr>
          <p:cNvPr id="16" name="TextBox 15"/>
          <p:cNvSpPr txBox="1"/>
          <p:nvPr/>
        </p:nvSpPr>
        <p:spPr>
          <a:xfrm>
            <a:off x="8409432" y="2788920"/>
            <a:ext cx="3038856" cy="1828800"/>
          </a:xfrm>
          <a:prstGeom prst="rect">
            <a:avLst/>
          </a:prstGeom>
          <a:noFill/>
        </p:spPr>
        <p:txBody>
          <a:bodyPr wrap="square">
            <a:spAutoFit/>
          </a:bodyPr>
          <a:lstStyle/>
          <a:p>
            <a:pPr algn="l">
              <a:lnSpc>
                <a:spcPct val="135000"/>
              </a:lnSpc>
            </a:pPr>
            <a:r>
              <a:rPr sz="1150" b="0">
                <a:solidFill>
                  <a:srgbClr val="A3AEC2"/>
                </a:solidFill>
                <a:latin typeface="Segoe UI"/>
              </a:rPr>
              <a:t>Angka dikelompokkan per CP 01–CP 04, sesuai keputusan rapat. Sebelumnya pengelompokan memakai area, dan dua pos yang berbagi area tampil menyatu.</a:t>
            </a:r>
          </a:p>
        </p:txBody>
      </p:sp>
      <p:sp>
        <p:nvSpPr>
          <p:cNvPr id="17" name="TextBox 16"/>
          <p:cNvSpPr txBox="1"/>
          <p:nvPr/>
        </p:nvSpPr>
        <p:spPr>
          <a:xfrm>
            <a:off x="502920" y="5120640"/>
            <a:ext cx="11155680" cy="822960"/>
          </a:xfrm>
          <a:prstGeom prst="rect">
            <a:avLst/>
          </a:prstGeom>
          <a:noFill/>
        </p:spPr>
        <p:txBody>
          <a:bodyPr wrap="square">
            <a:spAutoFit/>
          </a:bodyPr>
          <a:lstStyle/>
          <a:p>
            <a:pPr algn="l">
              <a:lnSpc>
                <a:spcPct val="140000"/>
              </a:lnSpc>
            </a:pPr>
            <a:r>
              <a:rPr sz="1150" b="0">
                <a:solidFill>
                  <a:srgbClr val="F59E0B"/>
                </a:solidFill>
                <a:latin typeface="Segoe UI"/>
              </a:rPr>
              <a:t>Semua angka pada paparan ini berasal dari satu kali pengujian nyata: sepuluh rekaman gerbang, lima truk, masing-masing satu kali masuk dan satu kali keluar.</a:t>
            </a:r>
          </a:p>
        </p:txBody>
      </p:sp>
      <p:sp>
        <p:nvSpPr>
          <p:cNvPr id="18" name="TextBox 17"/>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9" name="TextBox 18"/>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MASALAH ASAL</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Apa yang sebelumnya keliru</a:t>
            </a:r>
          </a:p>
        </p:txBody>
      </p:sp>
      <p:sp>
        <p:nvSpPr>
          <p:cNvPr id="5" name="Rounded Rectangle 4"/>
          <p:cNvSpPr/>
          <p:nvPr/>
        </p:nvSpPr>
        <p:spPr>
          <a:xfrm>
            <a:off x="50292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Gejalanya</a:t>
            </a:r>
          </a:p>
        </p:txBody>
      </p:sp>
      <p:sp>
        <p:nvSpPr>
          <p:cNvPr id="7" name="TextBox 6"/>
          <p:cNvSpPr txBox="1"/>
          <p:nvPr/>
        </p:nvSpPr>
        <p:spPr>
          <a:xfrm>
            <a:off x="740664"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Sepuluh rekaman diuji di satu pos. Seharusnya menghasilkan 5 ritase dan tidak ada truk tersisa di dalam area. Yang terbaca: 3 truk dianggap masih di dalam, 1 di luar, dan 1 lintasan tidak muncul di mana pun.</a:t>
            </a:r>
          </a:p>
        </p:txBody>
      </p:sp>
      <p:sp>
        <p:nvSpPr>
          <p:cNvPr id="8" name="Rounded Rectangle 7"/>
          <p:cNvSpPr/>
          <p:nvPr/>
        </p:nvSpPr>
        <p:spPr>
          <a:xfrm>
            <a:off x="626364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Penyebabnya</a:t>
            </a:r>
          </a:p>
        </p:txBody>
      </p:sp>
      <p:sp>
        <p:nvSpPr>
          <p:cNvPr id="10" name="TextBox 9"/>
          <p:cNvSpPr txBox="1"/>
          <p:nvPr/>
        </p:nvSpPr>
        <p:spPr>
          <a:xfrm>
            <a:off x="6501383"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Kamera pos ini menghadap arah yang berlawanan dengan asumsi sistem, sehingga setiap lintasan tercatat persis kebalikannya. Satu lintasan lain tidak dapat ditentukan arahnya dan diam-diam hilang dari hitungan.</a:t>
            </a:r>
          </a:p>
        </p:txBody>
      </p:sp>
      <p:sp>
        <p:nvSpPr>
          <p:cNvPr id="11" name="Rounded Rectangle 10"/>
          <p:cNvSpPr/>
          <p:nvPr/>
        </p:nvSpPr>
        <p:spPr>
          <a:xfrm>
            <a:off x="50292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Kenapa berbahaya</a:t>
            </a:r>
          </a:p>
        </p:txBody>
      </p:sp>
      <p:sp>
        <p:nvSpPr>
          <p:cNvPr id="13" name="TextBox 12"/>
          <p:cNvSpPr txBox="1"/>
          <p:nvPr/>
        </p:nvSpPr>
        <p:spPr>
          <a:xfrm>
            <a:off x="740664"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Kesalahan seperti ini tidak menampilkan pesan galat. Sistem tetap berjalan dan tetap menghasilkan angka — hanya angkanya yang salah, dan baru ketahuan saat dicocokkan dengan berkas lapangan.</a:t>
            </a:r>
          </a:p>
        </p:txBody>
      </p:sp>
      <p:sp>
        <p:nvSpPr>
          <p:cNvPr id="14" name="TextBox 13"/>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5" name="TextBox 14"/>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LANGKAH 1</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Perangkat pos siaga</a:t>
            </a:r>
          </a:p>
        </p:txBody>
      </p:sp>
      <p:sp>
        <p:nvSpPr>
          <p:cNvPr id="5" name="Rounded Rectangle 4"/>
          <p:cNvSpPr/>
          <p:nvPr/>
        </p:nvSpPr>
        <p:spPr>
          <a:xfrm>
            <a:off x="466344" y="1371600"/>
            <a:ext cx="7534656" cy="3675421"/>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gerbang-siaga.jpg"/>
          <p:cNvPicPr>
            <a:picLocks noChangeAspect="1"/>
          </p:cNvPicPr>
          <p:nvPr/>
        </p:nvPicPr>
        <p:blipFill>
          <a:blip r:embed="rId2"/>
          <a:stretch>
            <a:fillRect/>
          </a:stretch>
        </p:blipFill>
        <p:spPr>
          <a:xfrm>
            <a:off x="502920" y="1408176"/>
            <a:ext cx="7461504" cy="3602269"/>
          </a:xfrm>
          <a:prstGeom prst="rect">
            <a:avLst/>
          </a:prstGeom>
        </p:spPr>
      </p:pic>
      <p:sp>
        <p:nvSpPr>
          <p:cNvPr id="7" name="TextBox 6"/>
          <p:cNvSpPr txBox="1"/>
          <p:nvPr/>
        </p:nvSpPr>
        <p:spPr>
          <a:xfrm>
            <a:off x="502920" y="5101885"/>
            <a:ext cx="7461504" cy="274320"/>
          </a:xfrm>
          <a:prstGeom prst="rect">
            <a:avLst/>
          </a:prstGeom>
          <a:noFill/>
        </p:spPr>
        <p:txBody>
          <a:bodyPr wrap="square">
            <a:spAutoFit/>
          </a:bodyPr>
          <a:lstStyle/>
          <a:p>
            <a:pPr algn="l">
              <a:lnSpc>
                <a:spcPct val="100000"/>
              </a:lnSpc>
            </a:pPr>
            <a:r>
              <a:rPr sz="950" b="0">
                <a:solidFill>
                  <a:srgbClr val="6B7688"/>
                </a:solidFill>
                <a:latin typeface="Consolas"/>
              </a:rPr>
              <a:t>Konsol Gerbang CAM-GATE-A · terhubung ke pusat, belum ada lintasan</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250" b="0">
                <a:solidFill>
                  <a:srgbClr val="F59E0B"/>
                </a:solidFill>
                <a:latin typeface="Segoe UI"/>
              </a:rPr>
              <a:t>▪  Tiap pos gerbang punya perangkat dan layarnya sendiri.</a:t>
            </a:r>
          </a:p>
          <a:p>
            <a:pPr algn="l">
              <a:lnSpc>
                <a:spcPct val="145000"/>
              </a:lnSpc>
            </a:pPr>
            <a:r>
              <a:rPr sz="1250" b="0">
                <a:solidFill>
                  <a:srgbClr val="F59E0B"/>
                </a:solidFill>
                <a:latin typeface="Segoe UI"/>
              </a:rPr>
              <a:t>▪  Bagian bawah menunjukkan sambungan ke pusat dan jumlah data yang masih tertahan di perangkat.</a:t>
            </a:r>
          </a:p>
          <a:p>
            <a:pPr algn="l">
              <a:lnSpc>
                <a:spcPct val="145000"/>
              </a:lnSpc>
            </a:pPr>
            <a:r>
              <a:rPr sz="1250" b="0">
                <a:solidFill>
                  <a:srgbClr val="F59E0B"/>
                </a:solidFill>
                <a:latin typeface="Segoe UI"/>
              </a:rPr>
              <a:t>▪  Daftar nomor lambung (584 unit) sudah disalin dari pusat, sehingga pos tetap bisa mengenali truk saat jaringan putus.</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LANGKAH 2</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Truk terbaca saat melintas</a:t>
            </a:r>
          </a:p>
        </p:txBody>
      </p:sp>
      <p:sp>
        <p:nvSpPr>
          <p:cNvPr id="5" name="Rounded Rectangle 4"/>
          <p:cNvSpPr/>
          <p:nvPr/>
        </p:nvSpPr>
        <p:spPr>
          <a:xfrm>
            <a:off x="466344" y="1371600"/>
            <a:ext cx="7534656" cy="3675421"/>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deteksi-ocr.jpg"/>
          <p:cNvPicPr>
            <a:picLocks noChangeAspect="1"/>
          </p:cNvPicPr>
          <p:nvPr/>
        </p:nvPicPr>
        <p:blipFill>
          <a:blip r:embed="rId2"/>
          <a:stretch>
            <a:fillRect/>
          </a:stretch>
        </p:blipFill>
        <p:spPr>
          <a:xfrm>
            <a:off x="502920" y="1408176"/>
            <a:ext cx="7461504" cy="3602269"/>
          </a:xfrm>
          <a:prstGeom prst="rect">
            <a:avLst/>
          </a:prstGeom>
        </p:spPr>
      </p:pic>
      <p:sp>
        <p:nvSpPr>
          <p:cNvPr id="7" name="TextBox 6"/>
          <p:cNvSpPr txBox="1"/>
          <p:nvPr/>
        </p:nvSpPr>
        <p:spPr>
          <a:xfrm>
            <a:off x="502920" y="5101885"/>
            <a:ext cx="7461504" cy="274320"/>
          </a:xfrm>
          <a:prstGeom prst="rect">
            <a:avLst/>
          </a:prstGeom>
          <a:noFill/>
        </p:spPr>
        <p:txBody>
          <a:bodyPr wrap="square">
            <a:spAutoFit/>
          </a:bodyPr>
          <a:lstStyle/>
          <a:p>
            <a:pPr algn="l">
              <a:lnSpc>
                <a:spcPct val="100000"/>
              </a:lnSpc>
            </a:pPr>
            <a:r>
              <a:rPr sz="950" b="0">
                <a:solidFill>
                  <a:srgbClr val="6B7688"/>
                </a:solidFill>
                <a:latin typeface="Consolas"/>
              </a:rPr>
              <a:t>Pembacaan berlangsung · nomor 2221 terbaca dari rekaman gerbang</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250" b="0">
                <a:solidFill>
                  <a:srgbClr val="F59E0B"/>
                </a:solidFill>
                <a:latin typeface="Segoe UI"/>
              </a:rPr>
              <a:t>▪  Kotak hijau menandai nomor lambung yang sedang dibaca.</a:t>
            </a:r>
          </a:p>
          <a:p>
            <a:pPr algn="l">
              <a:lnSpc>
                <a:spcPct val="145000"/>
              </a:lnSpc>
            </a:pPr>
            <a:r>
              <a:rPr sz="1250" b="0">
                <a:solidFill>
                  <a:srgbClr val="F59E0B"/>
                </a:solidFill>
                <a:latin typeface="Segoe UI"/>
              </a:rPr>
              <a:t>▪  Garis kuning tegak adalah garis pembanding arah: sistem menilai truk bergerak ke kiri atau ke kanan terhadap garis itu.</a:t>
            </a:r>
          </a:p>
          <a:p>
            <a:pPr algn="l">
              <a:lnSpc>
                <a:spcPct val="145000"/>
              </a:lnSpc>
            </a:pPr>
            <a:r>
              <a:rPr sz="1250" b="0">
                <a:solidFill>
                  <a:srgbClr val="F59E0B"/>
                </a:solidFill>
                <a:latin typeface="Segoe UI"/>
              </a:rPr>
              <a:t>▪  Nomor yang terbaca muncul seketika di panel kanan — di sini 2221.</a:t>
            </a:r>
          </a:p>
          <a:p>
            <a:pPr algn="l">
              <a:lnSpc>
                <a:spcPct val="145000"/>
              </a:lnSpc>
            </a:pPr>
            <a:r>
              <a:rPr sz="1250" b="0">
                <a:solidFill>
                  <a:srgbClr val="F59E0B"/>
                </a:solidFill>
                <a:latin typeface="Segoe UI"/>
              </a:rPr>
              <a:t>▪  Satu truk dibaca puluhan kali selama melintas, lalu hasilnya disimpulkan lewat pemungutan suara.</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LANGKAH 3</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Sepuluh rekaman, tanpa kegagalan</a:t>
            </a:r>
          </a:p>
        </p:txBody>
      </p:sp>
      <p:sp>
        <p:nvSpPr>
          <p:cNvPr id="5" name="Rounded Rectangle 4"/>
          <p:cNvSpPr/>
          <p:nvPr/>
        </p:nvSpPr>
        <p:spPr>
          <a:xfrm>
            <a:off x="466344" y="1371600"/>
            <a:ext cx="7534656" cy="3675421"/>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sepuluh-klip-selesai.jpg"/>
          <p:cNvPicPr>
            <a:picLocks noChangeAspect="1"/>
          </p:cNvPicPr>
          <p:nvPr/>
        </p:nvPicPr>
        <p:blipFill>
          <a:blip r:embed="rId2"/>
          <a:stretch>
            <a:fillRect/>
          </a:stretch>
        </p:blipFill>
        <p:spPr>
          <a:xfrm>
            <a:off x="502920" y="1408176"/>
            <a:ext cx="7461504" cy="3602269"/>
          </a:xfrm>
          <a:prstGeom prst="rect">
            <a:avLst/>
          </a:prstGeom>
        </p:spPr>
      </p:pic>
      <p:sp>
        <p:nvSpPr>
          <p:cNvPr id="7" name="TextBox 6"/>
          <p:cNvSpPr txBox="1"/>
          <p:nvPr/>
        </p:nvSpPr>
        <p:spPr>
          <a:xfrm>
            <a:off x="502920" y="5101885"/>
            <a:ext cx="7461504" cy="274320"/>
          </a:xfrm>
          <a:prstGeom prst="rect">
            <a:avLst/>
          </a:prstGeom>
          <a:noFill/>
        </p:spPr>
        <p:txBody>
          <a:bodyPr wrap="square">
            <a:spAutoFit/>
          </a:bodyPr>
          <a:lstStyle/>
          <a:p>
            <a:pPr algn="l">
              <a:lnSpc>
                <a:spcPct val="100000"/>
              </a:lnSpc>
            </a:pPr>
            <a:r>
              <a:rPr sz="950" b="0">
                <a:solidFill>
                  <a:srgbClr val="6B7688"/>
                </a:solidFill>
                <a:latin typeface="Consolas"/>
              </a:rPr>
              <a:t>Selesai: 10 klip, 0 gagal · seluruhnya terkirim ke pusat</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250" b="0">
                <a:solidFill>
                  <a:srgbClr val="F59E0B"/>
                </a:solidFill>
                <a:latin typeface="Segoe UI"/>
              </a:rPr>
              <a:t>▪  Sepuluh rekaman selesai, nol gagal.</a:t>
            </a:r>
          </a:p>
          <a:p>
            <a:pPr algn="l">
              <a:lnSpc>
                <a:spcPct val="145000"/>
              </a:lnSpc>
            </a:pPr>
            <a:r>
              <a:rPr sz="1250" b="0">
                <a:solidFill>
                  <a:srgbClr val="F59E0B"/>
                </a:solidFill>
                <a:latin typeface="Segoe UI"/>
              </a:rPr>
              <a:t>▪  Lima truk terbaca benar seluruhnya: 2152, 2221, 2222, 2241, 2264 — masing-masing dua kali.</a:t>
            </a:r>
          </a:p>
          <a:p>
            <a:pPr algn="l">
              <a:lnSpc>
                <a:spcPct val="145000"/>
              </a:lnSpc>
            </a:pPr>
            <a:r>
              <a:rPr sz="1250" b="0">
                <a:solidFill>
                  <a:srgbClr val="F59E0B"/>
                </a:solidFill>
                <a:latin typeface="Segoe UI"/>
              </a:rPr>
              <a:t>▪  Setiap baris menyimpan foto potongan nomor lambungnya sebagai bukti.</a:t>
            </a:r>
          </a:p>
          <a:p>
            <a:pPr algn="l">
              <a:lnSpc>
                <a:spcPct val="145000"/>
              </a:lnSpc>
            </a:pPr>
            <a:r>
              <a:rPr sz="1250" b="0">
                <a:solidFill>
                  <a:srgbClr val="F59E0B"/>
                </a:solidFill>
                <a:latin typeface="Segoe UI"/>
              </a:rPr>
              <a:t>▪  Tanda di kanan tiap baris berarti data sudah terkirim ke pusat.</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LANGKAH 4</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Pusat menerima dan memasangkan</a:t>
            </a:r>
          </a:p>
        </p:txBody>
      </p:sp>
      <p:sp>
        <p:nvSpPr>
          <p:cNvPr id="5" name="Rounded Rectangle 4"/>
          <p:cNvSpPr/>
          <p:nvPr/>
        </p:nvSpPr>
        <p:spPr>
          <a:xfrm>
            <a:off x="466344" y="1371600"/>
            <a:ext cx="7534656" cy="3675421"/>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pusat-ritase.jpg"/>
          <p:cNvPicPr>
            <a:picLocks noChangeAspect="1"/>
          </p:cNvPicPr>
          <p:nvPr/>
        </p:nvPicPr>
        <p:blipFill>
          <a:blip r:embed="rId2"/>
          <a:stretch>
            <a:fillRect/>
          </a:stretch>
        </p:blipFill>
        <p:spPr>
          <a:xfrm>
            <a:off x="502920" y="1408176"/>
            <a:ext cx="7461504" cy="3602269"/>
          </a:xfrm>
          <a:prstGeom prst="rect">
            <a:avLst/>
          </a:prstGeom>
        </p:spPr>
      </p:pic>
      <p:sp>
        <p:nvSpPr>
          <p:cNvPr id="7" name="TextBox 6"/>
          <p:cNvSpPr txBox="1"/>
          <p:nvPr/>
        </p:nvSpPr>
        <p:spPr>
          <a:xfrm>
            <a:off x="502920" y="5101885"/>
            <a:ext cx="7461504" cy="274320"/>
          </a:xfrm>
          <a:prstGeom prst="rect">
            <a:avLst/>
          </a:prstGeom>
          <a:noFill/>
        </p:spPr>
        <p:txBody>
          <a:bodyPr wrap="square">
            <a:spAutoFit/>
          </a:bodyPr>
          <a:lstStyle/>
          <a:p>
            <a:pPr algn="l">
              <a:lnSpc>
                <a:spcPct val="100000"/>
              </a:lnSpc>
            </a:pPr>
            <a:r>
              <a:rPr sz="950" b="0">
                <a:solidFill>
                  <a:srgbClr val="6B7688"/>
                </a:solidFill>
                <a:latin typeface="Consolas"/>
              </a:rPr>
              <a:t>Status Ritase &amp; Posisi Truk · 4 ritase dari 10 lintasan</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250" b="0">
                <a:solidFill>
                  <a:srgbClr val="F59E0B"/>
                </a:solidFill>
                <a:latin typeface="Segoe UI"/>
              </a:rPr>
              <a:t>▪  Pusat menerima kesepuluh lintasan dari pos.</a:t>
            </a:r>
          </a:p>
          <a:p>
            <a:pPr algn="l">
              <a:lnSpc>
                <a:spcPct val="145000"/>
              </a:lnSpc>
            </a:pPr>
            <a:r>
              <a:rPr sz="1250" b="0">
                <a:solidFill>
                  <a:srgbClr val="F59E0B"/>
                </a:solidFill>
                <a:latin typeface="Segoe UI"/>
              </a:rPr>
              <a:t>▪  Satu ritase = satu lintasan masuk dipasangkan dengan satu lintasan keluar oleh truk yang sama.</a:t>
            </a:r>
          </a:p>
          <a:p>
            <a:pPr algn="l">
              <a:lnSpc>
                <a:spcPct val="145000"/>
              </a:lnSpc>
            </a:pPr>
            <a:r>
              <a:rPr sz="1250" b="0">
                <a:solidFill>
                  <a:srgbClr val="F59E0B"/>
                </a:solidFill>
                <a:latin typeface="Segoe UI"/>
              </a:rPr>
              <a:t>▪  Peta menampilkan posisi keempat pos cek sesuai koordinat sebenarnya di lapangan.</a:t>
            </a:r>
          </a:p>
          <a:p>
            <a:pPr algn="l">
              <a:lnSpc>
                <a:spcPct val="145000"/>
              </a:lnSpc>
            </a:pPr>
            <a:r>
              <a:rPr sz="1250" b="0">
                <a:solidFill>
                  <a:srgbClr val="F59E0B"/>
                </a:solidFill>
                <a:latin typeface="Segoe UI"/>
              </a:rPr>
              <a:t>▪  Angka 'Truk Di Dalam Area' kini dapat dipercaya, karena arah masuk-keluar sudah terbaca benar.</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LANGKAH 5</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Klik pos cek, lihat buktinya</a:t>
            </a:r>
          </a:p>
        </p:txBody>
      </p:sp>
      <p:sp>
        <p:nvSpPr>
          <p:cNvPr id="5" name="Rounded Rectangle 4"/>
          <p:cNvSpPr/>
          <p:nvPr/>
        </p:nvSpPr>
        <p:spPr>
          <a:xfrm>
            <a:off x="466344" y="1371600"/>
            <a:ext cx="7534656" cy="3675421"/>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5-log-bukti-foto.jpg"/>
          <p:cNvPicPr>
            <a:picLocks noChangeAspect="1"/>
          </p:cNvPicPr>
          <p:nvPr/>
        </p:nvPicPr>
        <p:blipFill>
          <a:blip r:embed="rId2"/>
          <a:stretch>
            <a:fillRect/>
          </a:stretch>
        </p:blipFill>
        <p:spPr>
          <a:xfrm>
            <a:off x="502920" y="1408176"/>
            <a:ext cx="7461504" cy="3602269"/>
          </a:xfrm>
          <a:prstGeom prst="rect">
            <a:avLst/>
          </a:prstGeom>
        </p:spPr>
      </p:pic>
      <p:sp>
        <p:nvSpPr>
          <p:cNvPr id="7" name="TextBox 6"/>
          <p:cNvSpPr txBox="1"/>
          <p:nvPr/>
        </p:nvSpPr>
        <p:spPr>
          <a:xfrm>
            <a:off x="502920" y="5101885"/>
            <a:ext cx="7461504" cy="274320"/>
          </a:xfrm>
          <a:prstGeom prst="rect">
            <a:avLst/>
          </a:prstGeom>
          <a:noFill/>
        </p:spPr>
        <p:txBody>
          <a:bodyPr wrap="square">
            <a:spAutoFit/>
          </a:bodyPr>
          <a:lstStyle/>
          <a:p>
            <a:pPr algn="l">
              <a:lnSpc>
                <a:spcPct val="100000"/>
              </a:lnSpc>
            </a:pPr>
            <a:r>
              <a:rPr sz="950" b="0">
                <a:solidFill>
                  <a:srgbClr val="6B7688"/>
                </a:solidFill>
                <a:latin typeface="Consolas"/>
              </a:rPr>
              <a:t>Log Unit CP 01 · 10 lintasan, masing-masing dengan foto bukti</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250" b="0">
                <a:solidFill>
                  <a:srgbClr val="F59E0B"/>
                </a:solidFill>
                <a:latin typeface="Segoe UI"/>
              </a:rPr>
              <a:t>▪  Mengklik satu pos cek membuka daftar unit yang melintas.</a:t>
            </a:r>
          </a:p>
          <a:p>
            <a:pPr algn="l">
              <a:lnSpc>
                <a:spcPct val="145000"/>
              </a:lnSpc>
            </a:pPr>
            <a:r>
              <a:rPr sz="1250" b="0">
                <a:solidFill>
                  <a:srgbClr val="F59E0B"/>
                </a:solidFill>
                <a:latin typeface="Segoe UI"/>
              </a:rPr>
              <a:t>▪  Tiap baris membawa foto nomor lambung, waktu, arah, dan tingkat keyakinan pembacaan.</a:t>
            </a:r>
          </a:p>
          <a:p>
            <a:pPr algn="l">
              <a:lnSpc>
                <a:spcPct val="145000"/>
              </a:lnSpc>
            </a:pPr>
            <a:r>
              <a:rPr sz="1250" b="0">
                <a:solidFill>
                  <a:srgbClr val="F59E0B"/>
                </a:solidFill>
                <a:latin typeface="Segoe UI"/>
              </a:rPr>
              <a:t>▪  Inilah yang mempercepat pengecekan silang dengan berkas BIB: angka yang meragukan bisa ditelusuri sampai fotonya, tanpa membuka berkas video yang besar.</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BARU</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Halaman Tren Produksi</a:t>
            </a:r>
          </a:p>
        </p:txBody>
      </p:sp>
      <p:sp>
        <p:nvSpPr>
          <p:cNvPr id="5" name="Rounded Rectangle 4"/>
          <p:cNvSpPr/>
          <p:nvPr/>
        </p:nvSpPr>
        <p:spPr>
          <a:xfrm>
            <a:off x="466344" y="1371600"/>
            <a:ext cx="7534656" cy="3461283"/>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tren-ritase.jpg"/>
          <p:cNvPicPr>
            <a:picLocks noChangeAspect="1"/>
          </p:cNvPicPr>
          <p:nvPr/>
        </p:nvPicPr>
        <p:blipFill>
          <a:blip r:embed="rId2"/>
          <a:stretch>
            <a:fillRect/>
          </a:stretch>
        </p:blipFill>
        <p:spPr>
          <a:xfrm>
            <a:off x="502920" y="1408176"/>
            <a:ext cx="7461504" cy="3388131"/>
          </a:xfrm>
          <a:prstGeom prst="rect">
            <a:avLst/>
          </a:prstGeom>
        </p:spPr>
      </p:pic>
      <p:sp>
        <p:nvSpPr>
          <p:cNvPr id="7" name="TextBox 6"/>
          <p:cNvSpPr txBox="1"/>
          <p:nvPr/>
        </p:nvSpPr>
        <p:spPr>
          <a:xfrm>
            <a:off x="502920" y="4887747"/>
            <a:ext cx="7461504" cy="274320"/>
          </a:xfrm>
          <a:prstGeom prst="rect">
            <a:avLst/>
          </a:prstGeom>
          <a:noFill/>
        </p:spPr>
        <p:txBody>
          <a:bodyPr wrap="square">
            <a:spAutoFit/>
          </a:bodyPr>
          <a:lstStyle/>
          <a:p>
            <a:pPr algn="l">
              <a:lnSpc>
                <a:spcPct val="100000"/>
              </a:lnSpc>
            </a:pPr>
            <a:r>
              <a:rPr sz="950" b="0">
                <a:solidFill>
                  <a:srgbClr val="6B7688"/>
                </a:solidFill>
                <a:latin typeface="Consolas"/>
              </a:rPr>
              <a:t>Tren Produksi Ritase · rentang 7 hari, dipecah per pos cek</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250" b="0">
                <a:solidFill>
                  <a:srgbClr val="F59E0B"/>
                </a:solidFill>
                <a:latin typeface="Segoe UI"/>
              </a:rPr>
              <a:t>▪  Halaman baru sesuai permintaan rapat.</a:t>
            </a:r>
          </a:p>
          <a:p>
            <a:pPr algn="l">
              <a:lnSpc>
                <a:spcPct val="145000"/>
              </a:lnSpc>
            </a:pPr>
            <a:r>
              <a:rPr sz="1250" b="0">
                <a:solidFill>
                  <a:srgbClr val="F59E0B"/>
                </a:solidFill>
                <a:latin typeface="Segoe UI"/>
              </a:rPr>
              <a:t>▪  Skala waktu bisa dipilih: harian, mingguan, bulanan, tahunan.</a:t>
            </a:r>
          </a:p>
          <a:p>
            <a:pPr algn="l">
              <a:lnSpc>
                <a:spcPct val="145000"/>
              </a:lnSpc>
            </a:pPr>
            <a:r>
              <a:rPr sz="1250" b="0">
                <a:solidFill>
                  <a:srgbClr val="F59E0B"/>
                </a:solidFill>
                <a:latin typeface="Segoe UI"/>
              </a:rPr>
              <a:t>▪  Arahkan kursor ke satu batang untuk melihat angka pastinya.</a:t>
            </a:r>
          </a:p>
          <a:p>
            <a:pPr algn="l">
              <a:lnSpc>
                <a:spcPct val="145000"/>
              </a:lnSpc>
            </a:pPr>
            <a:r>
              <a:rPr sz="1250" b="0">
                <a:solidFill>
                  <a:srgbClr val="F59E0B"/>
                </a:solidFill>
                <a:latin typeface="Segoe UI"/>
              </a:rPr>
              <a:t>▪  Hari tanpa produksi tetap ditampilkan sebagai nol, supaya penghentian terlihat dan tidak tertutup garis grafik.</a:t>
            </a:r>
          </a:p>
          <a:p>
            <a:pPr algn="l">
              <a:lnSpc>
                <a:spcPct val="145000"/>
              </a:lnSpc>
            </a:pPr>
            <a:r>
              <a:rPr sz="1250" b="0">
                <a:solidFill>
                  <a:srgbClr val="F59E0B"/>
                </a:solidFill>
                <a:latin typeface="Segoe UI"/>
              </a:rPr>
              <a:t>▪  Tabel di bawah memuat rincian angka beserta jumlahnya.</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LANGKAH 6</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Laporan mengikuti hari tambang</a:t>
            </a:r>
          </a:p>
        </p:txBody>
      </p:sp>
      <p:sp>
        <p:nvSpPr>
          <p:cNvPr id="5" name="Rounded Rectangle 4"/>
          <p:cNvSpPr/>
          <p:nvPr/>
        </p:nvSpPr>
        <p:spPr>
          <a:xfrm>
            <a:off x="466344" y="1371600"/>
            <a:ext cx="7534656" cy="3461283"/>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7-laporan-hari-tambang.jpg"/>
          <p:cNvPicPr>
            <a:picLocks noChangeAspect="1"/>
          </p:cNvPicPr>
          <p:nvPr/>
        </p:nvPicPr>
        <p:blipFill>
          <a:blip r:embed="rId2"/>
          <a:stretch>
            <a:fillRect/>
          </a:stretch>
        </p:blipFill>
        <p:spPr>
          <a:xfrm>
            <a:off x="502920" y="1408176"/>
            <a:ext cx="7461504" cy="3388131"/>
          </a:xfrm>
          <a:prstGeom prst="rect">
            <a:avLst/>
          </a:prstGeom>
        </p:spPr>
      </p:pic>
      <p:sp>
        <p:nvSpPr>
          <p:cNvPr id="7" name="TextBox 6"/>
          <p:cNvSpPr txBox="1"/>
          <p:nvPr/>
        </p:nvSpPr>
        <p:spPr>
          <a:xfrm>
            <a:off x="502920" y="4887747"/>
            <a:ext cx="7461504" cy="274320"/>
          </a:xfrm>
          <a:prstGeom prst="rect">
            <a:avLst/>
          </a:prstGeom>
          <a:noFill/>
        </p:spPr>
        <p:txBody>
          <a:bodyPr wrap="square">
            <a:spAutoFit/>
          </a:bodyPr>
          <a:lstStyle/>
          <a:p>
            <a:pPr algn="l">
              <a:lnSpc>
                <a:spcPct val="100000"/>
              </a:lnSpc>
            </a:pPr>
            <a:r>
              <a:rPr sz="950" b="0">
                <a:solidFill>
                  <a:srgbClr val="6B7688"/>
                </a:solidFill>
                <a:latin typeface="Consolas"/>
              </a:rPr>
              <a:t>Laporan Akhir Shift · hari tambang 2026-08-16, rincian per pos cek</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250" b="0">
                <a:solidFill>
                  <a:srgbClr val="F59E0B"/>
                </a:solidFill>
                <a:latin typeface="Segoe UI"/>
              </a:rPr>
              <a:t>▪  Satu hari tambang = pukul 06:00 sampai 06:00 esok hari.</a:t>
            </a:r>
          </a:p>
          <a:p>
            <a:pPr algn="l">
              <a:lnSpc>
                <a:spcPct val="145000"/>
              </a:lnSpc>
            </a:pPr>
            <a:r>
              <a:rPr sz="1250" b="0">
                <a:solidFill>
                  <a:srgbClr val="F59E0B"/>
                </a:solidFill>
                <a:latin typeface="Segoe UI"/>
              </a:rPr>
              <a:t>▪  Pemilih shift 12 jam yang lama sudah diganti pemilih hari tambang.</a:t>
            </a:r>
          </a:p>
          <a:p>
            <a:pPr algn="l">
              <a:lnSpc>
                <a:spcPct val="145000"/>
              </a:lnSpc>
            </a:pPr>
            <a:r>
              <a:rPr sz="1250" b="0">
                <a:solidFill>
                  <a:srgbClr val="F59E0B"/>
                </a:solidFill>
                <a:latin typeface="Segoe UI"/>
              </a:rPr>
              <a:t>▪  Angka pada laporan kini benar-benar mengikuti rentang yang dipilih — sebelumnya rentang hanya menjadi keterangan.</a:t>
            </a:r>
          </a:p>
          <a:p>
            <a:pPr algn="l">
              <a:lnSpc>
                <a:spcPct val="145000"/>
              </a:lnSpc>
            </a:pPr>
            <a:r>
              <a:rPr sz="1250" b="0">
                <a:solidFill>
                  <a:srgbClr val="F59E0B"/>
                </a:solidFill>
                <a:latin typeface="Segoe UI"/>
              </a:rPr>
              <a:t>▪  Rincian per pos cek ikut tercetak di Excel maupun PDF.</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HASIL UJI</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Sebelum dan sesudah, pada rekaman yang sama</a:t>
            </a:r>
          </a:p>
        </p:txBody>
      </p:sp>
      <p:sp>
        <p:nvSpPr>
          <p:cNvPr id="5" name="Rectangle 4"/>
          <p:cNvSpPr/>
          <p:nvPr/>
        </p:nvSpPr>
        <p:spPr>
          <a:xfrm>
            <a:off x="502920" y="1554480"/>
            <a:ext cx="11201400" cy="384048"/>
          </a:xfrm>
          <a:prstGeom prst="rect">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18488"/>
            <a:ext cx="3550919" cy="274320"/>
          </a:xfrm>
          <a:prstGeom prst="rect">
            <a:avLst/>
          </a:prstGeom>
          <a:noFill/>
        </p:spPr>
        <p:txBody>
          <a:bodyPr wrap="square">
            <a:spAutoFit/>
          </a:bodyPr>
          <a:lstStyle/>
          <a:p>
            <a:pPr algn="l">
              <a:lnSpc>
                <a:spcPct val="100000"/>
              </a:lnSpc>
            </a:pPr>
            <a:r>
              <a:rPr sz="1050" b="0">
                <a:solidFill>
                  <a:srgbClr val="F59E0B"/>
                </a:solidFill>
                <a:latin typeface="Consolas"/>
              </a:rPr>
              <a:t>Yang diukur</a:t>
            </a:r>
          </a:p>
        </p:txBody>
      </p:sp>
      <p:sp>
        <p:nvSpPr>
          <p:cNvPr id="7" name="TextBox 6"/>
          <p:cNvSpPr txBox="1"/>
          <p:nvPr/>
        </p:nvSpPr>
        <p:spPr>
          <a:xfrm>
            <a:off x="4364735" y="1618488"/>
            <a:ext cx="3550919" cy="274320"/>
          </a:xfrm>
          <a:prstGeom prst="rect">
            <a:avLst/>
          </a:prstGeom>
          <a:noFill/>
        </p:spPr>
        <p:txBody>
          <a:bodyPr wrap="square">
            <a:spAutoFit/>
          </a:bodyPr>
          <a:lstStyle/>
          <a:p>
            <a:pPr algn="l">
              <a:lnSpc>
                <a:spcPct val="100000"/>
              </a:lnSpc>
            </a:pPr>
            <a:r>
              <a:rPr sz="1050" b="0">
                <a:solidFill>
                  <a:srgbClr val="F59E0B"/>
                </a:solidFill>
                <a:latin typeface="Consolas"/>
              </a:rPr>
              <a:t>Sebelum</a:t>
            </a:r>
          </a:p>
        </p:txBody>
      </p:sp>
      <p:sp>
        <p:nvSpPr>
          <p:cNvPr id="8" name="TextBox 7"/>
          <p:cNvSpPr txBox="1"/>
          <p:nvPr/>
        </p:nvSpPr>
        <p:spPr>
          <a:xfrm>
            <a:off x="8098535" y="1618488"/>
            <a:ext cx="3550919" cy="274320"/>
          </a:xfrm>
          <a:prstGeom prst="rect">
            <a:avLst/>
          </a:prstGeom>
          <a:noFill/>
        </p:spPr>
        <p:txBody>
          <a:bodyPr wrap="square">
            <a:spAutoFit/>
          </a:bodyPr>
          <a:lstStyle/>
          <a:p>
            <a:pPr algn="l">
              <a:lnSpc>
                <a:spcPct val="100000"/>
              </a:lnSpc>
            </a:pPr>
            <a:r>
              <a:rPr sz="1050" b="0">
                <a:solidFill>
                  <a:srgbClr val="F59E0B"/>
                </a:solidFill>
                <a:latin typeface="Consolas"/>
              </a:rPr>
              <a:t>Sesudah</a:t>
            </a:r>
          </a:p>
        </p:txBody>
      </p:sp>
      <p:sp>
        <p:nvSpPr>
          <p:cNvPr id="9" name="TextBox 8"/>
          <p:cNvSpPr txBox="1"/>
          <p:nvPr/>
        </p:nvSpPr>
        <p:spPr>
          <a:xfrm>
            <a:off x="630936" y="1993392"/>
            <a:ext cx="3550919" cy="310896"/>
          </a:xfrm>
          <a:prstGeom prst="rect">
            <a:avLst/>
          </a:prstGeom>
          <a:noFill/>
        </p:spPr>
        <p:txBody>
          <a:bodyPr wrap="square">
            <a:spAutoFit/>
          </a:bodyPr>
          <a:lstStyle/>
          <a:p>
            <a:pPr algn="l">
              <a:lnSpc>
                <a:spcPct val="100000"/>
              </a:lnSpc>
            </a:pPr>
            <a:r>
              <a:rPr sz="1150" b="0">
                <a:solidFill>
                  <a:srgbClr val="F8FAFC"/>
                </a:solidFill>
                <a:latin typeface="Segoe UI"/>
              </a:rPr>
              <a:t>Truk terbaca benar</a:t>
            </a:r>
          </a:p>
        </p:txBody>
      </p:sp>
      <p:sp>
        <p:nvSpPr>
          <p:cNvPr id="10" name="TextBox 9"/>
          <p:cNvSpPr txBox="1"/>
          <p:nvPr/>
        </p:nvSpPr>
        <p:spPr>
          <a:xfrm>
            <a:off x="4364735" y="1993392"/>
            <a:ext cx="3550919" cy="310896"/>
          </a:xfrm>
          <a:prstGeom prst="rect">
            <a:avLst/>
          </a:prstGeom>
          <a:noFill/>
        </p:spPr>
        <p:txBody>
          <a:bodyPr wrap="square">
            <a:spAutoFit/>
          </a:bodyPr>
          <a:lstStyle/>
          <a:p>
            <a:pPr algn="l">
              <a:lnSpc>
                <a:spcPct val="100000"/>
              </a:lnSpc>
            </a:pPr>
            <a:r>
              <a:rPr sz="1150" b="0">
                <a:solidFill>
                  <a:srgbClr val="A3AEC2"/>
                </a:solidFill>
                <a:latin typeface="Consolas"/>
              </a:rPr>
              <a:t>4 dari 5</a:t>
            </a:r>
          </a:p>
        </p:txBody>
      </p:sp>
      <p:sp>
        <p:nvSpPr>
          <p:cNvPr id="11" name="TextBox 10"/>
          <p:cNvSpPr txBox="1"/>
          <p:nvPr/>
        </p:nvSpPr>
        <p:spPr>
          <a:xfrm>
            <a:off x="8098535" y="1993392"/>
            <a:ext cx="3550919" cy="310896"/>
          </a:xfrm>
          <a:prstGeom prst="rect">
            <a:avLst/>
          </a:prstGeom>
          <a:noFill/>
        </p:spPr>
        <p:txBody>
          <a:bodyPr wrap="square">
            <a:spAutoFit/>
          </a:bodyPr>
          <a:lstStyle/>
          <a:p>
            <a:pPr algn="l">
              <a:lnSpc>
                <a:spcPct val="100000"/>
              </a:lnSpc>
            </a:pPr>
            <a:r>
              <a:rPr sz="1150" b="0">
                <a:solidFill>
                  <a:srgbClr val="A3AEC2"/>
                </a:solidFill>
                <a:latin typeface="Consolas"/>
              </a:rPr>
              <a:t>5 dari 5</a:t>
            </a:r>
          </a:p>
        </p:txBody>
      </p:sp>
      <p:sp>
        <p:nvSpPr>
          <p:cNvPr id="12" name="TextBox 11"/>
          <p:cNvSpPr txBox="1"/>
          <p:nvPr/>
        </p:nvSpPr>
        <p:spPr>
          <a:xfrm>
            <a:off x="630936" y="2377440"/>
            <a:ext cx="3550919" cy="310896"/>
          </a:xfrm>
          <a:prstGeom prst="rect">
            <a:avLst/>
          </a:prstGeom>
          <a:noFill/>
        </p:spPr>
        <p:txBody>
          <a:bodyPr wrap="square">
            <a:spAutoFit/>
          </a:bodyPr>
          <a:lstStyle/>
          <a:p>
            <a:pPr algn="l">
              <a:lnSpc>
                <a:spcPct val="100000"/>
              </a:lnSpc>
            </a:pPr>
            <a:r>
              <a:rPr sz="1150" b="0">
                <a:solidFill>
                  <a:srgbClr val="F8FAFC"/>
                </a:solidFill>
                <a:latin typeface="Segoe UI"/>
              </a:rPr>
              <a:t>Arah lintasan</a:t>
            </a:r>
          </a:p>
        </p:txBody>
      </p:sp>
      <p:sp>
        <p:nvSpPr>
          <p:cNvPr id="13" name="TextBox 12"/>
          <p:cNvSpPr txBox="1"/>
          <p:nvPr/>
        </p:nvSpPr>
        <p:spPr>
          <a:xfrm>
            <a:off x="4364735" y="2377440"/>
            <a:ext cx="3550919" cy="310896"/>
          </a:xfrm>
          <a:prstGeom prst="rect">
            <a:avLst/>
          </a:prstGeom>
          <a:noFill/>
        </p:spPr>
        <p:txBody>
          <a:bodyPr wrap="square">
            <a:spAutoFit/>
          </a:bodyPr>
          <a:lstStyle/>
          <a:p>
            <a:pPr algn="l">
              <a:lnSpc>
                <a:spcPct val="100000"/>
              </a:lnSpc>
            </a:pPr>
            <a:r>
              <a:rPr sz="1150" b="0">
                <a:solidFill>
                  <a:srgbClr val="A3AEC2"/>
                </a:solidFill>
                <a:latin typeface="Consolas"/>
              </a:rPr>
              <a:t>seluruhnya terbalik</a:t>
            </a:r>
          </a:p>
        </p:txBody>
      </p:sp>
      <p:sp>
        <p:nvSpPr>
          <p:cNvPr id="14" name="TextBox 13"/>
          <p:cNvSpPr txBox="1"/>
          <p:nvPr/>
        </p:nvSpPr>
        <p:spPr>
          <a:xfrm>
            <a:off x="8098535" y="2377440"/>
            <a:ext cx="3550919" cy="310896"/>
          </a:xfrm>
          <a:prstGeom prst="rect">
            <a:avLst/>
          </a:prstGeom>
          <a:noFill/>
        </p:spPr>
        <p:txBody>
          <a:bodyPr wrap="square">
            <a:spAutoFit/>
          </a:bodyPr>
          <a:lstStyle/>
          <a:p>
            <a:pPr algn="l">
              <a:lnSpc>
                <a:spcPct val="100000"/>
              </a:lnSpc>
            </a:pPr>
            <a:r>
              <a:rPr sz="1150" b="0">
                <a:solidFill>
                  <a:srgbClr val="A3AEC2"/>
                </a:solidFill>
                <a:latin typeface="Consolas"/>
              </a:rPr>
              <a:t>sesuai rekaman</a:t>
            </a:r>
          </a:p>
        </p:txBody>
      </p:sp>
      <p:sp>
        <p:nvSpPr>
          <p:cNvPr id="15" name="TextBox 14"/>
          <p:cNvSpPr txBox="1"/>
          <p:nvPr/>
        </p:nvSpPr>
        <p:spPr>
          <a:xfrm>
            <a:off x="630936" y="2761488"/>
            <a:ext cx="3550919" cy="310896"/>
          </a:xfrm>
          <a:prstGeom prst="rect">
            <a:avLst/>
          </a:prstGeom>
          <a:noFill/>
        </p:spPr>
        <p:txBody>
          <a:bodyPr wrap="square">
            <a:spAutoFit/>
          </a:bodyPr>
          <a:lstStyle/>
          <a:p>
            <a:pPr algn="l">
              <a:lnSpc>
                <a:spcPct val="100000"/>
              </a:lnSpc>
            </a:pPr>
            <a:r>
              <a:rPr sz="1150" b="0">
                <a:solidFill>
                  <a:srgbClr val="F8FAFC"/>
                </a:solidFill>
                <a:latin typeface="Segoe UI"/>
              </a:rPr>
              <a:t>Ritase terbentuk</a:t>
            </a:r>
          </a:p>
        </p:txBody>
      </p:sp>
      <p:sp>
        <p:nvSpPr>
          <p:cNvPr id="16" name="TextBox 15"/>
          <p:cNvSpPr txBox="1"/>
          <p:nvPr/>
        </p:nvSpPr>
        <p:spPr>
          <a:xfrm>
            <a:off x="4364735" y="2761488"/>
            <a:ext cx="3550919" cy="310896"/>
          </a:xfrm>
          <a:prstGeom prst="rect">
            <a:avLst/>
          </a:prstGeom>
          <a:noFill/>
        </p:spPr>
        <p:txBody>
          <a:bodyPr wrap="square">
            <a:spAutoFit/>
          </a:bodyPr>
          <a:lstStyle/>
          <a:p>
            <a:pPr algn="l">
              <a:lnSpc>
                <a:spcPct val="100000"/>
              </a:lnSpc>
            </a:pPr>
            <a:r>
              <a:rPr sz="1150" b="0">
                <a:solidFill>
                  <a:srgbClr val="A3AEC2"/>
                </a:solidFill>
                <a:latin typeface="Consolas"/>
              </a:rPr>
              <a:t>3</a:t>
            </a:r>
          </a:p>
        </p:txBody>
      </p:sp>
      <p:sp>
        <p:nvSpPr>
          <p:cNvPr id="17" name="TextBox 16"/>
          <p:cNvSpPr txBox="1"/>
          <p:nvPr/>
        </p:nvSpPr>
        <p:spPr>
          <a:xfrm>
            <a:off x="8098535" y="2761488"/>
            <a:ext cx="3550919" cy="310896"/>
          </a:xfrm>
          <a:prstGeom prst="rect">
            <a:avLst/>
          </a:prstGeom>
          <a:noFill/>
        </p:spPr>
        <p:txBody>
          <a:bodyPr wrap="square">
            <a:spAutoFit/>
          </a:bodyPr>
          <a:lstStyle/>
          <a:p>
            <a:pPr algn="l">
              <a:lnSpc>
                <a:spcPct val="100000"/>
              </a:lnSpc>
            </a:pPr>
            <a:r>
              <a:rPr sz="1150" b="0">
                <a:solidFill>
                  <a:srgbClr val="A3AEC2"/>
                </a:solidFill>
                <a:latin typeface="Consolas"/>
              </a:rPr>
              <a:t>4</a:t>
            </a:r>
          </a:p>
        </p:txBody>
      </p:sp>
      <p:sp>
        <p:nvSpPr>
          <p:cNvPr id="18" name="TextBox 17"/>
          <p:cNvSpPr txBox="1"/>
          <p:nvPr/>
        </p:nvSpPr>
        <p:spPr>
          <a:xfrm>
            <a:off x="630936" y="3145536"/>
            <a:ext cx="3550919" cy="310896"/>
          </a:xfrm>
          <a:prstGeom prst="rect">
            <a:avLst/>
          </a:prstGeom>
          <a:noFill/>
        </p:spPr>
        <p:txBody>
          <a:bodyPr wrap="square">
            <a:spAutoFit/>
          </a:bodyPr>
          <a:lstStyle/>
          <a:p>
            <a:pPr algn="l">
              <a:lnSpc>
                <a:spcPct val="100000"/>
              </a:lnSpc>
            </a:pPr>
            <a:r>
              <a:rPr sz="1150" b="0">
                <a:solidFill>
                  <a:srgbClr val="F8FAFC"/>
                </a:solidFill>
                <a:latin typeface="Segoe UI"/>
              </a:rPr>
              <a:t>Lintasan hilang dari hitungan</a:t>
            </a:r>
          </a:p>
        </p:txBody>
      </p:sp>
      <p:sp>
        <p:nvSpPr>
          <p:cNvPr id="19" name="TextBox 18"/>
          <p:cNvSpPr txBox="1"/>
          <p:nvPr/>
        </p:nvSpPr>
        <p:spPr>
          <a:xfrm>
            <a:off x="4364735" y="3145536"/>
            <a:ext cx="3550919" cy="310896"/>
          </a:xfrm>
          <a:prstGeom prst="rect">
            <a:avLst/>
          </a:prstGeom>
          <a:noFill/>
        </p:spPr>
        <p:txBody>
          <a:bodyPr wrap="square">
            <a:spAutoFit/>
          </a:bodyPr>
          <a:lstStyle/>
          <a:p>
            <a:pPr algn="l">
              <a:lnSpc>
                <a:spcPct val="100000"/>
              </a:lnSpc>
            </a:pPr>
            <a:r>
              <a:rPr sz="1150" b="0">
                <a:solidFill>
                  <a:srgbClr val="A3AEC2"/>
                </a:solidFill>
                <a:latin typeface="Consolas"/>
              </a:rPr>
              <a:t>1</a:t>
            </a:r>
          </a:p>
        </p:txBody>
      </p:sp>
      <p:sp>
        <p:nvSpPr>
          <p:cNvPr id="20" name="TextBox 19"/>
          <p:cNvSpPr txBox="1"/>
          <p:nvPr/>
        </p:nvSpPr>
        <p:spPr>
          <a:xfrm>
            <a:off x="8098535" y="3145536"/>
            <a:ext cx="3550919" cy="310896"/>
          </a:xfrm>
          <a:prstGeom prst="rect">
            <a:avLst/>
          </a:prstGeom>
          <a:noFill/>
        </p:spPr>
        <p:txBody>
          <a:bodyPr wrap="square">
            <a:spAutoFit/>
          </a:bodyPr>
          <a:lstStyle/>
          <a:p>
            <a:pPr algn="l">
              <a:lnSpc>
                <a:spcPct val="100000"/>
              </a:lnSpc>
            </a:pPr>
            <a:r>
              <a:rPr sz="1150" b="0">
                <a:solidFill>
                  <a:srgbClr val="A3AEC2"/>
                </a:solidFill>
                <a:latin typeface="Consolas"/>
              </a:rPr>
              <a:t>0</a:t>
            </a:r>
          </a:p>
        </p:txBody>
      </p:sp>
      <p:sp>
        <p:nvSpPr>
          <p:cNvPr id="21" name="TextBox 20"/>
          <p:cNvSpPr txBox="1"/>
          <p:nvPr/>
        </p:nvSpPr>
        <p:spPr>
          <a:xfrm>
            <a:off x="630936" y="3529584"/>
            <a:ext cx="3550919" cy="310896"/>
          </a:xfrm>
          <a:prstGeom prst="rect">
            <a:avLst/>
          </a:prstGeom>
          <a:noFill/>
        </p:spPr>
        <p:txBody>
          <a:bodyPr wrap="square">
            <a:spAutoFit/>
          </a:bodyPr>
          <a:lstStyle/>
          <a:p>
            <a:pPr algn="l">
              <a:lnSpc>
                <a:spcPct val="100000"/>
              </a:lnSpc>
            </a:pPr>
            <a:r>
              <a:rPr sz="1150" b="0">
                <a:solidFill>
                  <a:srgbClr val="F8FAFC"/>
                </a:solidFill>
                <a:latin typeface="Segoe UI"/>
              </a:rPr>
              <a:t>Truk salah dianggap di dalam</a:t>
            </a:r>
          </a:p>
        </p:txBody>
      </p:sp>
      <p:sp>
        <p:nvSpPr>
          <p:cNvPr id="22" name="TextBox 21"/>
          <p:cNvSpPr txBox="1"/>
          <p:nvPr/>
        </p:nvSpPr>
        <p:spPr>
          <a:xfrm>
            <a:off x="4364735" y="3529584"/>
            <a:ext cx="3550919" cy="310896"/>
          </a:xfrm>
          <a:prstGeom prst="rect">
            <a:avLst/>
          </a:prstGeom>
          <a:noFill/>
        </p:spPr>
        <p:txBody>
          <a:bodyPr wrap="square">
            <a:spAutoFit/>
          </a:bodyPr>
          <a:lstStyle/>
          <a:p>
            <a:pPr algn="l">
              <a:lnSpc>
                <a:spcPct val="100000"/>
              </a:lnSpc>
            </a:pPr>
            <a:r>
              <a:rPr sz="1150" b="0">
                <a:solidFill>
                  <a:srgbClr val="A3AEC2"/>
                </a:solidFill>
                <a:latin typeface="Consolas"/>
              </a:rPr>
              <a:t>3</a:t>
            </a:r>
          </a:p>
        </p:txBody>
      </p:sp>
      <p:sp>
        <p:nvSpPr>
          <p:cNvPr id="23" name="TextBox 22"/>
          <p:cNvSpPr txBox="1"/>
          <p:nvPr/>
        </p:nvSpPr>
        <p:spPr>
          <a:xfrm>
            <a:off x="8098535" y="3529584"/>
            <a:ext cx="3550919" cy="310896"/>
          </a:xfrm>
          <a:prstGeom prst="rect">
            <a:avLst/>
          </a:prstGeom>
          <a:noFill/>
        </p:spPr>
        <p:txBody>
          <a:bodyPr wrap="square">
            <a:spAutoFit/>
          </a:bodyPr>
          <a:lstStyle/>
          <a:p>
            <a:pPr algn="l">
              <a:lnSpc>
                <a:spcPct val="100000"/>
              </a:lnSpc>
            </a:pPr>
            <a:r>
              <a:rPr sz="1150" b="0">
                <a:solidFill>
                  <a:srgbClr val="A3AEC2"/>
                </a:solidFill>
                <a:latin typeface="Consolas"/>
              </a:rPr>
              <a:t>0</a:t>
            </a:r>
          </a:p>
        </p:txBody>
      </p:sp>
      <p:sp>
        <p:nvSpPr>
          <p:cNvPr id="24" name="TextBox 23"/>
          <p:cNvSpPr txBox="1"/>
          <p:nvPr/>
        </p:nvSpPr>
        <p:spPr>
          <a:xfrm>
            <a:off x="502920" y="4142232"/>
            <a:ext cx="11155680" cy="914400"/>
          </a:xfrm>
          <a:prstGeom prst="rect">
            <a:avLst/>
          </a:prstGeom>
          <a:noFill/>
        </p:spPr>
        <p:txBody>
          <a:bodyPr wrap="square">
            <a:spAutoFit/>
          </a:bodyPr>
          <a:lstStyle/>
          <a:p>
            <a:pPr algn="l">
              <a:lnSpc>
                <a:spcPct val="140000"/>
              </a:lnSpc>
            </a:pPr>
            <a:r>
              <a:rPr sz="1150" b="0">
                <a:solidFill>
                  <a:srgbClr val="F59E0B"/>
                </a:solidFill>
                <a:latin typeface="Segoe UI"/>
              </a:rPr>
              <a:t>Satu pasang truk (2264) tetap tidak berpasangan, dan itu benar: rekaman keluarnya memperlihatkan truk bergerak ke arah yang sama dengan kedatangan. Sistem menandainya untuk ditinjau, bukan mengarang ritase yang tidak terbukti.</a:t>
            </a:r>
          </a:p>
        </p:txBody>
      </p:sp>
      <p:sp>
        <p:nvSpPr>
          <p:cNvPr id="25" name="TextBox 24"/>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26" name="TextBox 25"/>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KEANDALAN</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Yang diperkuat di balik layar</a:t>
            </a:r>
          </a:p>
        </p:txBody>
      </p:sp>
      <p:sp>
        <p:nvSpPr>
          <p:cNvPr id="5" name="Rounded Rectangle 4"/>
          <p:cNvSpPr/>
          <p:nvPr/>
        </p:nvSpPr>
        <p:spPr>
          <a:xfrm>
            <a:off x="502920" y="1600200"/>
            <a:ext cx="355092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10512"/>
            <a:ext cx="3093720" cy="365760"/>
          </a:xfrm>
          <a:prstGeom prst="rect">
            <a:avLst/>
          </a:prstGeom>
          <a:noFill/>
        </p:spPr>
        <p:txBody>
          <a:bodyPr wrap="square">
            <a:spAutoFit/>
          </a:bodyPr>
          <a:lstStyle/>
          <a:p>
            <a:pPr algn="l">
              <a:lnSpc>
                <a:spcPct val="100000"/>
              </a:lnSpc>
            </a:pPr>
            <a:r>
              <a:rPr sz="1700" b="1">
                <a:solidFill>
                  <a:srgbClr val="F59E0B"/>
                </a:solidFill>
                <a:latin typeface="Consolas"/>
              </a:rPr>
              <a:t>01</a:t>
            </a:r>
          </a:p>
        </p:txBody>
      </p:sp>
      <p:sp>
        <p:nvSpPr>
          <p:cNvPr id="7" name="TextBox 6"/>
          <p:cNvSpPr txBox="1"/>
          <p:nvPr/>
        </p:nvSpPr>
        <p:spPr>
          <a:xfrm>
            <a:off x="758952" y="2267712"/>
            <a:ext cx="3093720" cy="457200"/>
          </a:xfrm>
          <a:prstGeom prst="rect">
            <a:avLst/>
          </a:prstGeom>
          <a:noFill/>
        </p:spPr>
        <p:txBody>
          <a:bodyPr wrap="square">
            <a:spAutoFit/>
          </a:bodyPr>
          <a:lstStyle/>
          <a:p>
            <a:pPr algn="l">
              <a:lnSpc>
                <a:spcPct val="100000"/>
              </a:lnSpc>
            </a:pPr>
            <a:r>
              <a:rPr sz="1550" b="1">
                <a:solidFill>
                  <a:srgbClr val="F8FAFC"/>
                </a:solidFill>
                <a:latin typeface="Segoe UI"/>
              </a:rPr>
              <a:t>Pencadangan otomatis</a:t>
            </a:r>
          </a:p>
        </p:txBody>
      </p:sp>
      <p:sp>
        <p:nvSpPr>
          <p:cNvPr id="8" name="TextBox 7"/>
          <p:cNvSpPr txBox="1"/>
          <p:nvPr/>
        </p:nvSpPr>
        <p:spPr>
          <a:xfrm>
            <a:off x="758952" y="2788920"/>
            <a:ext cx="3038856" cy="1828800"/>
          </a:xfrm>
          <a:prstGeom prst="rect">
            <a:avLst/>
          </a:prstGeom>
          <a:noFill/>
        </p:spPr>
        <p:txBody>
          <a:bodyPr wrap="square">
            <a:spAutoFit/>
          </a:bodyPr>
          <a:lstStyle/>
          <a:p>
            <a:pPr algn="l">
              <a:lnSpc>
                <a:spcPct val="135000"/>
              </a:lnSpc>
            </a:pPr>
            <a:r>
              <a:rPr sz="1150" b="0">
                <a:solidFill>
                  <a:srgbClr val="A3AEC2"/>
                </a:solidFill>
                <a:latin typeface="Segoe UI"/>
              </a:rPr>
              <a:t>Sebelumnya tidak ada sama sekali — satu berkas rusak berarti seluruh riwayat ritase hilang. Kini dicadangkan tiap enam jam, diperiksa keutuhannya, dan disimpan 30 hari.</a:t>
            </a:r>
          </a:p>
        </p:txBody>
      </p:sp>
      <p:sp>
        <p:nvSpPr>
          <p:cNvPr id="9" name="Rounded Rectangle 8"/>
          <p:cNvSpPr/>
          <p:nvPr/>
        </p:nvSpPr>
        <p:spPr>
          <a:xfrm>
            <a:off x="4328160" y="1600200"/>
            <a:ext cx="355092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4192" y="1810512"/>
            <a:ext cx="3093720" cy="365760"/>
          </a:xfrm>
          <a:prstGeom prst="rect">
            <a:avLst/>
          </a:prstGeom>
          <a:noFill/>
        </p:spPr>
        <p:txBody>
          <a:bodyPr wrap="square">
            <a:spAutoFit/>
          </a:bodyPr>
          <a:lstStyle/>
          <a:p>
            <a:pPr algn="l">
              <a:lnSpc>
                <a:spcPct val="100000"/>
              </a:lnSpc>
            </a:pPr>
            <a:r>
              <a:rPr sz="1700" b="1">
                <a:solidFill>
                  <a:srgbClr val="F59E0B"/>
                </a:solidFill>
                <a:latin typeface="Consolas"/>
              </a:rPr>
              <a:t>02</a:t>
            </a:r>
          </a:p>
        </p:txBody>
      </p:sp>
      <p:sp>
        <p:nvSpPr>
          <p:cNvPr id="11" name="TextBox 10"/>
          <p:cNvSpPr txBox="1"/>
          <p:nvPr/>
        </p:nvSpPr>
        <p:spPr>
          <a:xfrm>
            <a:off x="4584192" y="2267712"/>
            <a:ext cx="3093720" cy="457200"/>
          </a:xfrm>
          <a:prstGeom prst="rect">
            <a:avLst/>
          </a:prstGeom>
          <a:noFill/>
        </p:spPr>
        <p:txBody>
          <a:bodyPr wrap="square">
            <a:spAutoFit/>
          </a:bodyPr>
          <a:lstStyle/>
          <a:p>
            <a:pPr algn="l">
              <a:lnSpc>
                <a:spcPct val="100000"/>
              </a:lnSpc>
            </a:pPr>
            <a:r>
              <a:rPr sz="1550" b="1">
                <a:solidFill>
                  <a:srgbClr val="F8FAFC"/>
                </a:solidFill>
                <a:latin typeface="Segoe UI"/>
              </a:rPr>
              <a:t>Laporan jauh lebih cepat</a:t>
            </a:r>
          </a:p>
        </p:txBody>
      </p:sp>
      <p:sp>
        <p:nvSpPr>
          <p:cNvPr id="12" name="TextBox 11"/>
          <p:cNvSpPr txBox="1"/>
          <p:nvPr/>
        </p:nvSpPr>
        <p:spPr>
          <a:xfrm>
            <a:off x="4584192" y="2788920"/>
            <a:ext cx="3038856" cy="1828800"/>
          </a:xfrm>
          <a:prstGeom prst="rect">
            <a:avLst/>
          </a:prstGeom>
          <a:noFill/>
        </p:spPr>
        <p:txBody>
          <a:bodyPr wrap="square">
            <a:spAutoFit/>
          </a:bodyPr>
          <a:lstStyle/>
          <a:p>
            <a:pPr algn="l">
              <a:lnSpc>
                <a:spcPct val="135000"/>
              </a:lnSpc>
            </a:pPr>
            <a:r>
              <a:rPr sz="1150" b="0">
                <a:solidFill>
                  <a:srgbClr val="A3AEC2"/>
                </a:solidFill>
                <a:latin typeface="Segoe UI"/>
              </a:rPr>
              <a:t>Diuji pada beban target 15.000 ritase per hari. Laporan harian yang tadinya butuh lebih dari empat menit kini selesai di bawah satu detik.</a:t>
            </a:r>
          </a:p>
        </p:txBody>
      </p:sp>
      <p:sp>
        <p:nvSpPr>
          <p:cNvPr id="13" name="Rounded Rectangle 12"/>
          <p:cNvSpPr/>
          <p:nvPr/>
        </p:nvSpPr>
        <p:spPr>
          <a:xfrm>
            <a:off x="8153400" y="1600200"/>
            <a:ext cx="355092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09432" y="1810512"/>
            <a:ext cx="3093720" cy="365760"/>
          </a:xfrm>
          <a:prstGeom prst="rect">
            <a:avLst/>
          </a:prstGeom>
          <a:noFill/>
        </p:spPr>
        <p:txBody>
          <a:bodyPr wrap="square">
            <a:spAutoFit/>
          </a:bodyPr>
          <a:lstStyle/>
          <a:p>
            <a:pPr algn="l">
              <a:lnSpc>
                <a:spcPct val="100000"/>
              </a:lnSpc>
            </a:pPr>
            <a:r>
              <a:rPr sz="1700" b="1">
                <a:solidFill>
                  <a:srgbClr val="F59E0B"/>
                </a:solidFill>
                <a:latin typeface="Consolas"/>
              </a:rPr>
              <a:t>03</a:t>
            </a:r>
          </a:p>
        </p:txBody>
      </p:sp>
      <p:sp>
        <p:nvSpPr>
          <p:cNvPr id="15" name="TextBox 14"/>
          <p:cNvSpPr txBox="1"/>
          <p:nvPr/>
        </p:nvSpPr>
        <p:spPr>
          <a:xfrm>
            <a:off x="8409432" y="2267712"/>
            <a:ext cx="3093720" cy="457200"/>
          </a:xfrm>
          <a:prstGeom prst="rect">
            <a:avLst/>
          </a:prstGeom>
          <a:noFill/>
        </p:spPr>
        <p:txBody>
          <a:bodyPr wrap="square">
            <a:spAutoFit/>
          </a:bodyPr>
          <a:lstStyle/>
          <a:p>
            <a:pPr algn="l">
              <a:lnSpc>
                <a:spcPct val="100000"/>
              </a:lnSpc>
            </a:pPr>
            <a:r>
              <a:rPr sz="1550" b="1">
                <a:solidFill>
                  <a:srgbClr val="F8FAFC"/>
                </a:solidFill>
                <a:latin typeface="Segoe UI"/>
              </a:rPr>
              <a:t>Pemasangan pos baru</a:t>
            </a:r>
          </a:p>
        </p:txBody>
      </p:sp>
      <p:sp>
        <p:nvSpPr>
          <p:cNvPr id="16" name="TextBox 15"/>
          <p:cNvSpPr txBox="1"/>
          <p:nvPr/>
        </p:nvSpPr>
        <p:spPr>
          <a:xfrm>
            <a:off x="8409432" y="2788920"/>
            <a:ext cx="3038856" cy="1828800"/>
          </a:xfrm>
          <a:prstGeom prst="rect">
            <a:avLst/>
          </a:prstGeom>
          <a:noFill/>
        </p:spPr>
        <p:txBody>
          <a:bodyPr wrap="square">
            <a:spAutoFit/>
          </a:bodyPr>
          <a:lstStyle/>
          <a:p>
            <a:pPr algn="l">
              <a:lnSpc>
                <a:spcPct val="135000"/>
              </a:lnSpc>
            </a:pPr>
            <a:r>
              <a:rPr sz="1150" b="0">
                <a:solidFill>
                  <a:srgbClr val="A3AEC2"/>
                </a:solidFill>
                <a:latin typeface="Segoe UI"/>
              </a:rPr>
              <a:t>Menambah pos gerbang cukup dengan satu perintah pemasangan. Sistem memeriksa sendiri sambungannya ke pusat dan menyebutkan penyebabnya bila ada yang belum beres.</a:t>
            </a:r>
          </a:p>
        </p:txBody>
      </p:sp>
      <p:sp>
        <p:nvSpPr>
          <p:cNvPr id="17" name="TextBox 1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8" name="TextBox 1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CATATAN</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Yang perlu diperhatikan</a:t>
            </a:r>
          </a:p>
        </p:txBody>
      </p:sp>
      <p:sp>
        <p:nvSpPr>
          <p:cNvPr id="5" name="Rounded Rectangle 4"/>
          <p:cNvSpPr/>
          <p:nvPr/>
        </p:nvSpPr>
        <p:spPr>
          <a:xfrm>
            <a:off x="50292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Arah per pos disetel dari dasbor</a:t>
            </a:r>
          </a:p>
        </p:txBody>
      </p:sp>
      <p:sp>
        <p:nvSpPr>
          <p:cNvPr id="7" name="TextBox 6"/>
          <p:cNvSpPr txBox="1"/>
          <p:nvPr/>
        </p:nvSpPr>
        <p:spPr>
          <a:xfrm>
            <a:off x="740664"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Tiap pos gerbang punya pengaturan arah sendiri di menu Kamera Per Pos. Bila satu pos mencatat lintasan terbalik, perbaikannya cukup dari dasbor — tidak perlu mendatangi perangkat.</a:t>
            </a:r>
          </a:p>
        </p:txBody>
      </p:sp>
      <p:sp>
        <p:nvSpPr>
          <p:cNvPr id="8" name="Rounded Rectangle 7"/>
          <p:cNvSpPr/>
          <p:nvPr/>
        </p:nvSpPr>
        <p:spPr>
          <a:xfrm>
            <a:off x="626364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Rekaman 2264 perlu ditinjau</a:t>
            </a:r>
          </a:p>
        </p:txBody>
      </p:sp>
      <p:sp>
        <p:nvSpPr>
          <p:cNvPr id="10" name="TextBox 9"/>
          <p:cNvSpPr txBox="1"/>
          <p:nvPr/>
        </p:nvSpPr>
        <p:spPr>
          <a:xfrm>
            <a:off x="6501383"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Pada rekaman keluar 2264, truk bergerak ke arah yang sama dengan kedatangan. Perlu dipastikan apakah rekamannya tertukar atau kamera sempat dipindahkan.</a:t>
            </a:r>
          </a:p>
        </p:txBody>
      </p:sp>
      <p:sp>
        <p:nvSpPr>
          <p:cNvPr id="11" name="Rounded Rectangle 10"/>
          <p:cNvSpPr/>
          <p:nvPr/>
        </p:nvSpPr>
        <p:spPr>
          <a:xfrm>
            <a:off x="50292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Angka pada paparan ini bukan produksi nyata</a:t>
            </a:r>
          </a:p>
        </p:txBody>
      </p:sp>
      <p:sp>
        <p:nvSpPr>
          <p:cNvPr id="13" name="TextBox 12"/>
          <p:cNvSpPr txBox="1"/>
          <p:nvPr/>
        </p:nvSpPr>
        <p:spPr>
          <a:xfrm>
            <a:off x="740664"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Semua berasal dari sepuluh rekaman uji di satu pos. Angka sesungguhnya akan muncul setelah keempat pos beroperasi.</a:t>
            </a:r>
          </a:p>
        </p:txBody>
      </p:sp>
      <p:sp>
        <p:nvSpPr>
          <p:cNvPr id="14" name="TextBox 13"/>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15" name="TextBox 14"/>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LANGKAH BERIKUTNYA</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Yang menunggu keputusan</a:t>
            </a:r>
          </a:p>
        </p:txBody>
      </p:sp>
      <p:sp>
        <p:nvSpPr>
          <p:cNvPr id="5" name="Rounded Rectangle 4"/>
          <p:cNvSpPr/>
          <p:nvPr/>
        </p:nvSpPr>
        <p:spPr>
          <a:xfrm>
            <a:off x="502920" y="1600200"/>
            <a:ext cx="11201400" cy="406908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10515600" cy="3566160"/>
          </a:xfrm>
          <a:prstGeom prst="rect">
            <a:avLst/>
          </a:prstGeom>
          <a:noFill/>
        </p:spPr>
        <p:txBody>
          <a:bodyPr wrap="square">
            <a:spAutoFit/>
          </a:bodyPr>
          <a:lstStyle/>
          <a:p>
            <a:pPr algn="l">
              <a:lnSpc>
                <a:spcPct val="175000"/>
              </a:lnSpc>
            </a:pPr>
            <a:r>
              <a:rPr sz="1300" b="0">
                <a:solidFill>
                  <a:srgbClr val="A3AEC2"/>
                </a:solidFill>
                <a:latin typeface="Segoe UI"/>
              </a:rPr>
              <a:t>▪  Pasang dan uji pos cek CP 02, CP 03, dan CP 04.</a:t>
            </a:r>
          </a:p>
          <a:p>
            <a:pPr algn="l">
              <a:lnSpc>
                <a:spcPct val="175000"/>
              </a:lnSpc>
            </a:pPr>
            <a:r>
              <a:rPr sz="1300" b="0">
                <a:solidFill>
                  <a:srgbClr val="A3AEC2"/>
                </a:solidFill>
                <a:latin typeface="Segoe UI"/>
              </a:rPr>
              <a:t>▪  Tetapkan arah masuk tiap pos setelah kameranya terpasang.</a:t>
            </a:r>
          </a:p>
          <a:p>
            <a:pPr algn="l">
              <a:lnSpc>
                <a:spcPct val="175000"/>
              </a:lnSpc>
            </a:pPr>
            <a:r>
              <a:rPr sz="1300" b="0">
                <a:solidFill>
                  <a:srgbClr val="A3AEC2"/>
                </a:solidFill>
                <a:latin typeface="Segoe UI"/>
              </a:rPr>
              <a:t>▪  Sambungkan dasbor ke portal Araswara lewat API.</a:t>
            </a:r>
          </a:p>
          <a:p>
            <a:pPr algn="l">
              <a:lnSpc>
                <a:spcPct val="175000"/>
              </a:lnSpc>
            </a:pPr>
            <a:r>
              <a:rPr sz="1300" b="0">
                <a:solidFill>
                  <a:srgbClr val="A3AEC2"/>
                </a:solidFill>
                <a:latin typeface="Segoe UI"/>
              </a:rPr>
              <a:t>▪  Siapkan kapasitas server untuk 15.000 ritase per hari.</a:t>
            </a:r>
          </a:p>
        </p:txBody>
      </p:sp>
      <p:sp>
        <p:nvSpPr>
          <p:cNvPr id="7" name="TextBox 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Integrated Smart Hauling System · Pembaruan 16 Agustus 2026</a:t>
            </a:r>
          </a:p>
        </p:txBody>
      </p:sp>
      <p:sp>
        <p:nvSpPr>
          <p:cNvPr id="8" name="TextBox 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