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2194560"/>
            <a:ext cx="10515600" cy="1097280"/>
          </a:xfrm>
          <a:prstGeom prst="rect">
            <a:avLst/>
          </a:prstGeom>
          <a:noFill/>
        </p:spPr>
        <p:txBody>
          <a:bodyPr wrap="square">
            <a:spAutoFit/>
          </a:bodyPr>
          <a:lstStyle/>
          <a:p>
            <a:pPr algn="l">
              <a:defRPr sz="4000" b="1">
                <a:solidFill>
                  <a:srgbClr val="F8FAFC"/>
                </a:solidFill>
                <a:latin typeface="Calibri"/>
              </a:defRPr>
            </a:pPr>
            <a:r>
              <a:t>Integrated Smart Hauling System</a:t>
            </a:r>
          </a:p>
        </p:txBody>
      </p:sp>
      <p:sp>
        <p:nvSpPr>
          <p:cNvPr id="3" name="TextBox 2"/>
          <p:cNvSpPr txBox="1"/>
          <p:nvPr/>
        </p:nvSpPr>
        <p:spPr>
          <a:xfrm>
            <a:off x="822960" y="3383280"/>
            <a:ext cx="10515600" cy="1463040"/>
          </a:xfrm>
          <a:prstGeom prst="rect">
            <a:avLst/>
          </a:prstGeom>
          <a:noFill/>
        </p:spPr>
        <p:txBody>
          <a:bodyPr wrap="square">
            <a:spAutoFit/>
          </a:bodyPr>
          <a:lstStyle/>
          <a:p>
            <a:pPr algn="l">
              <a:defRPr sz="2000" b="0">
                <a:solidFill>
                  <a:srgbClr val="A3AEC2"/>
                </a:solidFill>
                <a:latin typeface="Calibri"/>
              </a:defRPr>
            </a:pPr>
            <a:r>
              <a:t>Panduan penggunaan, halaman per halaman.</a:t>
            </a:r>
          </a:p>
          <a:p>
            <a:pPr algn="l">
              <a:defRPr sz="2000" b="0">
                <a:solidFill>
                  <a:srgbClr val="A3AEC2"/>
                </a:solidFill>
                <a:latin typeface="Calibri"/>
              </a:defRPr>
            </a:pPr>
            <a:r>
              <a:t>Bagian 1 — Konsol Pusat (6 halaman).   Bagian 2 — Konsol Gerbang (1 halaman).</a:t>
            </a:r>
          </a:p>
        </p:txBody>
      </p:sp>
      <p:sp>
        <p:nvSpPr>
          <p:cNvPr id="4" name="TextBox 3"/>
          <p:cNvSpPr txBox="1"/>
          <p:nvPr/>
        </p:nvSpPr>
        <p:spPr>
          <a:xfrm>
            <a:off x="822960" y="5852160"/>
            <a:ext cx="10515600" cy="548640"/>
          </a:xfrm>
          <a:prstGeom prst="rect">
            <a:avLst/>
          </a:prstGeom>
          <a:noFill/>
        </p:spPr>
        <p:txBody>
          <a:bodyPr wrap="square">
            <a:spAutoFit/>
          </a:bodyPr>
          <a:lstStyle/>
          <a:p>
            <a:pPr algn="l">
              <a:defRPr sz="1300" b="0">
                <a:solidFill>
                  <a:srgbClr val="F59E0B"/>
                </a:solidFill>
                <a:latin typeface="Consolas"/>
              </a:defRPr>
            </a:pPr>
            <a:r>
              <a:t>Semua tangkapan layar diambil dari sistem yang berjalan, dengan data hasil 10 rekaman nyata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PETA SINGKAT</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Dua konsol, dua peran berbeda</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KONSOL PUSAT — dibuka dari kantor. Mengumpulkan hasil dari semua gerbang, menyusun laporan ritase, dan mengatur perangkat dari jauh. Tidak melakukan pembacaan sendiri.</a:t>
            </a:r>
          </a:p>
          <a:p>
            <a:pPr algn="l">
              <a:defRPr sz="1700" b="0">
                <a:solidFill>
                  <a:srgbClr val="A3AEC2"/>
                </a:solidFill>
                <a:latin typeface="Calibri"/>
              </a:defRPr>
            </a:pPr>
          </a:p>
          <a:p>
            <a:pPr algn="l">
              <a:defRPr sz="1700" b="0">
                <a:solidFill>
                  <a:srgbClr val="A3AEC2"/>
                </a:solidFill>
                <a:latin typeface="Calibri"/>
              </a:defRPr>
            </a:pPr>
            <a:r>
              <a:t>KONSOL GERBANG — dibuka di lokasi, satu untuk tiap gerbang. Di sinilah pembacaan nomor lambung benar-benar terjadi. Tetap bekerja walau jaringan ke pusat putus.</a:t>
            </a:r>
          </a:p>
          <a:p>
            <a:pPr algn="l">
              <a:defRPr sz="1700" b="0">
                <a:solidFill>
                  <a:srgbClr val="A3AEC2"/>
                </a:solidFill>
                <a:latin typeface="Calibri"/>
              </a:defRPr>
            </a:pPr>
          </a:p>
          <a:p>
            <a:pPr algn="l">
              <a:defRPr sz="1700" b="0">
                <a:solidFill>
                  <a:srgbClr val="A3AEC2"/>
                </a:solidFill>
                <a:latin typeface="Calibri"/>
              </a:defRPr>
            </a:pPr>
            <a:r>
              <a:t>Aturan yang membedakan keduanya: gerbang yang mendeteksi, pusat yang menerima. Itu sebabnya panel proses deteksi ada di konsol gerbang, bukan di pusat.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BAGIAN 1</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Konsol Pusat</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Enam halaman: Monitoring CCTV, Riwayat Pembacaan, Laporan Harian &amp; Shift, Konfigurasi Sistem, Perangkat Edge, dan Tayangan Langsung Gate.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a:spAutoFit/>
          </a:bodyPr>
          <a:lstStyle/>
          <a:p>
            <a:pPr algn="l">
              <a:defRPr sz="1200" b="1">
                <a:solidFill>
                  <a:srgbClr val="F59E0B"/>
                </a:solidFill>
                <a:latin typeface="Consolas"/>
              </a:defRPr>
            </a:pPr>
            <a:r>
              <a:t>PUSAT · HALAMAN 1</a:t>
            </a:r>
          </a:p>
        </p:txBody>
      </p:sp>
      <p:sp>
        <p:nvSpPr>
          <p:cNvPr id="3" name="TextBox 2"/>
          <p:cNvSpPr txBox="1"/>
          <p:nvPr/>
        </p:nvSpPr>
        <p:spPr>
          <a:xfrm>
            <a:off x="548640" y="685800"/>
            <a:ext cx="11064240" cy="548640"/>
          </a:xfrm>
          <a:prstGeom prst="rect">
            <a:avLst/>
          </a:prstGeom>
          <a:noFill/>
        </p:spPr>
        <p:txBody>
          <a:bodyPr wrap="square">
            <a:spAutoFit/>
          </a:bodyPr>
          <a:lstStyle/>
          <a:p>
            <a:pPr algn="l">
              <a:defRPr sz="2400" b="1">
                <a:solidFill>
                  <a:srgbClr val="F8FAFC"/>
                </a:solidFill>
                <a:latin typeface="Calibri"/>
              </a:defRPr>
            </a:pPr>
            <a:r>
              <a:t>Monitoring CCTV</a:t>
            </a:r>
          </a:p>
        </p:txBody>
      </p:sp>
      <p:pic>
        <p:nvPicPr>
          <p:cNvPr id="4" name="Picture 3" descr="core-01-monitoring-cctv.jpg"/>
          <p:cNvPicPr>
            <a:picLocks noChangeAspect="1"/>
          </p:cNvPicPr>
          <p:nvPr/>
        </p:nvPicPr>
        <p:blipFill>
          <a:blip r:embed="rId2"/>
          <a:stretch>
            <a:fillRect/>
          </a:stretch>
        </p:blipFill>
        <p:spPr>
          <a:xfrm>
            <a:off x="548640" y="1371600"/>
            <a:ext cx="11064240" cy="5151081"/>
          </a:xfrm>
          <a:prstGeom prst="rect">
            <a:avLst/>
          </a:prstGeom>
        </p:spPr>
      </p:pic>
      <p:sp>
        <p:nvSpPr>
          <p:cNvPr id="5" name="TextBox 4"/>
          <p:cNvSpPr txBox="1"/>
          <p:nvPr/>
        </p:nvSpPr>
        <p:spPr>
          <a:xfrm>
            <a:off x="548640" y="5989320"/>
            <a:ext cx="11064240" cy="731520"/>
          </a:xfrm>
          <a:prstGeom prst="rect">
            <a:avLst/>
          </a:prstGeom>
          <a:noFill/>
        </p:spPr>
        <p:txBody>
          <a:bodyPr wrap="square">
            <a:spAutoFit/>
          </a:bodyPr>
          <a:lstStyle/>
          <a:p>
            <a:pPr algn="l">
              <a:defRPr sz="1400" b="0">
                <a:solidFill>
                  <a:srgbClr val="A3AEC2"/>
                </a:solidFill>
                <a:latin typeface="Calibri"/>
              </a:defRPr>
            </a:pPr>
            <a:r>
              <a:t>Halaman pembuka. Dua layar gerbang berdampingan.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PUSAT · HALAMAN 1</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Monitoring CCTV — cara memakainya</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Isinya dua layar, tidak ada yang lain</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Sengaja dibuat sepi. Halaman ini menjawab satu pertanyaan: gerbangnya sedang terlihat seperti apa. Angka dan hasil pembacaan ada di halaman Riwayat Pembacaan.</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Pilih gerbang lewat menu di atas tiap layar</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Kedua layar bisa diarahkan ke gerbang berbeda — misalnya gerbang masuk di kiri dan gerbang keluar di kanan, supaya bisa dipantau bersamaan.</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Gambarnya sengaja polos</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Tidak ada kotak deteksi maupun nomor lambung yang ditempel di gambar. Tayangan langsung dipakai untuk melihat keadaan lapangan, bukan untuk menilai hasil AI.</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Di bawah tiap layar: nama gerbang, status, dan tautan tayangan</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Klik 'Buka tayangan langsung' untuk melihat aliran video gerbang itu di halaman tersendiri.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a:spAutoFit/>
          </a:bodyPr>
          <a:lstStyle/>
          <a:p>
            <a:pPr algn="l">
              <a:defRPr sz="1200" b="1">
                <a:solidFill>
                  <a:srgbClr val="F59E0B"/>
                </a:solidFill>
                <a:latin typeface="Consolas"/>
              </a:defRPr>
            </a:pPr>
            <a:r>
              <a:t>PUSAT · HALAMAN 2</a:t>
            </a:r>
          </a:p>
        </p:txBody>
      </p:sp>
      <p:sp>
        <p:nvSpPr>
          <p:cNvPr id="3" name="TextBox 2"/>
          <p:cNvSpPr txBox="1"/>
          <p:nvPr/>
        </p:nvSpPr>
        <p:spPr>
          <a:xfrm>
            <a:off x="548640" y="685800"/>
            <a:ext cx="11064240" cy="548640"/>
          </a:xfrm>
          <a:prstGeom prst="rect">
            <a:avLst/>
          </a:prstGeom>
          <a:noFill/>
        </p:spPr>
        <p:txBody>
          <a:bodyPr wrap="square">
            <a:spAutoFit/>
          </a:bodyPr>
          <a:lstStyle/>
          <a:p>
            <a:pPr algn="l">
              <a:defRPr sz="2400" b="1">
                <a:solidFill>
                  <a:srgbClr val="F8FAFC"/>
                </a:solidFill>
                <a:latin typeface="Calibri"/>
              </a:defRPr>
            </a:pPr>
            <a:r>
              <a:t>Riwayat Pembacaan</a:t>
            </a:r>
          </a:p>
        </p:txBody>
      </p:sp>
      <p:pic>
        <p:nvPicPr>
          <p:cNvPr id="4" name="Picture 3" descr="core-02-riwayat-pembacaan.jpg"/>
          <p:cNvPicPr>
            <a:picLocks noChangeAspect="1"/>
          </p:cNvPicPr>
          <p:nvPr/>
        </p:nvPicPr>
        <p:blipFill>
          <a:blip r:embed="rId2"/>
          <a:stretch>
            <a:fillRect/>
          </a:stretch>
        </p:blipFill>
        <p:spPr>
          <a:xfrm>
            <a:off x="548640" y="1371600"/>
            <a:ext cx="11064240" cy="5151081"/>
          </a:xfrm>
          <a:prstGeom prst="rect">
            <a:avLst/>
          </a:prstGeom>
        </p:spPr>
      </p:pic>
      <p:sp>
        <p:nvSpPr>
          <p:cNvPr id="5" name="TextBox 4"/>
          <p:cNvSpPr txBox="1"/>
          <p:nvPr/>
        </p:nvSpPr>
        <p:spPr>
          <a:xfrm>
            <a:off x="548640" y="5989320"/>
            <a:ext cx="11064240" cy="731520"/>
          </a:xfrm>
          <a:prstGeom prst="rect">
            <a:avLst/>
          </a:prstGeom>
          <a:noFill/>
        </p:spPr>
        <p:txBody>
          <a:bodyPr wrap="square">
            <a:spAutoFit/>
          </a:bodyPr>
          <a:lstStyle/>
          <a:p>
            <a:pPr algn="l">
              <a:defRPr sz="1400" b="0">
                <a:solidFill>
                  <a:srgbClr val="A3AEC2"/>
                </a:solidFill>
                <a:latin typeface="Calibri"/>
              </a:defRPr>
            </a:pPr>
            <a:r>
              <a:t>Halaman paling sering dipakai. Tiga kartu: posisi armada &amp; ritase, daftar pembacaan, dan rinciannya.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PUSAT · HALAMAN 2</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Riwayat Pembacaan — tiga kartunya</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Kartu 1 · Posisi Armada &amp; Ritase — ringkasan seluruh lokasi</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'Di dalam pit' = truk yang lintasan TERAKHIRNYA tercatat masuk, di gerbang mana pun. Satu truk dihitung sekali. Tabel di bawahnya memasangkan tiap masuk dengan keluarnya, lengkap dengan lama siklusnya. Kartu ini sengaja TIDAK ikut filter gerbang — kalau ikut, angkanya terlihat wajar tapi salah.</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Kartu 2 · Daftar Pembacaan OCR — semua lintasan yang masuk</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Tiap baris satu truk melintas: nomor lambungnya, gerbangnya, dan tingkat keyakinannya. Menu di kanan atas mempersempit ke satu gerbang. Klik satu baris untuk membuka rinciannya.</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Kartu 3 · Rincian Pembacaan — bukti di balik satu angka</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Nomor lambung pemenang voting, keyakinannya, jumlah gambar yang diperiksa, lalu dua foto: potongan plat yang dipakai memutuskan, dan gambar penuh asalnya.</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Kalau fotonya kosong, artinya memang tidak tersimpan</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Bukan berarti kamera tidak melihat apa-apa. Lintasan tanpa pembacaan tidak punya potongan gambar, dan yang lama dipangkas otomatis.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a:spAutoFit/>
          </a:bodyPr>
          <a:lstStyle/>
          <a:p>
            <a:pPr algn="l">
              <a:defRPr sz="1200" b="1">
                <a:solidFill>
                  <a:srgbClr val="F59E0B"/>
                </a:solidFill>
                <a:latin typeface="Consolas"/>
              </a:defRPr>
            </a:pPr>
            <a:r>
              <a:t>PUSAT · HALAMAN 3</a:t>
            </a:r>
          </a:p>
        </p:txBody>
      </p:sp>
      <p:sp>
        <p:nvSpPr>
          <p:cNvPr id="3" name="TextBox 2"/>
          <p:cNvSpPr txBox="1"/>
          <p:nvPr/>
        </p:nvSpPr>
        <p:spPr>
          <a:xfrm>
            <a:off x="548640" y="685800"/>
            <a:ext cx="11064240" cy="548640"/>
          </a:xfrm>
          <a:prstGeom prst="rect">
            <a:avLst/>
          </a:prstGeom>
          <a:noFill/>
        </p:spPr>
        <p:txBody>
          <a:bodyPr wrap="square">
            <a:spAutoFit/>
          </a:bodyPr>
          <a:lstStyle/>
          <a:p>
            <a:pPr algn="l">
              <a:defRPr sz="2400" b="1">
                <a:solidFill>
                  <a:srgbClr val="F8FAFC"/>
                </a:solidFill>
                <a:latin typeface="Calibri"/>
              </a:defRPr>
            </a:pPr>
            <a:r>
              <a:t>Laporan Harian &amp; Shift</a:t>
            </a:r>
          </a:p>
        </p:txBody>
      </p:sp>
      <p:pic>
        <p:nvPicPr>
          <p:cNvPr id="4" name="Picture 3" descr="core-03-laporan-harian-shift.jpg"/>
          <p:cNvPicPr>
            <a:picLocks noChangeAspect="1"/>
          </p:cNvPicPr>
          <p:nvPr/>
        </p:nvPicPr>
        <p:blipFill>
          <a:blip r:embed="rId2"/>
          <a:stretch>
            <a:fillRect/>
          </a:stretch>
        </p:blipFill>
        <p:spPr>
          <a:xfrm>
            <a:off x="548640" y="1371600"/>
            <a:ext cx="11064240" cy="5151081"/>
          </a:xfrm>
          <a:prstGeom prst="rect">
            <a:avLst/>
          </a:prstGeom>
        </p:spPr>
      </p:pic>
      <p:sp>
        <p:nvSpPr>
          <p:cNvPr id="5" name="TextBox 4"/>
          <p:cNvSpPr txBox="1"/>
          <p:nvPr/>
        </p:nvSpPr>
        <p:spPr>
          <a:xfrm>
            <a:off x="548640" y="5989320"/>
            <a:ext cx="11064240" cy="731520"/>
          </a:xfrm>
          <a:prstGeom prst="rect">
            <a:avLst/>
          </a:prstGeom>
          <a:noFill/>
        </p:spPr>
        <p:txBody>
          <a:bodyPr wrap="square">
            <a:spAutoFit/>
          </a:bodyPr>
          <a:lstStyle/>
          <a:p>
            <a:pPr algn="l">
              <a:defRPr sz="1400" b="0">
                <a:solidFill>
                  <a:srgbClr val="A3AEC2"/>
                </a:solidFill>
                <a:latin typeface="Calibri"/>
              </a:defRPr>
            </a:pPr>
            <a:r>
              <a:t>Tempat menyusun laporan akhir shift dan mengekspornya.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PUSAT · HALAMAN 3</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Laporan Harian &amp; Shift — cara menyusunnya</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Langkah 1 — pilih jendela waktunya</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Tombol Shift Siang / Shift Malam / Kustom mengisi tanggal dan jam otomatis. Semua angka di bawahnya mengikuti pilihan ini.</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Langkah 2 — baca empat angka utama</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Ritase (jumlah siklus lengkap), Lintasan Gate (total truk melintas), Belum Berpasangan (masuk tanpa keluar atau sebaliknya), dan Presisi OCR.</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Langkah 3 — periksa sebaran per gerbang</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Gerbang masuk dan keluar yang jumlahnya timpang jauh biasanya menandakan ada lintasan yang tidak terdeteksi, bukan truk yang hilang.</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Langkah 4 — ekspor</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Excel untuk diolah lagi, PDF untuk lampiran resmi. Isinya mengikuti jendela waktu yang dipilih di langkah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a:spAutoFit/>
          </a:bodyPr>
          <a:lstStyle/>
          <a:p>
            <a:pPr algn="l">
              <a:defRPr sz="1200" b="1">
                <a:solidFill>
                  <a:srgbClr val="F59E0B"/>
                </a:solidFill>
                <a:latin typeface="Consolas"/>
              </a:defRPr>
            </a:pPr>
            <a:r>
              <a:t>PUSAT · HALAMAN 4</a:t>
            </a:r>
          </a:p>
        </p:txBody>
      </p:sp>
      <p:sp>
        <p:nvSpPr>
          <p:cNvPr id="3" name="TextBox 2"/>
          <p:cNvSpPr txBox="1"/>
          <p:nvPr/>
        </p:nvSpPr>
        <p:spPr>
          <a:xfrm>
            <a:off x="548640" y="685800"/>
            <a:ext cx="11064240" cy="548640"/>
          </a:xfrm>
          <a:prstGeom prst="rect">
            <a:avLst/>
          </a:prstGeom>
          <a:noFill/>
        </p:spPr>
        <p:txBody>
          <a:bodyPr wrap="square">
            <a:spAutoFit/>
          </a:bodyPr>
          <a:lstStyle/>
          <a:p>
            <a:pPr algn="l">
              <a:defRPr sz="2400" b="1">
                <a:solidFill>
                  <a:srgbClr val="F8FAFC"/>
                </a:solidFill>
                <a:latin typeface="Calibri"/>
              </a:defRPr>
            </a:pPr>
            <a:r>
              <a:t>Konfigurasi Sistem</a:t>
            </a:r>
          </a:p>
        </p:txBody>
      </p:sp>
      <p:pic>
        <p:nvPicPr>
          <p:cNvPr id="4" name="Picture 3" descr="core-04-konfigurasi-sistem.jpg"/>
          <p:cNvPicPr>
            <a:picLocks noChangeAspect="1"/>
          </p:cNvPicPr>
          <p:nvPr/>
        </p:nvPicPr>
        <p:blipFill>
          <a:blip r:embed="rId2"/>
          <a:stretch>
            <a:fillRect/>
          </a:stretch>
        </p:blipFill>
        <p:spPr>
          <a:xfrm>
            <a:off x="548640" y="1371600"/>
            <a:ext cx="11064240" cy="5151081"/>
          </a:xfrm>
          <a:prstGeom prst="rect">
            <a:avLst/>
          </a:prstGeom>
        </p:spPr>
      </p:pic>
      <p:sp>
        <p:nvSpPr>
          <p:cNvPr id="5" name="TextBox 4"/>
          <p:cNvSpPr txBox="1"/>
          <p:nvPr/>
        </p:nvSpPr>
        <p:spPr>
          <a:xfrm>
            <a:off x="548640" y="5989320"/>
            <a:ext cx="11064240" cy="731520"/>
          </a:xfrm>
          <a:prstGeom prst="rect">
            <a:avLst/>
          </a:prstGeom>
          <a:noFill/>
        </p:spPr>
        <p:txBody>
          <a:bodyPr wrap="square">
            <a:spAutoFit/>
          </a:bodyPr>
          <a:lstStyle/>
          <a:p>
            <a:pPr algn="l">
              <a:defRPr sz="1400" b="0">
                <a:solidFill>
                  <a:srgbClr val="A3AEC2"/>
                </a:solidFill>
                <a:latin typeface="Calibri"/>
              </a:defRPr>
            </a:pPr>
            <a:r>
              <a:t>Pendaftaran kamera gerbang dan informasi model yang dipakai.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PUSAT · HALAMAN 4</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Konfigurasi Sistem — yang paling menentukan</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Camera Registry — daftar kamera tiap gerbang</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Dua isian paling menentukan: Kode Kamera harus sama persis dengan yang dipakai perangkat di lokasi, dan ARAH (masuk/keluar) yang menentukan lintasan dihitung sebagai truk masuk atau keluar. Salah mengisi arah membuat perhitungan ritase ikut salah.</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Status kamera — dipakai atau tidak</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Kamera yang tidak aktif tetap terdaftar tapi tidak diharapkan mengirim lintasan.</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Mesin Inferensi — model dan pemrosesan terakhir</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Menampilkan berkas model yang benar-benar dipakai, jumlah lintasan, dan ritase. Berguna untuk memastikan angka di halaman lain berasal dari pemrosesan yang mana.</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Reset Preferensi Lokal — aman</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Hanya menghapus pengaturan tampilan di browser ini: tema, sidebar, mode panduan. Data lintasan dan laporan tersimpan di server dan tidak tersentuh.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a:spAutoFit/>
          </a:bodyPr>
          <a:lstStyle/>
          <a:p>
            <a:pPr algn="l">
              <a:defRPr sz="1200" b="1">
                <a:solidFill>
                  <a:srgbClr val="F59E0B"/>
                </a:solidFill>
                <a:latin typeface="Consolas"/>
              </a:defRPr>
            </a:pPr>
            <a:r>
              <a:t>PUSAT · HALAMAN 5</a:t>
            </a:r>
          </a:p>
        </p:txBody>
      </p:sp>
      <p:sp>
        <p:nvSpPr>
          <p:cNvPr id="3" name="TextBox 2"/>
          <p:cNvSpPr txBox="1"/>
          <p:nvPr/>
        </p:nvSpPr>
        <p:spPr>
          <a:xfrm>
            <a:off x="548640" y="685800"/>
            <a:ext cx="11064240" cy="548640"/>
          </a:xfrm>
          <a:prstGeom prst="rect">
            <a:avLst/>
          </a:prstGeom>
          <a:noFill/>
        </p:spPr>
        <p:txBody>
          <a:bodyPr wrap="square">
            <a:spAutoFit/>
          </a:bodyPr>
          <a:lstStyle/>
          <a:p>
            <a:pPr algn="l">
              <a:defRPr sz="2400" b="1">
                <a:solidFill>
                  <a:srgbClr val="F8FAFC"/>
                </a:solidFill>
                <a:latin typeface="Calibri"/>
              </a:defRPr>
            </a:pPr>
            <a:r>
              <a:t>Perangkat Edge</a:t>
            </a:r>
          </a:p>
        </p:txBody>
      </p:sp>
      <p:pic>
        <p:nvPicPr>
          <p:cNvPr id="4" name="Picture 3" descr="core-05-perangkat-edge.jpg"/>
          <p:cNvPicPr>
            <a:picLocks noChangeAspect="1"/>
          </p:cNvPicPr>
          <p:nvPr/>
        </p:nvPicPr>
        <p:blipFill>
          <a:blip r:embed="rId2"/>
          <a:stretch>
            <a:fillRect/>
          </a:stretch>
        </p:blipFill>
        <p:spPr>
          <a:xfrm>
            <a:off x="548640" y="1371600"/>
            <a:ext cx="11064240" cy="5151081"/>
          </a:xfrm>
          <a:prstGeom prst="rect">
            <a:avLst/>
          </a:prstGeom>
        </p:spPr>
      </p:pic>
      <p:sp>
        <p:nvSpPr>
          <p:cNvPr id="5" name="TextBox 4"/>
          <p:cNvSpPr txBox="1"/>
          <p:nvPr/>
        </p:nvSpPr>
        <p:spPr>
          <a:xfrm>
            <a:off x="548640" y="5989320"/>
            <a:ext cx="11064240" cy="731520"/>
          </a:xfrm>
          <a:prstGeom prst="rect">
            <a:avLst/>
          </a:prstGeom>
          <a:noFill/>
        </p:spPr>
        <p:txBody>
          <a:bodyPr wrap="square">
            <a:spAutoFit/>
          </a:bodyPr>
          <a:lstStyle/>
          <a:p>
            <a:pPr algn="l">
              <a:defRPr sz="1400" b="0">
                <a:solidFill>
                  <a:srgbClr val="A3AEC2"/>
                </a:solidFill>
                <a:latin typeface="Calibri"/>
              </a:defRPr>
            </a:pPr>
            <a:r>
              <a:t>Mengatur perangkat tiap gerbang dari jauh, satu kartu per gerbang.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PUSAT · HALAMAN 5</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Perangkat Edge — mengatur dari jauh</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Satu kartu = satu gerbang = satu perangkat</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Di atas tiap kartu: status terhubung, kapan terakhir mengirim kabar, dan berapa hasil yang masih mengantre untuk dikirim.</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Lima setelan pembacaan, semuanya berbatas</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Laju deteksi, laju pembacaan, panjang jendela pengamatan satu truk, ambang keyakinan, dan ambang tumpang tindih. Tiap isian menyebut rentang wajar dan batas sahnya.</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Perubahan tidak langsung berlaku — dan itu normal</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Setelan disimpan di server seketika, lalu diterapkan perangkat pada detik berikutnya. Sampai perangkat mengonfirmasi, kartunya bertanda 'menunggu perangkat'.</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Perangkat yang diam 90 detik ditandai offline otomatis</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Perangkat tidak pernah melaporkan dirinya mati; pusat yang menyimpulkannya dari kesunyian.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a:spAutoFit/>
          </a:bodyPr>
          <a:lstStyle/>
          <a:p>
            <a:pPr algn="l">
              <a:defRPr sz="1200" b="1">
                <a:solidFill>
                  <a:srgbClr val="F59E0B"/>
                </a:solidFill>
                <a:latin typeface="Consolas"/>
              </a:defRPr>
            </a:pPr>
            <a:r>
              <a:t>PUSAT · HALAMAN 6</a:t>
            </a:r>
          </a:p>
        </p:txBody>
      </p:sp>
      <p:sp>
        <p:nvSpPr>
          <p:cNvPr id="3" name="TextBox 2"/>
          <p:cNvSpPr txBox="1"/>
          <p:nvPr/>
        </p:nvSpPr>
        <p:spPr>
          <a:xfrm>
            <a:off x="548640" y="685800"/>
            <a:ext cx="11064240" cy="548640"/>
          </a:xfrm>
          <a:prstGeom prst="rect">
            <a:avLst/>
          </a:prstGeom>
          <a:noFill/>
        </p:spPr>
        <p:txBody>
          <a:bodyPr wrap="square">
            <a:spAutoFit/>
          </a:bodyPr>
          <a:lstStyle/>
          <a:p>
            <a:pPr algn="l">
              <a:defRPr sz="2400" b="1">
                <a:solidFill>
                  <a:srgbClr val="F8FAFC"/>
                </a:solidFill>
                <a:latin typeface="Calibri"/>
              </a:defRPr>
            </a:pPr>
            <a:r>
              <a:t>Tayangan Langsung Gate</a:t>
            </a:r>
          </a:p>
        </p:txBody>
      </p:sp>
      <p:pic>
        <p:nvPicPr>
          <p:cNvPr id="4" name="Picture 3" descr="core-06-tayangan-langsung.jpg"/>
          <p:cNvPicPr>
            <a:picLocks noChangeAspect="1"/>
          </p:cNvPicPr>
          <p:nvPr/>
        </p:nvPicPr>
        <p:blipFill>
          <a:blip r:embed="rId2"/>
          <a:stretch>
            <a:fillRect/>
          </a:stretch>
        </p:blipFill>
        <p:spPr>
          <a:xfrm>
            <a:off x="548640" y="1371600"/>
            <a:ext cx="11064240" cy="5151081"/>
          </a:xfrm>
          <a:prstGeom prst="rect">
            <a:avLst/>
          </a:prstGeom>
        </p:spPr>
      </p:pic>
      <p:sp>
        <p:nvSpPr>
          <p:cNvPr id="5" name="TextBox 4"/>
          <p:cNvSpPr txBox="1"/>
          <p:nvPr/>
        </p:nvSpPr>
        <p:spPr>
          <a:xfrm>
            <a:off x="548640" y="5989320"/>
            <a:ext cx="11064240" cy="731520"/>
          </a:xfrm>
          <a:prstGeom prst="rect">
            <a:avLst/>
          </a:prstGeom>
          <a:noFill/>
        </p:spPr>
        <p:txBody>
          <a:bodyPr wrap="square">
            <a:spAutoFit/>
          </a:bodyPr>
          <a:lstStyle/>
          <a:p>
            <a:pPr algn="l">
              <a:defRPr sz="1400" b="0">
                <a:solidFill>
                  <a:srgbClr val="A3AEC2"/>
                </a:solidFill>
                <a:latin typeface="Calibri"/>
              </a:defRPr>
            </a:pPr>
            <a:r>
              <a:t>Dibuka dari tautan di halaman Monitoring CCTV atau dari kartu Perangkat Edge.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PUSAT · HALAMAN 6</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Tayangan Langsung — dan batasnya saat ini</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Menampilkan gambar mentah satu gerbang</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Langsung dari perangkat di lokasi, tanpa kotak deteksi maupun tulisan nomor lambung — sama seperti di halaman Monitoring.</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BELUM TERSAMBUNG</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Saat ini halaman berhenti di 'Gagal menayangkan'. Perantara media (WebRTC relay) yang dibutuhkan belum dipasang, jadi belum ada aliran video yang masuk.</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Pesannya sengaja jelas, bukan memutar terus</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Halaman berhenti di keadaan yang bisa dibaca dengan tombol Coba Lagi, bukan berputar tanpa ujung, supaya tidak terlihat seperti sedang memuat padahal tidak.</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Yang tetap bisa dipakai sekarang</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Alamat kamera dan status perangkat tetap tampil, jadi halaman ini masih berguna untuk memastikan gerbang mana yang sedang terhubung.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BAGIAN 2</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Konsol Gerbang</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Satu halaman, dibuka di lokasi pada tiap gerbang. Alamatnya berbeda per perangkat, karena tiap gerbang melayani konsolnya sendiri.</a:t>
            </a:r>
          </a:p>
          <a:p>
            <a:pPr algn="l">
              <a:defRPr sz="1700" b="0">
                <a:solidFill>
                  <a:srgbClr val="A3AEC2"/>
                </a:solidFill>
                <a:latin typeface="Calibri"/>
              </a:defRPr>
            </a:pPr>
          </a:p>
          <a:p>
            <a:pPr algn="l">
              <a:defRPr sz="1700" b="0">
                <a:solidFill>
                  <a:srgbClr val="A3AEC2"/>
                </a:solidFill>
                <a:latin typeface="Calibri"/>
              </a:defRPr>
            </a:pPr>
            <a:r>
              <a:t>Semua yang tampil di sini berasal dari perangkat itu sendiri — jadi tetap terbaca saat jaringan ke pusat terputus.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a:spAutoFit/>
          </a:bodyPr>
          <a:lstStyle/>
          <a:p>
            <a:pPr algn="l">
              <a:defRPr sz="1200" b="1">
                <a:solidFill>
                  <a:srgbClr val="F59E0B"/>
                </a:solidFill>
                <a:latin typeface="Consolas"/>
              </a:defRPr>
            </a:pPr>
            <a:r>
              <a:t>GERBANG · BAGIAN ATAS</a:t>
            </a:r>
          </a:p>
        </p:txBody>
      </p:sp>
      <p:sp>
        <p:nvSpPr>
          <p:cNvPr id="3" name="TextBox 2"/>
          <p:cNvSpPr txBox="1"/>
          <p:nvPr/>
        </p:nvSpPr>
        <p:spPr>
          <a:xfrm>
            <a:off x="548640" y="685800"/>
            <a:ext cx="11064240" cy="548640"/>
          </a:xfrm>
          <a:prstGeom prst="rect">
            <a:avLst/>
          </a:prstGeom>
          <a:noFill/>
        </p:spPr>
        <p:txBody>
          <a:bodyPr wrap="square">
            <a:spAutoFit/>
          </a:bodyPr>
          <a:lstStyle/>
          <a:p>
            <a:pPr algn="l">
              <a:defRPr sz="2400" b="1">
                <a:solidFill>
                  <a:srgbClr val="F8FAFC"/>
                </a:solidFill>
                <a:latin typeface="Calibri"/>
              </a:defRPr>
            </a:pPr>
            <a:r>
              <a:t>Status dan Proses Deteksi</a:t>
            </a:r>
          </a:p>
        </p:txBody>
      </p:sp>
      <p:pic>
        <p:nvPicPr>
          <p:cNvPr id="4" name="Picture 3" descr="edge-01-konsol-gerbang.jpg"/>
          <p:cNvPicPr>
            <a:picLocks noChangeAspect="1"/>
          </p:cNvPicPr>
          <p:nvPr/>
        </p:nvPicPr>
        <p:blipFill>
          <a:blip r:embed="rId2"/>
          <a:stretch>
            <a:fillRect/>
          </a:stretch>
        </p:blipFill>
        <p:spPr>
          <a:xfrm>
            <a:off x="548640" y="1371600"/>
            <a:ext cx="11064240" cy="5151081"/>
          </a:xfrm>
          <a:prstGeom prst="rect">
            <a:avLst/>
          </a:prstGeom>
        </p:spPr>
      </p:pic>
      <p:sp>
        <p:nvSpPr>
          <p:cNvPr id="5" name="TextBox 4"/>
          <p:cNvSpPr txBox="1"/>
          <p:nvPr/>
        </p:nvSpPr>
        <p:spPr>
          <a:xfrm>
            <a:off x="548640" y="5989320"/>
            <a:ext cx="11064240" cy="731520"/>
          </a:xfrm>
          <a:prstGeom prst="rect">
            <a:avLst/>
          </a:prstGeom>
          <a:noFill/>
        </p:spPr>
        <p:txBody>
          <a:bodyPr wrap="square">
            <a:spAutoFit/>
          </a:bodyPr>
          <a:lstStyle/>
          <a:p>
            <a:pPr algn="l">
              <a:defRPr sz="1400" b="0">
                <a:solidFill>
                  <a:srgbClr val="A3AEC2"/>
                </a:solidFill>
                <a:latin typeface="Calibri"/>
              </a:defRPr>
            </a:pPr>
            <a:r>
              <a:t>Empat penanda status, lalu panel Proses Deteksi.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GERBANG · BAGIAN ATAS</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Membaca status dan menjalankan uji</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Empat penanda status di baris atas</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KAMERA (ada gambar masuk atau tidak), DETEKSI (perangkat sedang membaca atau berhenti), KIRIMAN KE PUSAT (jaringan tersambung atau tidak), dan MENUNGGU DIKIRIM (berapa hasil yang masih mengantre).</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Pusat terputus BUKAN kerusakan</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Gerbang tetap mendeteksi dan menyimpan; hasilnya menyusul saat sambungan pulih. Itu memang rancangannya.</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Panel Proses Deteksi — menjalankan uji pembacaan</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Pilih rekaman dari menu, tekan Jalankan Uji. Rekaman diputar lewat proses yang sama persis dengan truk sungguhan, dan hasilnya tersimpan sebagai lintasan seperti biasa.</a:t>
            </a:r>
          </a:p>
        </p:txBody>
      </p:sp>
      <p:sp>
        <p:nvSpPr>
          <p:cNvPr id="10" name="TextBox 9"/>
          <p:cNvSpPr txBox="1"/>
          <p:nvPr/>
        </p:nvSpPr>
        <p:spPr>
          <a:xfrm>
            <a:off x="822960" y="4617720"/>
            <a:ext cx="10607040" cy="320040"/>
          </a:xfrm>
          <a:prstGeom prst="rect">
            <a:avLst/>
          </a:prstGeom>
          <a:noFill/>
        </p:spPr>
        <p:txBody>
          <a:bodyPr wrap="square">
            <a:spAutoFit/>
          </a:bodyPr>
          <a:lstStyle/>
          <a:p>
            <a:pPr algn="l">
              <a:defRPr sz="1800" b="1">
                <a:solidFill>
                  <a:srgbClr val="F8FAFC"/>
                </a:solidFill>
                <a:latin typeface="Calibri"/>
              </a:defRPr>
            </a:pPr>
            <a:r>
              <a:t>Saat berjalan: nomor sementara, kandidat voting, kemajuan</a:t>
            </a:r>
          </a:p>
        </p:txBody>
      </p:sp>
      <p:sp>
        <p:nvSpPr>
          <p:cNvPr id="11" name="TextBox 10"/>
          <p:cNvSpPr txBox="1"/>
          <p:nvPr/>
        </p:nvSpPr>
        <p:spPr>
          <a:xfrm>
            <a:off x="822960" y="4928616"/>
            <a:ext cx="10607040" cy="548640"/>
          </a:xfrm>
          <a:prstGeom prst="rect">
            <a:avLst/>
          </a:prstGeom>
          <a:noFill/>
        </p:spPr>
        <p:txBody>
          <a:bodyPr wrap="square">
            <a:spAutoFit/>
          </a:bodyPr>
          <a:lstStyle/>
          <a:p>
            <a:pPr algn="l">
              <a:defRPr sz="1400" b="0">
                <a:solidFill>
                  <a:srgbClr val="A3AEC2"/>
                </a:solidFill>
                <a:latin typeface="Calibri"/>
              </a:defRPr>
            </a:pPr>
            <a:r>
              <a:t>Panel memperlihatkan nomor yang sedang unggul, pesaingnya, berapa gambar yang sudah diperiksa, dan berapa kali pembacaan berhasil.</a:t>
            </a:r>
          </a:p>
        </p:txBody>
      </p:sp>
      <p:sp>
        <p:nvSpPr>
          <p:cNvPr id="12" name="TextBox 11"/>
          <p:cNvSpPr txBox="1"/>
          <p:nvPr/>
        </p:nvSpPr>
        <p:spPr>
          <a:xfrm>
            <a:off x="822960" y="5486400"/>
            <a:ext cx="10607040" cy="320040"/>
          </a:xfrm>
          <a:prstGeom prst="rect">
            <a:avLst/>
          </a:prstGeom>
          <a:noFill/>
        </p:spPr>
        <p:txBody>
          <a:bodyPr wrap="square">
            <a:spAutoFit/>
          </a:bodyPr>
          <a:lstStyle/>
          <a:p>
            <a:pPr algn="l">
              <a:defRPr sz="1800" b="1">
                <a:solidFill>
                  <a:srgbClr val="F8FAFC"/>
                </a:solidFill>
                <a:latin typeface="Calibri"/>
              </a:defRPr>
            </a:pPr>
            <a:r>
              <a:t>Saat siaga: gambar gerbang tanpa truk</a:t>
            </a:r>
          </a:p>
        </p:txBody>
      </p:sp>
      <p:sp>
        <p:nvSpPr>
          <p:cNvPr id="13" name="TextBox 12"/>
          <p:cNvSpPr txBox="1"/>
          <p:nvPr/>
        </p:nvSpPr>
        <p:spPr>
          <a:xfrm>
            <a:off x="822960" y="5797296"/>
            <a:ext cx="10607040" cy="548640"/>
          </a:xfrm>
          <a:prstGeom prst="rect">
            <a:avLst/>
          </a:prstGeom>
          <a:noFill/>
        </p:spPr>
        <p:txBody>
          <a:bodyPr wrap="square">
            <a:spAutoFit/>
          </a:bodyPr>
          <a:lstStyle/>
          <a:p>
            <a:pPr algn="l">
              <a:defRPr sz="1400" b="0">
                <a:solidFill>
                  <a:srgbClr val="A3AEC2"/>
                </a:solidFill>
                <a:latin typeface="Calibri"/>
              </a:defRPr>
            </a:pPr>
            <a:r>
              <a:t>Layar tidak dikosongkan, melainkan menampilkan jalur gerbang dalam keadaan lengang, beserta hasil pembacaan terakhir.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a:spAutoFit/>
          </a:bodyPr>
          <a:lstStyle/>
          <a:p>
            <a:pPr algn="l">
              <a:defRPr sz="1200" b="1">
                <a:solidFill>
                  <a:srgbClr val="F59E0B"/>
                </a:solidFill>
                <a:latin typeface="Consolas"/>
              </a:defRPr>
            </a:pPr>
            <a:r>
              <a:t>GERBANG · BAGIAN BAWAH</a:t>
            </a:r>
          </a:p>
        </p:txBody>
      </p:sp>
      <p:sp>
        <p:nvSpPr>
          <p:cNvPr id="3" name="TextBox 2"/>
          <p:cNvSpPr txBox="1"/>
          <p:nvPr/>
        </p:nvSpPr>
        <p:spPr>
          <a:xfrm>
            <a:off x="548640" y="685800"/>
            <a:ext cx="11064240" cy="548640"/>
          </a:xfrm>
          <a:prstGeom prst="rect">
            <a:avLst/>
          </a:prstGeom>
          <a:noFill/>
        </p:spPr>
        <p:txBody>
          <a:bodyPr wrap="square">
            <a:spAutoFit/>
          </a:bodyPr>
          <a:lstStyle/>
          <a:p>
            <a:pPr algn="l">
              <a:defRPr sz="2400" b="1">
                <a:solidFill>
                  <a:srgbClr val="F8FAFC"/>
                </a:solidFill>
                <a:latin typeface="Calibri"/>
              </a:defRPr>
            </a:pPr>
            <a:r>
              <a:t>Lintasan Terbaru</a:t>
            </a:r>
          </a:p>
        </p:txBody>
      </p:sp>
      <p:pic>
        <p:nvPicPr>
          <p:cNvPr id="4" name="Picture 3" descr="edge-02-lintasan-terbaru.jpg"/>
          <p:cNvPicPr>
            <a:picLocks noChangeAspect="1"/>
          </p:cNvPicPr>
          <p:nvPr/>
        </p:nvPicPr>
        <p:blipFill>
          <a:blip r:embed="rId2"/>
          <a:stretch>
            <a:fillRect/>
          </a:stretch>
        </p:blipFill>
        <p:spPr>
          <a:xfrm>
            <a:off x="548640" y="1371600"/>
            <a:ext cx="11064240" cy="5151081"/>
          </a:xfrm>
          <a:prstGeom prst="rect">
            <a:avLst/>
          </a:prstGeom>
        </p:spPr>
      </p:pic>
      <p:sp>
        <p:nvSpPr>
          <p:cNvPr id="5" name="TextBox 4"/>
          <p:cNvSpPr txBox="1"/>
          <p:nvPr/>
        </p:nvSpPr>
        <p:spPr>
          <a:xfrm>
            <a:off x="548640" y="5989320"/>
            <a:ext cx="11064240" cy="731520"/>
          </a:xfrm>
          <a:prstGeom prst="rect">
            <a:avLst/>
          </a:prstGeom>
          <a:noFill/>
        </p:spPr>
        <p:txBody>
          <a:bodyPr wrap="square">
            <a:spAutoFit/>
          </a:bodyPr>
          <a:lstStyle/>
          <a:p>
            <a:pPr algn="l">
              <a:defRPr sz="1400" b="0">
                <a:solidFill>
                  <a:srgbClr val="A3AEC2"/>
                </a:solidFill>
                <a:latin typeface="Calibri"/>
              </a:defRPr>
            </a:pPr>
            <a:r>
              <a:t>Riwayat milik gerbang itu sendiri, tersimpan di perangkat.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GERBANG · BAGIAN BAWAH</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Lintasan Terbaru — kolom dan artinya</a:t>
            </a:r>
          </a:p>
        </p:txBody>
      </p:sp>
      <p:sp>
        <p:nvSpPr>
          <p:cNvPr id="4" name="TextBox 3"/>
          <p:cNvSpPr txBox="1"/>
          <p:nvPr/>
        </p:nvSpPr>
        <p:spPr>
          <a:xfrm>
            <a:off x="822960" y="2011680"/>
            <a:ext cx="10607040" cy="320040"/>
          </a:xfrm>
          <a:prstGeom prst="rect">
            <a:avLst/>
          </a:prstGeom>
          <a:noFill/>
        </p:spPr>
        <p:txBody>
          <a:bodyPr wrap="square">
            <a:spAutoFit/>
          </a:bodyPr>
          <a:lstStyle/>
          <a:p>
            <a:pPr algn="l">
              <a:defRPr sz="1800" b="1">
                <a:solidFill>
                  <a:srgbClr val="F8FAFC"/>
                </a:solidFill>
                <a:latin typeface="Calibri"/>
              </a:defRPr>
            </a:pPr>
            <a:r>
              <a:t>Nomor Lambung, Hasil, Keyakinan, Waktu, Kirim</a:t>
            </a:r>
          </a:p>
        </p:txBody>
      </p:sp>
      <p:sp>
        <p:nvSpPr>
          <p:cNvPr id="5" name="TextBox 4"/>
          <p:cNvSpPr txBox="1"/>
          <p:nvPr/>
        </p:nvSpPr>
        <p:spPr>
          <a:xfrm>
            <a:off x="822960" y="2322576"/>
            <a:ext cx="10607040" cy="548640"/>
          </a:xfrm>
          <a:prstGeom prst="rect">
            <a:avLst/>
          </a:prstGeom>
          <a:noFill/>
        </p:spPr>
        <p:txBody>
          <a:bodyPr wrap="square">
            <a:spAutoFit/>
          </a:bodyPr>
          <a:lstStyle/>
          <a:p>
            <a:pPr algn="l">
              <a:defRPr sz="1400" b="0">
                <a:solidFill>
                  <a:srgbClr val="A3AEC2"/>
                </a:solidFill>
                <a:latin typeface="Calibri"/>
              </a:defRPr>
            </a:pPr>
            <a:r>
              <a:t>'Hasil' menyebut cara nomor itu ditetapkan: exact berarti cocok persis dengan daftar armada, fuzzy berarti dikoreksi satu digit.</a:t>
            </a:r>
          </a:p>
        </p:txBody>
      </p:sp>
      <p:sp>
        <p:nvSpPr>
          <p:cNvPr id="6" name="TextBox 5"/>
          <p:cNvSpPr txBox="1"/>
          <p:nvPr/>
        </p:nvSpPr>
        <p:spPr>
          <a:xfrm>
            <a:off x="822960" y="2880360"/>
            <a:ext cx="10607040" cy="320040"/>
          </a:xfrm>
          <a:prstGeom prst="rect">
            <a:avLst/>
          </a:prstGeom>
          <a:noFill/>
        </p:spPr>
        <p:txBody>
          <a:bodyPr wrap="square">
            <a:spAutoFit/>
          </a:bodyPr>
          <a:lstStyle/>
          <a:p>
            <a:pPr algn="l">
              <a:defRPr sz="1800" b="1">
                <a:solidFill>
                  <a:srgbClr val="F8FAFC"/>
                </a:solidFill>
                <a:latin typeface="Calibri"/>
              </a:defRPr>
            </a:pPr>
            <a:r>
              <a:t>Kolom Kirim adalah yang paling perlu diperhatikan</a:t>
            </a:r>
          </a:p>
        </p:txBody>
      </p:sp>
      <p:sp>
        <p:nvSpPr>
          <p:cNvPr id="7" name="TextBox 6"/>
          <p:cNvSpPr txBox="1"/>
          <p:nvPr/>
        </p:nvSpPr>
        <p:spPr>
          <a:xfrm>
            <a:off x="822960" y="3191256"/>
            <a:ext cx="10607040" cy="548640"/>
          </a:xfrm>
          <a:prstGeom prst="rect">
            <a:avLst/>
          </a:prstGeom>
          <a:noFill/>
        </p:spPr>
        <p:txBody>
          <a:bodyPr wrap="square">
            <a:spAutoFit/>
          </a:bodyPr>
          <a:lstStyle/>
          <a:p>
            <a:pPr algn="l">
              <a:defRPr sz="1400" b="0">
                <a:solidFill>
                  <a:srgbClr val="A3AEC2"/>
                </a:solidFill>
                <a:latin typeface="Calibri"/>
              </a:defRPr>
            </a:pPr>
            <a:r>
              <a:t>Tanda hijau berarti hasil sudah sampai di pusat. Tanda awan tercoret berarti masih mengantre — biasanya karena jaringan, dan akan terkirim sendiri.</a:t>
            </a:r>
          </a:p>
        </p:txBody>
      </p:sp>
      <p:sp>
        <p:nvSpPr>
          <p:cNvPr id="8" name="TextBox 7"/>
          <p:cNvSpPr txBox="1"/>
          <p:nvPr/>
        </p:nvSpPr>
        <p:spPr>
          <a:xfrm>
            <a:off x="822960" y="3749040"/>
            <a:ext cx="10607040" cy="320040"/>
          </a:xfrm>
          <a:prstGeom prst="rect">
            <a:avLst/>
          </a:prstGeom>
          <a:noFill/>
        </p:spPr>
        <p:txBody>
          <a:bodyPr wrap="square">
            <a:spAutoFit/>
          </a:bodyPr>
          <a:lstStyle/>
          <a:p>
            <a:pPr algn="l">
              <a:defRPr sz="1800" b="1">
                <a:solidFill>
                  <a:srgbClr val="F8FAFC"/>
                </a:solidFill>
                <a:latin typeface="Calibri"/>
              </a:defRPr>
            </a:pPr>
            <a:r>
              <a:t>Klik satu baris untuk melihat buktinya</a:t>
            </a:r>
          </a:p>
        </p:txBody>
      </p:sp>
      <p:sp>
        <p:nvSpPr>
          <p:cNvPr id="9" name="TextBox 8"/>
          <p:cNvSpPr txBox="1"/>
          <p:nvPr/>
        </p:nvSpPr>
        <p:spPr>
          <a:xfrm>
            <a:off x="822960" y="4059936"/>
            <a:ext cx="10607040" cy="548640"/>
          </a:xfrm>
          <a:prstGeom prst="rect">
            <a:avLst/>
          </a:prstGeom>
          <a:noFill/>
        </p:spPr>
        <p:txBody>
          <a:bodyPr wrap="square">
            <a:spAutoFit/>
          </a:bodyPr>
          <a:lstStyle/>
          <a:p>
            <a:pPr algn="l">
              <a:defRPr sz="1400" b="0">
                <a:solidFill>
                  <a:srgbClr val="A3AEC2"/>
                </a:solidFill>
                <a:latin typeface="Calibri"/>
              </a:defRPr>
            </a:pPr>
            <a:r>
              <a:t>Terbuka kandidat voting beserta porsinya, nomor yang dibaca OCR, jumlah pembacaan, panjang jendela pengamatan, dan potongan gambar plat yang dipakai.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a:spAutoFit/>
          </a:bodyPr>
          <a:lstStyle/>
          <a:p>
            <a:pPr algn="l">
              <a:defRPr sz="1200" b="1">
                <a:solidFill>
                  <a:srgbClr val="F59E0B"/>
                </a:solidFill>
                <a:latin typeface="Consolas"/>
              </a:defRPr>
            </a:pPr>
            <a:r>
              <a:t>GERBANG · BUKTI</a:t>
            </a:r>
          </a:p>
        </p:txBody>
      </p:sp>
      <p:sp>
        <p:nvSpPr>
          <p:cNvPr id="3" name="TextBox 2"/>
          <p:cNvSpPr txBox="1"/>
          <p:nvPr/>
        </p:nvSpPr>
        <p:spPr>
          <a:xfrm>
            <a:off x="548640" y="685800"/>
            <a:ext cx="11064240" cy="548640"/>
          </a:xfrm>
          <a:prstGeom prst="rect">
            <a:avLst/>
          </a:prstGeom>
          <a:noFill/>
        </p:spPr>
        <p:txBody>
          <a:bodyPr wrap="square">
            <a:spAutoFit/>
          </a:bodyPr>
          <a:lstStyle/>
          <a:p>
            <a:pPr algn="l">
              <a:defRPr sz="2400" b="1">
                <a:solidFill>
                  <a:srgbClr val="F8FAFC"/>
                </a:solidFill>
                <a:latin typeface="Calibri"/>
              </a:defRPr>
            </a:pPr>
            <a:r>
              <a:t>Kandidat voting dan potongan plat</a:t>
            </a:r>
          </a:p>
        </p:txBody>
      </p:sp>
      <p:pic>
        <p:nvPicPr>
          <p:cNvPr id="4" name="Picture 3" descr="edge-03-voting-dan-crop-plat.jpg"/>
          <p:cNvPicPr>
            <a:picLocks noChangeAspect="1"/>
          </p:cNvPicPr>
          <p:nvPr/>
        </p:nvPicPr>
        <p:blipFill>
          <a:blip r:embed="rId2"/>
          <a:stretch>
            <a:fillRect/>
          </a:stretch>
        </p:blipFill>
        <p:spPr>
          <a:xfrm>
            <a:off x="548640" y="1371600"/>
            <a:ext cx="11064240" cy="5151081"/>
          </a:xfrm>
          <a:prstGeom prst="rect">
            <a:avLst/>
          </a:prstGeom>
        </p:spPr>
      </p:pic>
      <p:sp>
        <p:nvSpPr>
          <p:cNvPr id="5" name="TextBox 4"/>
          <p:cNvSpPr txBox="1"/>
          <p:nvPr/>
        </p:nvSpPr>
        <p:spPr>
          <a:xfrm>
            <a:off x="548640" y="5989320"/>
            <a:ext cx="11064240" cy="731520"/>
          </a:xfrm>
          <a:prstGeom prst="rect">
            <a:avLst/>
          </a:prstGeom>
          <a:noFill/>
        </p:spPr>
        <p:txBody>
          <a:bodyPr wrap="square">
            <a:spAutoFit/>
          </a:bodyPr>
          <a:lstStyle/>
          <a:p>
            <a:pPr algn="l">
              <a:defRPr sz="1400" b="0">
                <a:solidFill>
                  <a:srgbClr val="A3AEC2"/>
                </a:solidFill>
                <a:latin typeface="Calibri"/>
              </a:defRPr>
            </a:pPr>
            <a:r>
              <a:t>Contoh nyata: '2152' menang 95% dari 18 pembacaan, sedangkan 'CA7' — logo CAT di kabin — hanya 5% dari 1 pembacaan. Inilah sebabnya sistem membaca berulang, bukan sekali jepret.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7090D"/>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defRPr sz="1300" b="1">
                <a:solidFill>
                  <a:srgbClr val="F59E0B"/>
                </a:solidFill>
                <a:latin typeface="Consolas"/>
              </a:defRPr>
            </a:pPr>
            <a:r>
              <a:t>PENUTUP</a:t>
            </a:r>
          </a:p>
        </p:txBody>
      </p:sp>
      <p:sp>
        <p:nvSpPr>
          <p:cNvPr id="3" name="TextBox 2"/>
          <p:cNvSpPr txBox="1"/>
          <p:nvPr/>
        </p:nvSpPr>
        <p:spPr>
          <a:xfrm>
            <a:off x="822960" y="1097280"/>
            <a:ext cx="10515600" cy="822960"/>
          </a:xfrm>
          <a:prstGeom prst="rect">
            <a:avLst/>
          </a:prstGeom>
          <a:noFill/>
        </p:spPr>
        <p:txBody>
          <a:bodyPr wrap="square">
            <a:spAutoFit/>
          </a:bodyPr>
          <a:lstStyle/>
          <a:p>
            <a:pPr algn="l">
              <a:defRPr sz="3000" b="1">
                <a:solidFill>
                  <a:srgbClr val="F8FAFC"/>
                </a:solidFill>
                <a:latin typeface="Calibri"/>
              </a:defRPr>
            </a:pPr>
            <a:r>
              <a:t>Mode Panduan ada di setiap halaman</a:t>
            </a:r>
          </a:p>
        </p:txBody>
      </p:sp>
      <p:sp>
        <p:nvSpPr>
          <p:cNvPr id="4" name="TextBox 3"/>
          <p:cNvSpPr txBox="1"/>
          <p:nvPr/>
        </p:nvSpPr>
        <p:spPr>
          <a:xfrm>
            <a:off x="822960" y="2011680"/>
            <a:ext cx="10515600" cy="4206240"/>
          </a:xfrm>
          <a:prstGeom prst="rect">
            <a:avLst/>
          </a:prstGeom>
          <a:noFill/>
        </p:spPr>
        <p:txBody>
          <a:bodyPr wrap="square">
            <a:spAutoFit/>
          </a:bodyPr>
          <a:lstStyle/>
          <a:p>
            <a:pPr algn="l">
              <a:defRPr sz="1700" b="0">
                <a:solidFill>
                  <a:srgbClr val="A3AEC2"/>
                </a:solidFill>
                <a:latin typeface="Calibri"/>
              </a:defRPr>
            </a:pPr>
            <a:r>
              <a:t>Ikon buku di pojok kanan atas konsol pusat menyalakan Mode Panduan.</a:t>
            </a:r>
          </a:p>
          <a:p>
            <a:pPr algn="l">
              <a:defRPr sz="1700" b="0">
                <a:solidFill>
                  <a:srgbClr val="A3AEC2"/>
                </a:solidFill>
                <a:latin typeface="Calibri"/>
              </a:defRPr>
            </a:pPr>
          </a:p>
          <a:p>
            <a:pPr algn="l">
              <a:defRPr sz="1700" b="0">
                <a:solidFill>
                  <a:srgbClr val="A3AEC2"/>
                </a:solidFill>
                <a:latin typeface="Calibri"/>
              </a:defRPr>
            </a:pPr>
            <a:r>
              <a:t>Saat aktif, isi setiap kartu berganti sementara menjadi penjelasan: kartu itu untuk apa, angkanya dihitung dari mana, dan apa yang perlu diperhatikan. Cocok dipakai saat melatih operator baru, tanpa perlu membuka dokumen terpisah.</a:t>
            </a:r>
          </a:p>
          <a:p>
            <a:pPr algn="l">
              <a:defRPr sz="1700" b="0">
                <a:solidFill>
                  <a:srgbClr val="A3AEC2"/>
                </a:solidFill>
                <a:latin typeface="Calibri"/>
              </a:defRPr>
            </a:pPr>
          </a:p>
          <a:p>
            <a:pPr algn="l">
              <a:defRPr sz="1700" b="0">
                <a:solidFill>
                  <a:srgbClr val="A3AEC2"/>
                </a:solidFill>
                <a:latin typeface="Calibri"/>
              </a:defRPr>
            </a:pPr>
            <a:r>
              <a:t>Matikan lagi lewat ikon yang sama untuk kembali melihat datanya.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