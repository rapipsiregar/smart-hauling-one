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2103120"/>
            <a:ext cx="64008"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84831"/>
            <a:ext cx="9144000" cy="274320"/>
          </a:xfrm>
          <a:prstGeom prst="rect">
            <a:avLst/>
          </a:prstGeom>
          <a:noFill/>
        </p:spPr>
        <p:txBody>
          <a:bodyPr wrap="square">
            <a:spAutoFit/>
          </a:bodyPr>
          <a:lstStyle/>
          <a:p>
            <a:pPr algn="l">
              <a:lnSpc>
                <a:spcPct val="100000"/>
              </a:lnSpc>
            </a:pPr>
            <a:r>
              <a:rPr sz="1050" b="0">
                <a:solidFill>
                  <a:srgbClr val="F59E0B"/>
                </a:solidFill>
                <a:latin typeface="Consolas"/>
              </a:rPr>
              <a:t>CATATAN PERUBAHAN  ·  CORE + EDGE</a:t>
            </a:r>
          </a:p>
        </p:txBody>
      </p:sp>
      <p:sp>
        <p:nvSpPr>
          <p:cNvPr id="4" name="TextBox 3"/>
          <p:cNvSpPr txBox="1"/>
          <p:nvPr/>
        </p:nvSpPr>
        <p:spPr>
          <a:xfrm>
            <a:off x="694944" y="2395728"/>
            <a:ext cx="10607040" cy="822960"/>
          </a:xfrm>
          <a:prstGeom prst="rect">
            <a:avLst/>
          </a:prstGeom>
          <a:noFill/>
        </p:spPr>
        <p:txBody>
          <a:bodyPr wrap="square">
            <a:spAutoFit/>
          </a:bodyPr>
          <a:lstStyle/>
          <a:p>
            <a:pPr algn="l">
              <a:lnSpc>
                <a:spcPct val="100000"/>
              </a:lnSpc>
            </a:pPr>
            <a:r>
              <a:rPr sz="4000" b="1">
                <a:solidFill>
                  <a:srgbClr val="F8FAFC"/>
                </a:solidFill>
                <a:latin typeface="Segoe UI"/>
              </a:rPr>
              <a:t>Perubahan Teknis 8 Agustus 2026</a:t>
            </a:r>
          </a:p>
        </p:txBody>
      </p:sp>
      <p:sp>
        <p:nvSpPr>
          <p:cNvPr id="5" name="TextBox 4"/>
          <p:cNvSpPr txBox="1"/>
          <p:nvPr/>
        </p:nvSpPr>
        <p:spPr>
          <a:xfrm>
            <a:off x="713232" y="3310128"/>
            <a:ext cx="9509760" cy="822960"/>
          </a:xfrm>
          <a:prstGeom prst="rect">
            <a:avLst/>
          </a:prstGeom>
          <a:noFill/>
        </p:spPr>
        <p:txBody>
          <a:bodyPr wrap="square">
            <a:spAutoFit/>
          </a:bodyPr>
          <a:lstStyle/>
          <a:p>
            <a:pPr algn="l">
              <a:lnSpc>
                <a:spcPct val="125000"/>
              </a:lnSpc>
            </a:pPr>
            <a:r>
              <a:rPr sz="1500" b="0">
                <a:solidFill>
                  <a:srgbClr val="A3AEC2"/>
                </a:solidFill>
                <a:latin typeface="Segoe UI"/>
              </a:rPr>
              <a:t>Empat gelombang kerja: OCR keluar dari thread deteksi, arah gate dari pusat, penghitungan ritase IN→OUT, dan pemisahan tampilan operator dari tampilan diagnosa.</a:t>
            </a:r>
          </a:p>
          <a:p>
            <a:pPr algn="l">
              <a:lnSpc>
                <a:spcPct val="125000"/>
              </a:lnSpc>
            </a:pPr>
            <a:r>
              <a:rPr sz="1500" b="0">
                <a:solidFill>
                  <a:srgbClr val="A3AEC2"/>
                </a:solidFill>
                <a:latin typeface="Segoe UI"/>
              </a:rPr>
              <a:t>Semua angka di deck ini hasil pengukuran hari ini, bukan kutipan dokumen.</a:t>
            </a:r>
          </a:p>
        </p:txBody>
      </p:sp>
      <p:sp>
        <p:nvSpPr>
          <p:cNvPr id="6" name="TextBox 5"/>
          <p:cNvSpPr txBox="1"/>
          <p:nvPr/>
        </p:nvSpPr>
        <p:spPr>
          <a:xfrm>
            <a:off x="713232" y="4663440"/>
            <a:ext cx="7315200" cy="274320"/>
          </a:xfrm>
          <a:prstGeom prst="rect">
            <a:avLst/>
          </a:prstGeom>
          <a:noFill/>
        </p:spPr>
        <p:txBody>
          <a:bodyPr wrap="square">
            <a:spAutoFit/>
          </a:bodyPr>
          <a:lstStyle/>
          <a:p>
            <a:pPr algn="l">
              <a:lnSpc>
                <a:spcPct val="100000"/>
              </a:lnSpc>
            </a:pPr>
            <a:r>
              <a:rPr sz="1000" b="0">
                <a:solidFill>
                  <a:srgbClr val="6B7688"/>
                </a:solidFill>
                <a:latin typeface="Consolas"/>
              </a:rPr>
              <a:t>Suite: core 196 lulus  ·  edge 186 lulus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RINGKAS</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Empat Gelombang</a:t>
            </a:r>
          </a:p>
        </p:txBody>
      </p:sp>
      <p:sp>
        <p:nvSpPr>
          <p:cNvPr id="5" name="Rounded Rectangle 4"/>
          <p:cNvSpPr/>
          <p:nvPr/>
        </p:nvSpPr>
        <p:spPr>
          <a:xfrm>
            <a:off x="502920" y="1600200"/>
            <a:ext cx="2594610" cy="324612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10512"/>
            <a:ext cx="2137410" cy="365760"/>
          </a:xfrm>
          <a:prstGeom prst="rect">
            <a:avLst/>
          </a:prstGeom>
          <a:noFill/>
        </p:spPr>
        <p:txBody>
          <a:bodyPr wrap="square">
            <a:spAutoFit/>
          </a:bodyPr>
          <a:lstStyle/>
          <a:p>
            <a:pPr algn="l">
              <a:lnSpc>
                <a:spcPct val="100000"/>
              </a:lnSpc>
            </a:pPr>
            <a:r>
              <a:rPr sz="1700" b="1">
                <a:solidFill>
                  <a:srgbClr val="F59E0B"/>
                </a:solidFill>
                <a:latin typeface="Consolas"/>
              </a:rPr>
              <a:t>01</a:t>
            </a:r>
          </a:p>
        </p:txBody>
      </p:sp>
      <p:sp>
        <p:nvSpPr>
          <p:cNvPr id="7" name="TextBox 6"/>
          <p:cNvSpPr txBox="1"/>
          <p:nvPr/>
        </p:nvSpPr>
        <p:spPr>
          <a:xfrm>
            <a:off x="758952" y="2267712"/>
            <a:ext cx="2137410" cy="457200"/>
          </a:xfrm>
          <a:prstGeom prst="rect">
            <a:avLst/>
          </a:prstGeom>
          <a:noFill/>
        </p:spPr>
        <p:txBody>
          <a:bodyPr wrap="square">
            <a:spAutoFit/>
          </a:bodyPr>
          <a:lstStyle/>
          <a:p>
            <a:pPr algn="l">
              <a:lnSpc>
                <a:spcPct val="100000"/>
              </a:lnSpc>
            </a:pPr>
            <a:r>
              <a:rPr sz="1550" b="1">
                <a:solidFill>
                  <a:srgbClr val="F8FAFC"/>
                </a:solidFill>
                <a:latin typeface="Segoe UI"/>
              </a:rPr>
              <a:t>HUD Gate Async</a:t>
            </a:r>
          </a:p>
        </p:txBody>
      </p:sp>
      <p:sp>
        <p:nvSpPr>
          <p:cNvPr id="8" name="TextBox 7"/>
          <p:cNvSpPr txBox="1"/>
          <p:nvPr/>
        </p:nvSpPr>
        <p:spPr>
          <a:xfrm>
            <a:off x="758952" y="2788920"/>
            <a:ext cx="2082545" cy="1828800"/>
          </a:xfrm>
          <a:prstGeom prst="rect">
            <a:avLst/>
          </a:prstGeom>
          <a:noFill/>
        </p:spPr>
        <p:txBody>
          <a:bodyPr wrap="square">
            <a:spAutoFit/>
          </a:bodyPr>
          <a:lstStyle/>
          <a:p>
            <a:pPr algn="l">
              <a:lnSpc>
                <a:spcPct val="135000"/>
              </a:lnSpc>
            </a:pPr>
            <a:r>
              <a:rPr sz="1150" b="0">
                <a:solidFill>
                  <a:srgbClr val="A3AEC2"/>
                </a:solidFill>
                <a:latin typeface="Segoe UI"/>
              </a:rPr>
              <a:t>OCR dipindah keluar dari thread deteksi. Mesin pembaca jadi bisa dipilih. Konsol gate dibangun ulang mengikuti sample-ui.</a:t>
            </a:r>
          </a:p>
        </p:txBody>
      </p:sp>
      <p:sp>
        <p:nvSpPr>
          <p:cNvPr id="9" name="Rounded Rectangle 8"/>
          <p:cNvSpPr/>
          <p:nvPr/>
        </p:nvSpPr>
        <p:spPr>
          <a:xfrm>
            <a:off x="3371850" y="1600200"/>
            <a:ext cx="2594610" cy="324612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7882" y="1810512"/>
            <a:ext cx="2137410" cy="365760"/>
          </a:xfrm>
          <a:prstGeom prst="rect">
            <a:avLst/>
          </a:prstGeom>
          <a:noFill/>
        </p:spPr>
        <p:txBody>
          <a:bodyPr wrap="square">
            <a:spAutoFit/>
          </a:bodyPr>
          <a:lstStyle/>
          <a:p>
            <a:pPr algn="l">
              <a:lnSpc>
                <a:spcPct val="100000"/>
              </a:lnSpc>
            </a:pPr>
            <a:r>
              <a:rPr sz="1700" b="1">
                <a:solidFill>
                  <a:srgbClr val="F59E0B"/>
                </a:solidFill>
                <a:latin typeface="Consolas"/>
              </a:rPr>
              <a:t>02</a:t>
            </a:r>
          </a:p>
        </p:txBody>
      </p:sp>
      <p:sp>
        <p:nvSpPr>
          <p:cNvPr id="11" name="TextBox 10"/>
          <p:cNvSpPr txBox="1"/>
          <p:nvPr/>
        </p:nvSpPr>
        <p:spPr>
          <a:xfrm>
            <a:off x="3627882" y="2267712"/>
            <a:ext cx="2137410" cy="457200"/>
          </a:xfrm>
          <a:prstGeom prst="rect">
            <a:avLst/>
          </a:prstGeom>
          <a:noFill/>
        </p:spPr>
        <p:txBody>
          <a:bodyPr wrap="square">
            <a:spAutoFit/>
          </a:bodyPr>
          <a:lstStyle/>
          <a:p>
            <a:pPr algn="l">
              <a:lnSpc>
                <a:spcPct val="100000"/>
              </a:lnSpc>
            </a:pPr>
            <a:r>
              <a:rPr sz="1550" b="1">
                <a:solidFill>
                  <a:srgbClr val="F8FAFC"/>
                </a:solidFill>
                <a:latin typeface="Segoe UI"/>
              </a:rPr>
              <a:t>Arah Gate</a:t>
            </a:r>
          </a:p>
        </p:txBody>
      </p:sp>
      <p:sp>
        <p:nvSpPr>
          <p:cNvPr id="12" name="TextBox 11"/>
          <p:cNvSpPr txBox="1"/>
          <p:nvPr/>
        </p:nvSpPr>
        <p:spPr>
          <a:xfrm>
            <a:off x="3627882" y="2788920"/>
            <a:ext cx="2082545" cy="1828800"/>
          </a:xfrm>
          <a:prstGeom prst="rect">
            <a:avLst/>
          </a:prstGeom>
          <a:noFill/>
        </p:spPr>
        <p:txBody>
          <a:bodyPr wrap="square">
            <a:spAutoFit/>
          </a:bodyPr>
          <a:lstStyle/>
          <a:p>
            <a:pPr algn="l">
              <a:lnSpc>
                <a:spcPct val="135000"/>
              </a:lnSpc>
            </a:pPr>
            <a:r>
              <a:rPr sz="1150" b="0">
                <a:solidFill>
                  <a:srgbClr val="A3AEC2"/>
                </a:solidFill>
                <a:latin typeface="Segoe UI"/>
              </a:rPr>
              <a:t>Edge belajar arahnya dari pusat saat boot: Gate A masuk, Gate B keluar. Tiga bug yang membuat sambungan ini terlihat tidak jalan.</a:t>
            </a:r>
          </a:p>
        </p:txBody>
      </p:sp>
      <p:sp>
        <p:nvSpPr>
          <p:cNvPr id="13" name="Rounded Rectangle 12"/>
          <p:cNvSpPr/>
          <p:nvPr/>
        </p:nvSpPr>
        <p:spPr>
          <a:xfrm>
            <a:off x="6240779" y="1600200"/>
            <a:ext cx="2594610" cy="324612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6812" y="1810512"/>
            <a:ext cx="2137410" cy="365760"/>
          </a:xfrm>
          <a:prstGeom prst="rect">
            <a:avLst/>
          </a:prstGeom>
          <a:noFill/>
        </p:spPr>
        <p:txBody>
          <a:bodyPr wrap="square">
            <a:spAutoFit/>
          </a:bodyPr>
          <a:lstStyle/>
          <a:p>
            <a:pPr algn="l">
              <a:lnSpc>
                <a:spcPct val="100000"/>
              </a:lnSpc>
            </a:pPr>
            <a:r>
              <a:rPr sz="1700" b="1">
                <a:solidFill>
                  <a:srgbClr val="F59E0B"/>
                </a:solidFill>
                <a:latin typeface="Consolas"/>
              </a:rPr>
              <a:t>03</a:t>
            </a:r>
          </a:p>
        </p:txBody>
      </p:sp>
      <p:sp>
        <p:nvSpPr>
          <p:cNvPr id="15" name="TextBox 14"/>
          <p:cNvSpPr txBox="1"/>
          <p:nvPr/>
        </p:nvSpPr>
        <p:spPr>
          <a:xfrm>
            <a:off x="6496812" y="2267712"/>
            <a:ext cx="2137410" cy="457200"/>
          </a:xfrm>
          <a:prstGeom prst="rect">
            <a:avLst/>
          </a:prstGeom>
          <a:noFill/>
        </p:spPr>
        <p:txBody>
          <a:bodyPr wrap="square">
            <a:spAutoFit/>
          </a:bodyPr>
          <a:lstStyle/>
          <a:p>
            <a:pPr algn="l">
              <a:lnSpc>
                <a:spcPct val="100000"/>
              </a:lnSpc>
            </a:pPr>
            <a:r>
              <a:rPr sz="1550" b="1">
                <a:solidFill>
                  <a:srgbClr val="F8FAFC"/>
                </a:solidFill>
                <a:latin typeface="Segoe UI"/>
              </a:rPr>
              <a:t>Ritase IN→OUT</a:t>
            </a:r>
          </a:p>
        </p:txBody>
      </p:sp>
      <p:sp>
        <p:nvSpPr>
          <p:cNvPr id="16" name="TextBox 15"/>
          <p:cNvSpPr txBox="1"/>
          <p:nvPr/>
        </p:nvSpPr>
        <p:spPr>
          <a:xfrm>
            <a:off x="6496812" y="2788920"/>
            <a:ext cx="2082545" cy="1828800"/>
          </a:xfrm>
          <a:prstGeom prst="rect">
            <a:avLst/>
          </a:prstGeom>
          <a:noFill/>
        </p:spPr>
        <p:txBody>
          <a:bodyPr wrap="square">
            <a:spAutoFit/>
          </a:bodyPr>
          <a:lstStyle/>
          <a:p>
            <a:pPr algn="l">
              <a:lnSpc>
                <a:spcPct val="135000"/>
              </a:lnSpc>
            </a:pPr>
            <a:r>
              <a:rPr sz="1150" b="0">
                <a:solidFill>
                  <a:srgbClr val="A3AEC2"/>
                </a:solidFill>
                <a:latin typeface="Segoe UI"/>
              </a:rPr>
              <a:t>Angka hasil baca akhirnya sampai ke pusat, sehingga posisi truk dan ritase bisa dihitung. Truk di luar master tercatat dan ditandai.</a:t>
            </a:r>
          </a:p>
        </p:txBody>
      </p:sp>
      <p:sp>
        <p:nvSpPr>
          <p:cNvPr id="17" name="Rounded Rectangle 16"/>
          <p:cNvSpPr/>
          <p:nvPr/>
        </p:nvSpPr>
        <p:spPr>
          <a:xfrm>
            <a:off x="9109710" y="1600200"/>
            <a:ext cx="2594610" cy="324612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65742" y="1810512"/>
            <a:ext cx="2137410" cy="365760"/>
          </a:xfrm>
          <a:prstGeom prst="rect">
            <a:avLst/>
          </a:prstGeom>
          <a:noFill/>
        </p:spPr>
        <p:txBody>
          <a:bodyPr wrap="square">
            <a:spAutoFit/>
          </a:bodyPr>
          <a:lstStyle/>
          <a:p>
            <a:pPr algn="l">
              <a:lnSpc>
                <a:spcPct val="100000"/>
              </a:lnSpc>
            </a:pPr>
            <a:r>
              <a:rPr sz="1700" b="1">
                <a:solidFill>
                  <a:srgbClr val="F59E0B"/>
                </a:solidFill>
                <a:latin typeface="Consolas"/>
              </a:rPr>
              <a:t>04</a:t>
            </a:r>
          </a:p>
        </p:txBody>
      </p:sp>
      <p:sp>
        <p:nvSpPr>
          <p:cNvPr id="19" name="TextBox 18"/>
          <p:cNvSpPr txBox="1"/>
          <p:nvPr/>
        </p:nvSpPr>
        <p:spPr>
          <a:xfrm>
            <a:off x="9365742" y="2267712"/>
            <a:ext cx="2137410" cy="457200"/>
          </a:xfrm>
          <a:prstGeom prst="rect">
            <a:avLst/>
          </a:prstGeom>
          <a:noFill/>
        </p:spPr>
        <p:txBody>
          <a:bodyPr wrap="square">
            <a:spAutoFit/>
          </a:bodyPr>
          <a:lstStyle/>
          <a:p>
            <a:pPr algn="l">
              <a:lnSpc>
                <a:spcPct val="100000"/>
              </a:lnSpc>
            </a:pPr>
            <a:r>
              <a:rPr sz="1550" b="1">
                <a:solidFill>
                  <a:srgbClr val="F8FAFC"/>
                </a:solidFill>
                <a:latin typeface="Segoe UI"/>
              </a:rPr>
              <a:t>Detail ON/OFF</a:t>
            </a:r>
          </a:p>
        </p:txBody>
      </p:sp>
      <p:sp>
        <p:nvSpPr>
          <p:cNvPr id="20" name="TextBox 19"/>
          <p:cNvSpPr txBox="1"/>
          <p:nvPr/>
        </p:nvSpPr>
        <p:spPr>
          <a:xfrm>
            <a:off x="9365742" y="2788920"/>
            <a:ext cx="2082545" cy="1828800"/>
          </a:xfrm>
          <a:prstGeom prst="rect">
            <a:avLst/>
          </a:prstGeom>
          <a:noFill/>
        </p:spPr>
        <p:txBody>
          <a:bodyPr wrap="square">
            <a:spAutoFit/>
          </a:bodyPr>
          <a:lstStyle/>
          <a:p>
            <a:pPr algn="l">
              <a:lnSpc>
                <a:spcPct val="135000"/>
              </a:lnSpc>
            </a:pPr>
            <a:r>
              <a:rPr sz="1150" b="0">
                <a:solidFill>
                  <a:srgbClr val="A3AEC2"/>
                </a:solidFill>
                <a:latin typeface="Segoe UI"/>
              </a:rPr>
              <a:t>Satu saklar memisahkan tampilan operator dari tampilan diagnosa. Kata "OCR" hilang dari seluruh layar.</a:t>
            </a:r>
          </a:p>
        </p:txBody>
      </p:sp>
      <p:sp>
        <p:nvSpPr>
          <p:cNvPr id="21" name="TextBox 20"/>
          <p:cNvSpPr txBox="1"/>
          <p:nvPr/>
        </p:nvSpPr>
        <p:spPr>
          <a:xfrm>
            <a:off x="502920" y="5120640"/>
            <a:ext cx="11155680" cy="822960"/>
          </a:xfrm>
          <a:prstGeom prst="rect">
            <a:avLst/>
          </a:prstGeom>
          <a:noFill/>
        </p:spPr>
        <p:txBody>
          <a:bodyPr wrap="square">
            <a:spAutoFit/>
          </a:bodyPr>
          <a:lstStyle/>
          <a:p>
            <a:pPr algn="l">
              <a:lnSpc>
                <a:spcPct val="140000"/>
              </a:lnSpc>
            </a:pPr>
            <a:r>
              <a:rPr sz="1150" b="0">
                <a:solidFill>
                  <a:srgbClr val="F59E0B"/>
                </a:solidFill>
                <a:latin typeface="Segoe UI"/>
              </a:rPr>
              <a:t>Yang tidak berubah: algoritma voting dan pencocokan. vendor/ocr_utils.py dan vendor/hull_matching.py tetap byte-identik dengan salinan core — dijaga tests/test_vendor_sync.py.</a:t>
            </a:r>
          </a:p>
        </p:txBody>
      </p:sp>
      <p:sp>
        <p:nvSpPr>
          <p:cNvPr id="22" name="TextBox 21"/>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23" name="TextBox 22"/>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01  ·  AKAR MASALAH</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OCR Memblokir Thread Deteksi</a:t>
            </a:r>
          </a:p>
        </p:txBody>
      </p:sp>
      <p:sp>
        <p:nvSpPr>
          <p:cNvPr id="5" name="Rounded Rectangle 4"/>
          <p:cNvSpPr/>
          <p:nvPr/>
        </p:nvSpPr>
        <p:spPr>
          <a:xfrm>
            <a:off x="50292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Yang terjadi sebelumnya</a:t>
            </a:r>
          </a:p>
        </p:txBody>
      </p:sp>
      <p:sp>
        <p:nvSpPr>
          <p:cNvPr id="7" name="TextBox 6"/>
          <p:cNvSpPr txBox="1"/>
          <p:nvPr/>
        </p:nvSpPr>
        <p:spPr>
          <a:xfrm>
            <a:off x="740664"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InferenceLoop.run memanggil run_ocr_on_crop di dalam loop, di antara satu frame dan berikutnya. Pada ~0,5 detik per potongan gambar, penangkapan frame berhenti setengah detik setiap kali menemukan sesuatu.</a:t>
            </a:r>
          </a:p>
        </p:txBody>
      </p:sp>
      <p:sp>
        <p:nvSpPr>
          <p:cNvPr id="8" name="Rounded Rectangle 7"/>
          <p:cNvSpPr/>
          <p:nvPr/>
        </p:nvSpPr>
        <p:spPr>
          <a:xfrm>
            <a:off x="626364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3"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Akibat yang terlihat</a:t>
            </a:r>
          </a:p>
        </p:txBody>
      </p:sp>
      <p:sp>
        <p:nvSpPr>
          <p:cNvPr id="10" name="TextBox 9"/>
          <p:cNvSpPr txBox="1"/>
          <p:nvPr/>
        </p:nvSpPr>
        <p:spPr>
          <a:xfrm>
            <a:off x="6501383"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Kotak deteksi membeku di layar setiap kali sistem menemukan plat — persis saat operator paling ingin melihatnya bergerak. Frame terlewat, dan jam jendela deteksi terus berjalan tanpa ada yang mengawasi.</a:t>
            </a:r>
          </a:p>
        </p:txBody>
      </p:sp>
      <p:sp>
        <p:nvSpPr>
          <p:cNvPr id="11" name="Rounded Rectangle 10"/>
          <p:cNvSpPr/>
          <p:nvPr/>
        </p:nvSpPr>
        <p:spPr>
          <a:xfrm>
            <a:off x="50292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Perbaikan</a:t>
            </a:r>
          </a:p>
        </p:txBody>
      </p:sp>
      <p:sp>
        <p:nvSpPr>
          <p:cNvPr id="13" name="TextBox 12"/>
          <p:cNvSpPr txBox="1"/>
          <p:nvPr/>
        </p:nvSpPr>
        <p:spPr>
          <a:xfrm>
            <a:off x="740664"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agent/ocr_worker.py — OcrPool: kumpulan thread pembaca di belakang antrean berbatas. Thread deteksi tidak pernah menunggu; submit() tidak pernah memblokir.</a:t>
            </a:r>
          </a:p>
        </p:txBody>
      </p:sp>
      <p:sp>
        <p:nvSpPr>
          <p:cNvPr id="14" name="Rounded Rectangle 13"/>
          <p:cNvSpPr/>
          <p:nvPr/>
        </p:nvSpPr>
        <p:spPr>
          <a:xfrm>
            <a:off x="626364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3"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Dua invarian yang menahannya</a:t>
            </a:r>
          </a:p>
        </p:txBody>
      </p:sp>
      <p:sp>
        <p:nvSpPr>
          <p:cNvPr id="16" name="TextBox 15"/>
          <p:cNvSpPr txBox="1"/>
          <p:nvPr/>
        </p:nvSpPr>
        <p:spPr>
          <a:xfrm>
            <a:off x="6501383"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(1) Hasil baca hanya dimasukkan oleh thread deteksi, sehingga DetectionWindow tetap mesin status satu-thread sesuai SRS §3.2. (2) Antrean membuang, bukan menumpuk — backlog berarti jendela menerima bacaan truk yang sudah lewat.</a:t>
            </a:r>
          </a:p>
        </p:txBody>
      </p:sp>
      <p:sp>
        <p:nvSpPr>
          <p:cNvPr id="17" name="TextBox 16"/>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18" name="TextBox 17"/>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01  ·  JEBAKAN</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Perangkap yang Dibuat Perbaikan Itu</a:t>
            </a:r>
          </a:p>
        </p:txBody>
      </p:sp>
      <p:sp>
        <p:nvSpPr>
          <p:cNvPr id="5" name="Rounded Rectangle 4"/>
          <p:cNvSpPr/>
          <p:nvPr/>
        </p:nvSpPr>
        <p:spPr>
          <a:xfrm>
            <a:off x="50292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Jendela tutup sebelum bacaannya kembali</a:t>
            </a:r>
          </a:p>
        </p:txBody>
      </p:sp>
      <p:sp>
        <p:nvSpPr>
          <p:cNvPr id="7" name="TextBox 6"/>
          <p:cNvSpPr txBox="1"/>
          <p:nvPr/>
        </p:nvSpPr>
        <p:spPr>
          <a:xfrm>
            <a:off x="740664"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Jendela yang tutup sesuai jadwal sementara potongan gambarnya masih di antrean akan mencatat UNKNOWN untuk setiap truk. Diam-diam, dan total.</a:t>
            </a:r>
          </a:p>
        </p:txBody>
      </p:sp>
      <p:sp>
        <p:nvSpPr>
          <p:cNvPr id="8" name="Rounded Rectangle 7"/>
          <p:cNvSpPr/>
          <p:nvPr/>
        </p:nvSpPr>
        <p:spPr>
          <a:xfrm>
            <a:off x="626364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3"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Penjaga: OCR_DRAIN_GRACE_SEC = 4,0</a:t>
            </a:r>
          </a:p>
        </p:txBody>
      </p:sp>
      <p:sp>
        <p:nvSpPr>
          <p:cNvPr id="10" name="TextBox 9"/>
          <p:cNvSpPr txBox="1"/>
          <p:nvPr/>
        </p:nvSpPr>
        <p:spPr>
          <a:xfrm>
            <a:off x="6501383"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Penutupan ditunda selama masih ada pekerjaan berjalan, dan dibatasi 4 detik agar satu worker yang macet tidak menahan jendela selamanya. Dua-duanya gagal secara senyap — itu sebabnya dibatasi di kedua ujung.</a:t>
            </a:r>
          </a:p>
        </p:txBody>
      </p:sp>
      <p:sp>
        <p:nvSpPr>
          <p:cNvPr id="11" name="Rounded Rectangle 10"/>
          <p:cNvSpPr/>
          <p:nvPr/>
        </p:nvSpPr>
        <p:spPr>
          <a:xfrm>
            <a:off x="50292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Bus tampilan: agent/live_state.py</a:t>
            </a:r>
          </a:p>
        </p:txBody>
      </p:sp>
      <p:sp>
        <p:nvSpPr>
          <p:cNvPr id="13" name="TextBox 12"/>
          <p:cNvSpPr txBox="1"/>
          <p:nvPr/>
        </p:nvSpPr>
        <p:spPr>
          <a:xfrm>
            <a:off x="740664"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Frame, kotak, dan potongan gambar per jejak. Berbatas 8 jejak × 24 potongan — perangkat berjalan berbulan-bulan, buffer tak berbatas adalah kebocoran dengan sekring panjang.</a:t>
            </a:r>
          </a:p>
        </p:txBody>
      </p:sp>
      <p:sp>
        <p:nvSpPr>
          <p:cNvPr id="14" name="Rounded Rectangle 13"/>
          <p:cNvSpPr/>
          <p:nvPr/>
        </p:nvSpPr>
        <p:spPr>
          <a:xfrm>
            <a:off x="626364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3"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Byte gambar tidak masuk JSON</a:t>
            </a:r>
          </a:p>
        </p:txBody>
      </p:sp>
      <p:sp>
        <p:nvSpPr>
          <p:cNvPr id="16" name="TextBox 15"/>
          <p:cNvSpPr txBox="1"/>
          <p:nvPr/>
        </p:nvSpPr>
        <p:spPr>
          <a:xfrm>
            <a:off x="6501383"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Potongan gambar diambil lewat URL terpisah. Menyisipkannya sebagai base64 akan menaruh satu megabyte gambar di setiap polling layar yang menyegar beberapa kali per detik.</a:t>
            </a:r>
          </a:p>
        </p:txBody>
      </p:sp>
      <p:sp>
        <p:nvSpPr>
          <p:cNvPr id="17" name="TextBox 16"/>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18" name="TextBox 17"/>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01  ·  MESIN PEMBACA</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Dua Mesin, Diukur pada Potongan Gambar Identik</a:t>
            </a:r>
          </a:p>
        </p:txBody>
      </p:sp>
      <p:sp>
        <p:nvSpPr>
          <p:cNvPr id="5" name="Rectangle 4"/>
          <p:cNvSpPr/>
          <p:nvPr/>
        </p:nvSpPr>
        <p:spPr>
          <a:xfrm>
            <a:off x="502920" y="1554480"/>
            <a:ext cx="11201400" cy="384048"/>
          </a:xfrm>
          <a:prstGeom prst="rect">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618488"/>
            <a:ext cx="2571562" cy="274320"/>
          </a:xfrm>
          <a:prstGeom prst="rect">
            <a:avLst/>
          </a:prstGeom>
          <a:noFill/>
        </p:spPr>
        <p:txBody>
          <a:bodyPr wrap="square">
            <a:spAutoFit/>
          </a:bodyPr>
          <a:lstStyle/>
          <a:p>
            <a:pPr algn="l">
              <a:lnSpc>
                <a:spcPct val="100000"/>
              </a:lnSpc>
            </a:pPr>
            <a:r>
              <a:rPr sz="1050" b="0">
                <a:solidFill>
                  <a:srgbClr val="F59E0B"/>
                </a:solidFill>
                <a:latin typeface="Consolas"/>
              </a:rPr>
              <a:t>Mesin</a:t>
            </a:r>
          </a:p>
        </p:txBody>
      </p:sp>
      <p:sp>
        <p:nvSpPr>
          <p:cNvPr id="7" name="TextBox 6"/>
          <p:cNvSpPr txBox="1"/>
          <p:nvPr/>
        </p:nvSpPr>
        <p:spPr>
          <a:xfrm>
            <a:off x="3385378" y="1618488"/>
            <a:ext cx="1837044" cy="274320"/>
          </a:xfrm>
          <a:prstGeom prst="rect">
            <a:avLst/>
          </a:prstGeom>
          <a:noFill/>
        </p:spPr>
        <p:txBody>
          <a:bodyPr wrap="square">
            <a:spAutoFit/>
          </a:bodyPr>
          <a:lstStyle/>
          <a:p>
            <a:pPr algn="l">
              <a:lnSpc>
                <a:spcPct val="100000"/>
              </a:lnSpc>
            </a:pPr>
            <a:r>
              <a:rPr sz="1050" b="0">
                <a:solidFill>
                  <a:srgbClr val="F59E0B"/>
                </a:solidFill>
                <a:latin typeface="Consolas"/>
              </a:rPr>
              <a:t>Berkas model</a:t>
            </a:r>
          </a:p>
        </p:txBody>
      </p:sp>
      <p:sp>
        <p:nvSpPr>
          <p:cNvPr id="8" name="TextBox 7"/>
          <p:cNvSpPr txBox="1"/>
          <p:nvPr/>
        </p:nvSpPr>
        <p:spPr>
          <a:xfrm>
            <a:off x="5405303" y="1618488"/>
            <a:ext cx="1653415" cy="274320"/>
          </a:xfrm>
          <a:prstGeom prst="rect">
            <a:avLst/>
          </a:prstGeom>
          <a:noFill/>
        </p:spPr>
        <p:txBody>
          <a:bodyPr wrap="square">
            <a:spAutoFit/>
          </a:bodyPr>
          <a:lstStyle/>
          <a:p>
            <a:pPr algn="l">
              <a:lnSpc>
                <a:spcPct val="100000"/>
              </a:lnSpc>
            </a:pPr>
            <a:r>
              <a:rPr sz="1050" b="0">
                <a:solidFill>
                  <a:srgbClr val="F59E0B"/>
                </a:solidFill>
                <a:latin typeface="Consolas"/>
              </a:rPr>
              <a:t>Per potongan</a:t>
            </a:r>
          </a:p>
        </p:txBody>
      </p:sp>
      <p:sp>
        <p:nvSpPr>
          <p:cNvPr id="9" name="TextBox 8"/>
          <p:cNvSpPr txBox="1"/>
          <p:nvPr/>
        </p:nvSpPr>
        <p:spPr>
          <a:xfrm>
            <a:off x="7241598" y="1618488"/>
            <a:ext cx="1469785" cy="274320"/>
          </a:xfrm>
          <a:prstGeom prst="rect">
            <a:avLst/>
          </a:prstGeom>
          <a:noFill/>
        </p:spPr>
        <p:txBody>
          <a:bodyPr wrap="square">
            <a:spAutoFit/>
          </a:bodyPr>
          <a:lstStyle/>
          <a:p>
            <a:pPr algn="l">
              <a:lnSpc>
                <a:spcPct val="100000"/>
              </a:lnSpc>
            </a:pPr>
            <a:r>
              <a:rPr sz="1050" b="0">
                <a:solidFill>
                  <a:srgbClr val="F59E0B"/>
                </a:solidFill>
                <a:latin typeface="Consolas"/>
              </a:rPr>
              <a:t>Perangkat</a:t>
            </a:r>
          </a:p>
        </p:txBody>
      </p:sp>
      <p:sp>
        <p:nvSpPr>
          <p:cNvPr id="10" name="TextBox 9"/>
          <p:cNvSpPr txBox="1"/>
          <p:nvPr/>
        </p:nvSpPr>
        <p:spPr>
          <a:xfrm>
            <a:off x="8894263" y="1618488"/>
            <a:ext cx="2755192" cy="274320"/>
          </a:xfrm>
          <a:prstGeom prst="rect">
            <a:avLst/>
          </a:prstGeom>
          <a:noFill/>
        </p:spPr>
        <p:txBody>
          <a:bodyPr wrap="square">
            <a:spAutoFit/>
          </a:bodyPr>
          <a:lstStyle/>
          <a:p>
            <a:pPr algn="l">
              <a:lnSpc>
                <a:spcPct val="100000"/>
              </a:lnSpc>
            </a:pPr>
            <a:r>
              <a:rPr sz="1050" b="0">
                <a:solidFill>
                  <a:srgbClr val="F59E0B"/>
                </a:solidFill>
                <a:latin typeface="Consolas"/>
              </a:rPr>
              <a:t>Benar (13 klip terbaca)</a:t>
            </a:r>
          </a:p>
        </p:txBody>
      </p:sp>
      <p:sp>
        <p:nvSpPr>
          <p:cNvPr id="11" name="Rectangle 10"/>
          <p:cNvSpPr/>
          <p:nvPr/>
        </p:nvSpPr>
        <p:spPr>
          <a:xfrm>
            <a:off x="502920" y="1956816"/>
            <a:ext cx="11201400" cy="384048"/>
          </a:xfrm>
          <a:prstGeom prst="rect">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1993392"/>
            <a:ext cx="2571562" cy="310896"/>
          </a:xfrm>
          <a:prstGeom prst="rect">
            <a:avLst/>
          </a:prstGeom>
          <a:noFill/>
        </p:spPr>
        <p:txBody>
          <a:bodyPr wrap="square">
            <a:spAutoFit/>
          </a:bodyPr>
          <a:lstStyle/>
          <a:p>
            <a:pPr algn="l">
              <a:lnSpc>
                <a:spcPct val="100000"/>
              </a:lnSpc>
            </a:pPr>
            <a:r>
              <a:rPr sz="1150" b="1">
                <a:solidFill>
                  <a:srgbClr val="F59E0B"/>
                </a:solidFill>
                <a:latin typeface="Segoe UI"/>
              </a:rPr>
              <a:t>PP-OCRv6 tiny</a:t>
            </a:r>
          </a:p>
        </p:txBody>
      </p:sp>
      <p:sp>
        <p:nvSpPr>
          <p:cNvPr id="13" name="TextBox 12"/>
          <p:cNvSpPr txBox="1"/>
          <p:nvPr/>
        </p:nvSpPr>
        <p:spPr>
          <a:xfrm>
            <a:off x="3385378" y="1993392"/>
            <a:ext cx="1837044" cy="310896"/>
          </a:xfrm>
          <a:prstGeom prst="rect">
            <a:avLst/>
          </a:prstGeom>
          <a:noFill/>
        </p:spPr>
        <p:txBody>
          <a:bodyPr wrap="square">
            <a:spAutoFit/>
          </a:bodyPr>
          <a:lstStyle/>
          <a:p>
            <a:pPr algn="l">
              <a:lnSpc>
                <a:spcPct val="100000"/>
              </a:lnSpc>
            </a:pPr>
            <a:r>
              <a:rPr sz="1150" b="0">
                <a:solidFill>
                  <a:srgbClr val="A3AEC2"/>
                </a:solidFill>
                <a:latin typeface="Consolas"/>
              </a:rPr>
              <a:t>4,5 MB</a:t>
            </a:r>
          </a:p>
        </p:txBody>
      </p:sp>
      <p:sp>
        <p:nvSpPr>
          <p:cNvPr id="14" name="TextBox 13"/>
          <p:cNvSpPr txBox="1"/>
          <p:nvPr/>
        </p:nvSpPr>
        <p:spPr>
          <a:xfrm>
            <a:off x="5405303" y="1993392"/>
            <a:ext cx="1653415" cy="310896"/>
          </a:xfrm>
          <a:prstGeom prst="rect">
            <a:avLst/>
          </a:prstGeom>
          <a:noFill/>
        </p:spPr>
        <p:txBody>
          <a:bodyPr wrap="square">
            <a:spAutoFit/>
          </a:bodyPr>
          <a:lstStyle/>
          <a:p>
            <a:pPr algn="l">
              <a:lnSpc>
                <a:spcPct val="100000"/>
              </a:lnSpc>
            </a:pPr>
            <a:r>
              <a:rPr sz="1150" b="0">
                <a:solidFill>
                  <a:srgbClr val="A3AEC2"/>
                </a:solidFill>
                <a:latin typeface="Consolas"/>
              </a:rPr>
              <a:t>15 ms</a:t>
            </a:r>
          </a:p>
        </p:txBody>
      </p:sp>
      <p:sp>
        <p:nvSpPr>
          <p:cNvPr id="15" name="TextBox 14"/>
          <p:cNvSpPr txBox="1"/>
          <p:nvPr/>
        </p:nvSpPr>
        <p:spPr>
          <a:xfrm>
            <a:off x="7241598" y="1993392"/>
            <a:ext cx="1469785" cy="310896"/>
          </a:xfrm>
          <a:prstGeom prst="rect">
            <a:avLst/>
          </a:prstGeom>
          <a:noFill/>
        </p:spPr>
        <p:txBody>
          <a:bodyPr wrap="square">
            <a:spAutoFit/>
          </a:bodyPr>
          <a:lstStyle/>
          <a:p>
            <a:pPr algn="l">
              <a:lnSpc>
                <a:spcPct val="100000"/>
              </a:lnSpc>
            </a:pPr>
            <a:r>
              <a:rPr sz="1150" b="0">
                <a:solidFill>
                  <a:srgbClr val="A3AEC2"/>
                </a:solidFill>
                <a:latin typeface="Consolas"/>
              </a:rPr>
              <a:t>CPU</a:t>
            </a:r>
          </a:p>
        </p:txBody>
      </p:sp>
      <p:sp>
        <p:nvSpPr>
          <p:cNvPr id="16" name="TextBox 15"/>
          <p:cNvSpPr txBox="1"/>
          <p:nvPr/>
        </p:nvSpPr>
        <p:spPr>
          <a:xfrm>
            <a:off x="8894263" y="1993392"/>
            <a:ext cx="2755192" cy="310896"/>
          </a:xfrm>
          <a:prstGeom prst="rect">
            <a:avLst/>
          </a:prstGeom>
          <a:noFill/>
        </p:spPr>
        <p:txBody>
          <a:bodyPr wrap="square">
            <a:spAutoFit/>
          </a:bodyPr>
          <a:lstStyle/>
          <a:p>
            <a:pPr algn="l">
              <a:lnSpc>
                <a:spcPct val="100000"/>
              </a:lnSpc>
            </a:pPr>
            <a:r>
              <a:rPr sz="1150" b="0">
                <a:solidFill>
                  <a:srgbClr val="A3AEC2"/>
                </a:solidFill>
                <a:latin typeface="Consolas"/>
              </a:rPr>
              <a:t>12 / 13</a:t>
            </a:r>
          </a:p>
        </p:txBody>
      </p:sp>
      <p:sp>
        <p:nvSpPr>
          <p:cNvPr id="17" name="TextBox 16"/>
          <p:cNvSpPr txBox="1"/>
          <p:nvPr/>
        </p:nvSpPr>
        <p:spPr>
          <a:xfrm>
            <a:off x="630936" y="2377440"/>
            <a:ext cx="2571562" cy="310896"/>
          </a:xfrm>
          <a:prstGeom prst="rect">
            <a:avLst/>
          </a:prstGeom>
          <a:noFill/>
        </p:spPr>
        <p:txBody>
          <a:bodyPr wrap="square">
            <a:spAutoFit/>
          </a:bodyPr>
          <a:lstStyle/>
          <a:p>
            <a:pPr algn="l">
              <a:lnSpc>
                <a:spcPct val="100000"/>
              </a:lnSpc>
            </a:pPr>
            <a:r>
              <a:rPr sz="1150" b="0">
                <a:solidFill>
                  <a:srgbClr val="F8FAFC"/>
                </a:solidFill>
                <a:latin typeface="Segoe UI"/>
              </a:rPr>
              <a:t>PaddleOCR-VL 1.6</a:t>
            </a:r>
          </a:p>
        </p:txBody>
      </p:sp>
      <p:sp>
        <p:nvSpPr>
          <p:cNvPr id="18" name="TextBox 17"/>
          <p:cNvSpPr txBox="1"/>
          <p:nvPr/>
        </p:nvSpPr>
        <p:spPr>
          <a:xfrm>
            <a:off x="3385378" y="2377440"/>
            <a:ext cx="1837044" cy="310896"/>
          </a:xfrm>
          <a:prstGeom prst="rect">
            <a:avLst/>
          </a:prstGeom>
          <a:noFill/>
        </p:spPr>
        <p:txBody>
          <a:bodyPr wrap="square">
            <a:spAutoFit/>
          </a:bodyPr>
          <a:lstStyle/>
          <a:p>
            <a:pPr algn="l">
              <a:lnSpc>
                <a:spcPct val="100000"/>
              </a:lnSpc>
            </a:pPr>
            <a:r>
              <a:rPr sz="1150" b="0">
                <a:solidFill>
                  <a:srgbClr val="A3AEC2"/>
                </a:solidFill>
                <a:latin typeface="Consolas"/>
              </a:rPr>
              <a:t>1 800 MB</a:t>
            </a:r>
          </a:p>
        </p:txBody>
      </p:sp>
      <p:sp>
        <p:nvSpPr>
          <p:cNvPr id="19" name="TextBox 18"/>
          <p:cNvSpPr txBox="1"/>
          <p:nvPr/>
        </p:nvSpPr>
        <p:spPr>
          <a:xfrm>
            <a:off x="5405303" y="2377440"/>
            <a:ext cx="1653415" cy="310896"/>
          </a:xfrm>
          <a:prstGeom prst="rect">
            <a:avLst/>
          </a:prstGeom>
          <a:noFill/>
        </p:spPr>
        <p:txBody>
          <a:bodyPr wrap="square">
            <a:spAutoFit/>
          </a:bodyPr>
          <a:lstStyle/>
          <a:p>
            <a:pPr algn="l">
              <a:lnSpc>
                <a:spcPct val="100000"/>
              </a:lnSpc>
            </a:pPr>
            <a:r>
              <a:rPr sz="1150" b="0">
                <a:solidFill>
                  <a:srgbClr val="A3AEC2"/>
                </a:solidFill>
                <a:latin typeface="Consolas"/>
              </a:rPr>
              <a:t>514 ms</a:t>
            </a:r>
          </a:p>
        </p:txBody>
      </p:sp>
      <p:sp>
        <p:nvSpPr>
          <p:cNvPr id="20" name="TextBox 19"/>
          <p:cNvSpPr txBox="1"/>
          <p:nvPr/>
        </p:nvSpPr>
        <p:spPr>
          <a:xfrm>
            <a:off x="7241598" y="2377440"/>
            <a:ext cx="1469785" cy="310896"/>
          </a:xfrm>
          <a:prstGeom prst="rect">
            <a:avLst/>
          </a:prstGeom>
          <a:noFill/>
        </p:spPr>
        <p:txBody>
          <a:bodyPr wrap="square">
            <a:spAutoFit/>
          </a:bodyPr>
          <a:lstStyle/>
          <a:p>
            <a:pPr algn="l">
              <a:lnSpc>
                <a:spcPct val="100000"/>
              </a:lnSpc>
            </a:pPr>
            <a:r>
              <a:rPr sz="1150" b="0">
                <a:solidFill>
                  <a:srgbClr val="A3AEC2"/>
                </a:solidFill>
                <a:latin typeface="Consolas"/>
              </a:rPr>
              <a:t>GPU</a:t>
            </a:r>
          </a:p>
        </p:txBody>
      </p:sp>
      <p:sp>
        <p:nvSpPr>
          <p:cNvPr id="21" name="TextBox 20"/>
          <p:cNvSpPr txBox="1"/>
          <p:nvPr/>
        </p:nvSpPr>
        <p:spPr>
          <a:xfrm>
            <a:off x="8894263" y="2377440"/>
            <a:ext cx="2755192" cy="310896"/>
          </a:xfrm>
          <a:prstGeom prst="rect">
            <a:avLst/>
          </a:prstGeom>
          <a:noFill/>
        </p:spPr>
        <p:txBody>
          <a:bodyPr wrap="square">
            <a:spAutoFit/>
          </a:bodyPr>
          <a:lstStyle/>
          <a:p>
            <a:pPr algn="l">
              <a:lnSpc>
                <a:spcPct val="100000"/>
              </a:lnSpc>
            </a:pPr>
            <a:r>
              <a:rPr sz="1150" b="0">
                <a:solidFill>
                  <a:srgbClr val="A3AEC2"/>
                </a:solidFill>
                <a:latin typeface="Consolas"/>
              </a:rPr>
              <a:t>13 / 13</a:t>
            </a:r>
          </a:p>
        </p:txBody>
      </p:sp>
      <p:sp>
        <p:nvSpPr>
          <p:cNvPr id="22" name="TextBox 21"/>
          <p:cNvSpPr txBox="1"/>
          <p:nvPr/>
        </p:nvSpPr>
        <p:spPr>
          <a:xfrm>
            <a:off x="502920" y="2990088"/>
            <a:ext cx="11155680" cy="914400"/>
          </a:xfrm>
          <a:prstGeom prst="rect">
            <a:avLst/>
          </a:prstGeom>
          <a:noFill/>
        </p:spPr>
        <p:txBody>
          <a:bodyPr wrap="square">
            <a:spAutoFit/>
          </a:bodyPr>
          <a:lstStyle/>
          <a:p>
            <a:pPr algn="l">
              <a:lnSpc>
                <a:spcPct val="140000"/>
              </a:lnSpc>
            </a:pPr>
            <a:r>
              <a:rPr sz="1150" b="0">
                <a:solidFill>
                  <a:srgbClr val="F59E0B"/>
                </a:solidFill>
                <a:latin typeface="Segoe UI"/>
              </a:rPr>
              <a:t>Yang kecil jadi bawaan: 400× lebih ringan dan 35× lebih cepat di perangkat yang lebih lemah — menentukan untuk Jetson di balik Starlink tanpa jalur kedua. agent/ocr_backends.py; SMART_GATE_OCR_BACKEND=paddleocr-vl untuk pindah per perangkat.</a:t>
            </a:r>
          </a:p>
          <a:p>
            <a:pPr algn="l">
              <a:lnSpc>
                <a:spcPct val="140000"/>
              </a:lnSpc>
            </a:pPr>
            <a:r>
              <a:rPr sz="1150" b="0">
                <a:solidFill>
                  <a:srgbClr val="F59E0B"/>
                </a:solidFill>
                <a:latin typeface="Segoe UI"/>
              </a:rPr>
              <a:t>Adapter ada supaya vendor/ocr_utils.py tetap byte-identik: PP-OCR mengembalikan {rec_text, rec_score}, helper bersama hanya mengerti bentuk PaddleOCR-VL.</a:t>
            </a:r>
          </a:p>
        </p:txBody>
      </p:sp>
      <p:sp>
        <p:nvSpPr>
          <p:cNvPr id="23" name="TextBox 22"/>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24" name="TextBox 23"/>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01  ·  UJI MODEL</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15 Klip Rekaman Tambang Nyata</a:t>
            </a:r>
          </a:p>
        </p:txBody>
      </p:sp>
      <p:sp>
        <p:nvSpPr>
          <p:cNvPr id="5" name="Rectangle 4"/>
          <p:cNvSpPr/>
          <p:nvPr/>
        </p:nvSpPr>
        <p:spPr>
          <a:xfrm>
            <a:off x="502920" y="1554480"/>
            <a:ext cx="11201400" cy="384048"/>
          </a:xfrm>
          <a:prstGeom prst="rect">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618488"/>
            <a:ext cx="2755192" cy="274320"/>
          </a:xfrm>
          <a:prstGeom prst="rect">
            <a:avLst/>
          </a:prstGeom>
          <a:noFill/>
        </p:spPr>
        <p:txBody>
          <a:bodyPr wrap="square">
            <a:spAutoFit/>
          </a:bodyPr>
          <a:lstStyle/>
          <a:p>
            <a:pPr algn="l">
              <a:lnSpc>
                <a:spcPct val="100000"/>
              </a:lnSpc>
            </a:pPr>
            <a:r>
              <a:rPr sz="1050" b="0">
                <a:solidFill>
                  <a:srgbClr val="F59E0B"/>
                </a:solidFill>
                <a:latin typeface="Consolas"/>
              </a:rPr>
              <a:t>Tahap</a:t>
            </a:r>
          </a:p>
        </p:txBody>
      </p:sp>
      <p:sp>
        <p:nvSpPr>
          <p:cNvPr id="7" name="TextBox 6"/>
          <p:cNvSpPr txBox="1"/>
          <p:nvPr/>
        </p:nvSpPr>
        <p:spPr>
          <a:xfrm>
            <a:off x="3569008" y="1618488"/>
            <a:ext cx="2938821" cy="274320"/>
          </a:xfrm>
          <a:prstGeom prst="rect">
            <a:avLst/>
          </a:prstGeom>
          <a:noFill/>
        </p:spPr>
        <p:txBody>
          <a:bodyPr wrap="square">
            <a:spAutoFit/>
          </a:bodyPr>
          <a:lstStyle/>
          <a:p>
            <a:pPr algn="l">
              <a:lnSpc>
                <a:spcPct val="100000"/>
              </a:lnSpc>
            </a:pPr>
            <a:r>
              <a:rPr sz="1050" b="0">
                <a:solidFill>
                  <a:srgbClr val="F59E0B"/>
                </a:solidFill>
                <a:latin typeface="Consolas"/>
              </a:rPr>
              <a:t>Hasil</a:t>
            </a:r>
          </a:p>
        </p:txBody>
      </p:sp>
      <p:sp>
        <p:nvSpPr>
          <p:cNvPr id="8" name="TextBox 7"/>
          <p:cNvSpPr txBox="1"/>
          <p:nvPr/>
        </p:nvSpPr>
        <p:spPr>
          <a:xfrm>
            <a:off x="6690709" y="1618488"/>
            <a:ext cx="1653415" cy="274320"/>
          </a:xfrm>
          <a:prstGeom prst="rect">
            <a:avLst/>
          </a:prstGeom>
          <a:noFill/>
        </p:spPr>
        <p:txBody>
          <a:bodyPr wrap="square">
            <a:spAutoFit/>
          </a:bodyPr>
          <a:lstStyle/>
          <a:p>
            <a:pPr algn="l">
              <a:lnSpc>
                <a:spcPct val="100000"/>
              </a:lnSpc>
            </a:pPr>
            <a:r>
              <a:rPr sz="1050" b="0">
                <a:solidFill>
                  <a:srgbClr val="F59E0B"/>
                </a:solidFill>
                <a:latin typeface="Consolas"/>
              </a:rPr>
              <a:t>Target</a:t>
            </a:r>
          </a:p>
        </p:txBody>
      </p:sp>
      <p:sp>
        <p:nvSpPr>
          <p:cNvPr id="9" name="TextBox 8"/>
          <p:cNvSpPr txBox="1"/>
          <p:nvPr/>
        </p:nvSpPr>
        <p:spPr>
          <a:xfrm>
            <a:off x="8527004" y="1618488"/>
            <a:ext cx="3122451" cy="274320"/>
          </a:xfrm>
          <a:prstGeom prst="rect">
            <a:avLst/>
          </a:prstGeom>
          <a:noFill/>
        </p:spPr>
        <p:txBody>
          <a:bodyPr wrap="square">
            <a:spAutoFit/>
          </a:bodyPr>
          <a:lstStyle/>
          <a:p>
            <a:pPr algn="l">
              <a:lnSpc>
                <a:spcPct val="100000"/>
              </a:lnSpc>
            </a:pPr>
            <a:r>
              <a:rPr sz="1050" b="0">
                <a:solidFill>
                  <a:srgbClr val="F59E0B"/>
                </a:solidFill>
                <a:latin typeface="Consolas"/>
              </a:rPr>
              <a:t>Kesimpulan</a:t>
            </a:r>
          </a:p>
        </p:txBody>
      </p:sp>
      <p:sp>
        <p:nvSpPr>
          <p:cNvPr id="10" name="TextBox 9"/>
          <p:cNvSpPr txBox="1"/>
          <p:nvPr/>
        </p:nvSpPr>
        <p:spPr>
          <a:xfrm>
            <a:off x="630936" y="1993392"/>
            <a:ext cx="2755192" cy="310896"/>
          </a:xfrm>
          <a:prstGeom prst="rect">
            <a:avLst/>
          </a:prstGeom>
          <a:noFill/>
        </p:spPr>
        <p:txBody>
          <a:bodyPr wrap="square">
            <a:spAutoFit/>
          </a:bodyPr>
          <a:lstStyle/>
          <a:p>
            <a:pPr algn="l">
              <a:lnSpc>
                <a:spcPct val="100000"/>
              </a:lnSpc>
            </a:pPr>
            <a:r>
              <a:rPr sz="1150" b="0">
                <a:solidFill>
                  <a:srgbClr val="F8FAFC"/>
                </a:solidFill>
                <a:latin typeface="Segoe UI"/>
              </a:rPr>
              <a:t>Deteksi plat (YOLO)</a:t>
            </a:r>
          </a:p>
        </p:txBody>
      </p:sp>
      <p:sp>
        <p:nvSpPr>
          <p:cNvPr id="11" name="TextBox 10"/>
          <p:cNvSpPr txBox="1"/>
          <p:nvPr/>
        </p:nvSpPr>
        <p:spPr>
          <a:xfrm>
            <a:off x="3569008" y="1993392"/>
            <a:ext cx="2938821" cy="310896"/>
          </a:xfrm>
          <a:prstGeom prst="rect">
            <a:avLst/>
          </a:prstGeom>
          <a:noFill/>
        </p:spPr>
        <p:txBody>
          <a:bodyPr wrap="square">
            <a:spAutoFit/>
          </a:bodyPr>
          <a:lstStyle/>
          <a:p>
            <a:pPr algn="l">
              <a:lnSpc>
                <a:spcPct val="100000"/>
              </a:lnSpc>
            </a:pPr>
            <a:r>
              <a:rPr sz="1150" b="0">
                <a:solidFill>
                  <a:srgbClr val="A3AEC2"/>
                </a:solidFill>
                <a:latin typeface="Consolas"/>
              </a:rPr>
              <a:t>15/15 klip, rata-rata 0,87</a:t>
            </a:r>
          </a:p>
        </p:txBody>
      </p:sp>
      <p:sp>
        <p:nvSpPr>
          <p:cNvPr id="12" name="TextBox 11"/>
          <p:cNvSpPr txBox="1"/>
          <p:nvPr/>
        </p:nvSpPr>
        <p:spPr>
          <a:xfrm>
            <a:off x="6690709" y="1993392"/>
            <a:ext cx="1653415" cy="310896"/>
          </a:xfrm>
          <a:prstGeom prst="rect">
            <a:avLst/>
          </a:prstGeom>
          <a:noFill/>
        </p:spPr>
        <p:txBody>
          <a:bodyPr wrap="square">
            <a:spAutoFit/>
          </a:bodyPr>
          <a:lstStyle/>
          <a:p>
            <a:pPr algn="l">
              <a:lnSpc>
                <a:spcPct val="100000"/>
              </a:lnSpc>
            </a:pPr>
            <a:r>
              <a:rPr sz="1150" b="0">
                <a:solidFill>
                  <a:srgbClr val="A3AEC2"/>
                </a:solidFill>
                <a:latin typeface="Consolas"/>
              </a:rPr>
              <a:t>yolo_fps 20</a:t>
            </a:r>
          </a:p>
        </p:txBody>
      </p:sp>
      <p:sp>
        <p:nvSpPr>
          <p:cNvPr id="13" name="TextBox 12"/>
          <p:cNvSpPr txBox="1"/>
          <p:nvPr/>
        </p:nvSpPr>
        <p:spPr>
          <a:xfrm>
            <a:off x="8527004" y="1993392"/>
            <a:ext cx="3122451" cy="310896"/>
          </a:xfrm>
          <a:prstGeom prst="rect">
            <a:avLst/>
          </a:prstGeom>
          <a:noFill/>
        </p:spPr>
        <p:txBody>
          <a:bodyPr wrap="square">
            <a:spAutoFit/>
          </a:bodyPr>
          <a:lstStyle/>
          <a:p>
            <a:pPr algn="l">
              <a:lnSpc>
                <a:spcPct val="100000"/>
              </a:lnSpc>
            </a:pPr>
            <a:r>
              <a:rPr sz="1150" b="0">
                <a:solidFill>
                  <a:srgbClr val="A3AEC2"/>
                </a:solidFill>
                <a:latin typeface="Consolas"/>
              </a:rPr>
              <a:t>13–35 ms/frame = 30–75 fps</a:t>
            </a:r>
          </a:p>
        </p:txBody>
      </p:sp>
      <p:sp>
        <p:nvSpPr>
          <p:cNvPr id="14" name="TextBox 13"/>
          <p:cNvSpPr txBox="1"/>
          <p:nvPr/>
        </p:nvSpPr>
        <p:spPr>
          <a:xfrm>
            <a:off x="630936" y="2377440"/>
            <a:ext cx="2755192" cy="310896"/>
          </a:xfrm>
          <a:prstGeom prst="rect">
            <a:avLst/>
          </a:prstGeom>
          <a:noFill/>
        </p:spPr>
        <p:txBody>
          <a:bodyPr wrap="square">
            <a:spAutoFit/>
          </a:bodyPr>
          <a:lstStyle/>
          <a:p>
            <a:pPr algn="l">
              <a:lnSpc>
                <a:spcPct val="100000"/>
              </a:lnSpc>
            </a:pPr>
            <a:r>
              <a:rPr sz="1150" b="0">
                <a:solidFill>
                  <a:srgbClr val="F8FAFC"/>
                </a:solidFill>
                <a:latin typeface="Segoe UI"/>
              </a:rPr>
              <a:t>Pembacaan (tiny)</a:t>
            </a:r>
          </a:p>
        </p:txBody>
      </p:sp>
      <p:sp>
        <p:nvSpPr>
          <p:cNvPr id="15" name="TextBox 14"/>
          <p:cNvSpPr txBox="1"/>
          <p:nvPr/>
        </p:nvSpPr>
        <p:spPr>
          <a:xfrm>
            <a:off x="3569008" y="2377440"/>
            <a:ext cx="2938821" cy="310896"/>
          </a:xfrm>
          <a:prstGeom prst="rect">
            <a:avLst/>
          </a:prstGeom>
          <a:noFill/>
        </p:spPr>
        <p:txBody>
          <a:bodyPr wrap="square">
            <a:spAutoFit/>
          </a:bodyPr>
          <a:lstStyle/>
          <a:p>
            <a:pPr algn="l">
              <a:lnSpc>
                <a:spcPct val="100000"/>
              </a:lnSpc>
            </a:pPr>
            <a:r>
              <a:rPr sz="1150" b="0">
                <a:solidFill>
                  <a:srgbClr val="A3AEC2"/>
                </a:solidFill>
                <a:latin typeface="Consolas"/>
              </a:rPr>
              <a:t>12/13 klip terbaca benar</a:t>
            </a:r>
          </a:p>
        </p:txBody>
      </p:sp>
      <p:sp>
        <p:nvSpPr>
          <p:cNvPr id="16" name="TextBox 15"/>
          <p:cNvSpPr txBox="1"/>
          <p:nvPr/>
        </p:nvSpPr>
        <p:spPr>
          <a:xfrm>
            <a:off x="6690709" y="2377440"/>
            <a:ext cx="1653415" cy="310896"/>
          </a:xfrm>
          <a:prstGeom prst="rect">
            <a:avLst/>
          </a:prstGeom>
          <a:noFill/>
        </p:spPr>
        <p:txBody>
          <a:bodyPr wrap="square">
            <a:spAutoFit/>
          </a:bodyPr>
          <a:lstStyle/>
          <a:p>
            <a:pPr algn="l">
              <a:lnSpc>
                <a:spcPct val="100000"/>
              </a:lnSpc>
            </a:pPr>
            <a:r>
              <a:rPr sz="1150" b="0">
                <a:solidFill>
                  <a:srgbClr val="A3AEC2"/>
                </a:solidFill>
                <a:latin typeface="Consolas"/>
              </a:rPr>
              <a:t>—</a:t>
            </a:r>
          </a:p>
        </p:txBody>
      </p:sp>
      <p:sp>
        <p:nvSpPr>
          <p:cNvPr id="17" name="TextBox 16"/>
          <p:cNvSpPr txBox="1"/>
          <p:nvPr/>
        </p:nvSpPr>
        <p:spPr>
          <a:xfrm>
            <a:off x="8527004" y="2377440"/>
            <a:ext cx="3122451" cy="310896"/>
          </a:xfrm>
          <a:prstGeom prst="rect">
            <a:avLst/>
          </a:prstGeom>
          <a:noFill/>
        </p:spPr>
        <p:txBody>
          <a:bodyPr wrap="square">
            <a:spAutoFit/>
          </a:bodyPr>
          <a:lstStyle/>
          <a:p>
            <a:pPr algn="l">
              <a:lnSpc>
                <a:spcPct val="100000"/>
              </a:lnSpc>
            </a:pPr>
            <a:r>
              <a:rPr sz="1150" b="0">
                <a:solidFill>
                  <a:srgbClr val="A3AEC2"/>
                </a:solidFill>
                <a:latin typeface="Consolas"/>
              </a:rPr>
              <a:t>1 gagal, di plat kontras rendah</a:t>
            </a:r>
          </a:p>
        </p:txBody>
      </p:sp>
      <p:sp>
        <p:nvSpPr>
          <p:cNvPr id="18" name="TextBox 17"/>
          <p:cNvSpPr txBox="1"/>
          <p:nvPr/>
        </p:nvSpPr>
        <p:spPr>
          <a:xfrm>
            <a:off x="630936" y="2761488"/>
            <a:ext cx="2755192" cy="310896"/>
          </a:xfrm>
          <a:prstGeom prst="rect">
            <a:avLst/>
          </a:prstGeom>
          <a:noFill/>
        </p:spPr>
        <p:txBody>
          <a:bodyPr wrap="square">
            <a:spAutoFit/>
          </a:bodyPr>
          <a:lstStyle/>
          <a:p>
            <a:pPr algn="l">
              <a:lnSpc>
                <a:spcPct val="100000"/>
              </a:lnSpc>
            </a:pPr>
            <a:r>
              <a:rPr sz="1150" b="0">
                <a:solidFill>
                  <a:srgbClr val="F8FAFC"/>
                </a:solidFill>
                <a:latin typeface="Segoe UI"/>
              </a:rPr>
              <a:t>Pembacaan (VL)</a:t>
            </a:r>
          </a:p>
        </p:txBody>
      </p:sp>
      <p:sp>
        <p:nvSpPr>
          <p:cNvPr id="19" name="TextBox 18"/>
          <p:cNvSpPr txBox="1"/>
          <p:nvPr/>
        </p:nvSpPr>
        <p:spPr>
          <a:xfrm>
            <a:off x="3569008" y="2761488"/>
            <a:ext cx="2938821" cy="310896"/>
          </a:xfrm>
          <a:prstGeom prst="rect">
            <a:avLst/>
          </a:prstGeom>
          <a:noFill/>
        </p:spPr>
        <p:txBody>
          <a:bodyPr wrap="square">
            <a:spAutoFit/>
          </a:bodyPr>
          <a:lstStyle/>
          <a:p>
            <a:pPr algn="l">
              <a:lnSpc>
                <a:spcPct val="100000"/>
              </a:lnSpc>
            </a:pPr>
            <a:r>
              <a:rPr sz="1150" b="0">
                <a:solidFill>
                  <a:srgbClr val="A3AEC2"/>
                </a:solidFill>
                <a:latin typeface="Consolas"/>
              </a:rPr>
              <a:t>13/13 klip terbaca benar</a:t>
            </a:r>
          </a:p>
        </p:txBody>
      </p:sp>
      <p:sp>
        <p:nvSpPr>
          <p:cNvPr id="20" name="TextBox 19"/>
          <p:cNvSpPr txBox="1"/>
          <p:nvPr/>
        </p:nvSpPr>
        <p:spPr>
          <a:xfrm>
            <a:off x="6690709" y="2761488"/>
            <a:ext cx="1653415" cy="310896"/>
          </a:xfrm>
          <a:prstGeom prst="rect">
            <a:avLst/>
          </a:prstGeom>
          <a:noFill/>
        </p:spPr>
        <p:txBody>
          <a:bodyPr wrap="square">
            <a:spAutoFit/>
          </a:bodyPr>
          <a:lstStyle/>
          <a:p>
            <a:pPr algn="l">
              <a:lnSpc>
                <a:spcPct val="100000"/>
              </a:lnSpc>
            </a:pPr>
            <a:r>
              <a:rPr sz="1150" b="0">
                <a:solidFill>
                  <a:srgbClr val="A3AEC2"/>
                </a:solidFill>
                <a:latin typeface="Consolas"/>
              </a:rPr>
              <a:t>—</a:t>
            </a:r>
          </a:p>
        </p:txBody>
      </p:sp>
      <p:sp>
        <p:nvSpPr>
          <p:cNvPr id="21" name="TextBox 20"/>
          <p:cNvSpPr txBox="1"/>
          <p:nvPr/>
        </p:nvSpPr>
        <p:spPr>
          <a:xfrm>
            <a:off x="8527004" y="2761488"/>
            <a:ext cx="3122451" cy="310896"/>
          </a:xfrm>
          <a:prstGeom prst="rect">
            <a:avLst/>
          </a:prstGeom>
          <a:noFill/>
        </p:spPr>
        <p:txBody>
          <a:bodyPr wrap="square">
            <a:spAutoFit/>
          </a:bodyPr>
          <a:lstStyle/>
          <a:p>
            <a:pPr algn="l">
              <a:lnSpc>
                <a:spcPct val="100000"/>
              </a:lnSpc>
            </a:pPr>
            <a:r>
              <a:rPr sz="1150" b="0">
                <a:solidFill>
                  <a:srgbClr val="A3AEC2"/>
                </a:solidFill>
                <a:latin typeface="Consolas"/>
              </a:rPr>
              <a:t>menang di plat yang sulit itu</a:t>
            </a:r>
          </a:p>
        </p:txBody>
      </p:sp>
      <p:sp>
        <p:nvSpPr>
          <p:cNvPr id="22" name="TextBox 21"/>
          <p:cNvSpPr txBox="1"/>
          <p:nvPr/>
        </p:nvSpPr>
        <p:spPr>
          <a:xfrm>
            <a:off x="630936" y="3145536"/>
            <a:ext cx="2755192" cy="310896"/>
          </a:xfrm>
          <a:prstGeom prst="rect">
            <a:avLst/>
          </a:prstGeom>
          <a:noFill/>
        </p:spPr>
        <p:txBody>
          <a:bodyPr wrap="square">
            <a:spAutoFit/>
          </a:bodyPr>
          <a:lstStyle/>
          <a:p>
            <a:pPr algn="l">
              <a:lnSpc>
                <a:spcPct val="100000"/>
              </a:lnSpc>
            </a:pPr>
            <a:r>
              <a:rPr sz="1150" b="0">
                <a:solidFill>
                  <a:srgbClr val="F8FAFC"/>
                </a:solidFill>
                <a:latin typeface="Segoe UI"/>
              </a:rPr>
              <a:t>Klip tak terbaca</a:t>
            </a:r>
          </a:p>
        </p:txBody>
      </p:sp>
      <p:sp>
        <p:nvSpPr>
          <p:cNvPr id="23" name="TextBox 22"/>
          <p:cNvSpPr txBox="1"/>
          <p:nvPr/>
        </p:nvSpPr>
        <p:spPr>
          <a:xfrm>
            <a:off x="3569008" y="3145536"/>
            <a:ext cx="2938821" cy="310896"/>
          </a:xfrm>
          <a:prstGeom prst="rect">
            <a:avLst/>
          </a:prstGeom>
          <a:noFill/>
        </p:spPr>
        <p:txBody>
          <a:bodyPr wrap="square">
            <a:spAutoFit/>
          </a:bodyPr>
          <a:lstStyle/>
          <a:p>
            <a:pPr algn="l">
              <a:lnSpc>
                <a:spcPct val="100000"/>
              </a:lnSpc>
            </a:pPr>
            <a:r>
              <a:rPr sz="1150" b="0">
                <a:solidFill>
                  <a:srgbClr val="A3AEC2"/>
                </a:solidFill>
                <a:latin typeface="Consolas"/>
              </a:rPr>
              <a:t>1 klip (640×352, kabur)</a:t>
            </a:r>
          </a:p>
        </p:txBody>
      </p:sp>
      <p:sp>
        <p:nvSpPr>
          <p:cNvPr id="24" name="TextBox 23"/>
          <p:cNvSpPr txBox="1"/>
          <p:nvPr/>
        </p:nvSpPr>
        <p:spPr>
          <a:xfrm>
            <a:off x="6690709" y="3145536"/>
            <a:ext cx="1653415" cy="310896"/>
          </a:xfrm>
          <a:prstGeom prst="rect">
            <a:avLst/>
          </a:prstGeom>
          <a:noFill/>
        </p:spPr>
        <p:txBody>
          <a:bodyPr wrap="square">
            <a:spAutoFit/>
          </a:bodyPr>
          <a:lstStyle/>
          <a:p>
            <a:pPr algn="l">
              <a:lnSpc>
                <a:spcPct val="100000"/>
              </a:lnSpc>
            </a:pPr>
            <a:r>
              <a:rPr sz="1150" b="0">
                <a:solidFill>
                  <a:srgbClr val="A3AEC2"/>
                </a:solidFill>
                <a:latin typeface="Consolas"/>
              </a:rPr>
              <a:t>—</a:t>
            </a:r>
          </a:p>
        </p:txBody>
      </p:sp>
      <p:sp>
        <p:nvSpPr>
          <p:cNvPr id="25" name="TextBox 24"/>
          <p:cNvSpPr txBox="1"/>
          <p:nvPr/>
        </p:nvSpPr>
        <p:spPr>
          <a:xfrm>
            <a:off x="8527004" y="3145536"/>
            <a:ext cx="3122451" cy="310896"/>
          </a:xfrm>
          <a:prstGeom prst="rect">
            <a:avLst/>
          </a:prstGeom>
          <a:noFill/>
        </p:spPr>
        <p:txBody>
          <a:bodyPr wrap="square">
            <a:spAutoFit/>
          </a:bodyPr>
          <a:lstStyle/>
          <a:p>
            <a:pPr algn="l">
              <a:lnSpc>
                <a:spcPct val="100000"/>
              </a:lnSpc>
            </a:pPr>
            <a:r>
              <a:rPr sz="1150" b="0">
                <a:solidFill>
                  <a:srgbClr val="A3AEC2"/>
                </a:solidFill>
                <a:latin typeface="Consolas"/>
              </a:rPr>
              <a:t>ditolak dengan benar</a:t>
            </a:r>
          </a:p>
        </p:txBody>
      </p:sp>
      <p:sp>
        <p:nvSpPr>
          <p:cNvPr id="26" name="TextBox 25"/>
          <p:cNvSpPr txBox="1"/>
          <p:nvPr/>
        </p:nvSpPr>
        <p:spPr>
          <a:xfrm>
            <a:off x="502920" y="3758183"/>
            <a:ext cx="11155680" cy="914400"/>
          </a:xfrm>
          <a:prstGeom prst="rect">
            <a:avLst/>
          </a:prstGeom>
          <a:noFill/>
        </p:spPr>
        <p:txBody>
          <a:bodyPr wrap="square">
            <a:spAutoFit/>
          </a:bodyPr>
          <a:lstStyle/>
          <a:p>
            <a:pPr algn="l">
              <a:lnSpc>
                <a:spcPct val="140000"/>
              </a:lnSpc>
            </a:pPr>
            <a:r>
              <a:rPr sz="1150" b="0">
                <a:solidFill>
                  <a:srgbClr val="F59E0B"/>
                </a:solidFill>
                <a:latin typeface="Segoe UI"/>
              </a:rPr>
              <a:t>Satu kegagalan itu justru hasil yang menenangkan: plat sebenarnya 5806, terbaca J808 — tapi dengan porsi suara 0,29 dari biasanya 1,00. Jadi muncul sebagai bacaan berkeyakinan rendah yang bisa ditinjau, bukan jawaban salah yang terlihat yakin.</a:t>
            </a:r>
          </a:p>
          <a:p>
            <a:pPr algn="l">
              <a:lnSpc>
                <a:spcPct val="140000"/>
              </a:lnSpc>
            </a:pPr>
            <a:r>
              <a:rPr sz="1150" b="0">
                <a:solidFill>
                  <a:srgbClr val="F59E0B"/>
                </a:solidFill>
                <a:latin typeface="Segoe UI"/>
              </a:rPr>
              <a:t>Catatan penting: ini klip YouTube, nomornya tidak ada di master 276 unit — mengukur pembacaan, bukan identifikasi. Dan belum diukur di Orin Nano Super yang sebenarnya.</a:t>
            </a:r>
          </a:p>
          <a:p>
            <a:pPr algn="l">
              <a:lnSpc>
                <a:spcPct val="140000"/>
              </a:lnSpc>
            </a:pPr>
            <a:r>
              <a:rPr sz="1150" b="0">
                <a:solidFill>
                  <a:srgbClr val="F59E0B"/>
                </a:solidFill>
                <a:latin typeface="Segoe UI"/>
              </a:rPr>
              <a:t>Angka lama "12–15 detik per potongan, 50× terlalu lambat" ternyata hasil CPU saja; di GPU 0,5 detik. Sudah dikoreksi di docs/edge-system/PRD.md §8.</a:t>
            </a:r>
          </a:p>
        </p:txBody>
      </p:sp>
      <p:sp>
        <p:nvSpPr>
          <p:cNvPr id="27" name="TextBox 26"/>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28" name="TextBox 27"/>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01  ·  KONSOL GATE</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Konsol Gate Dibangun Ulang</a:t>
            </a:r>
          </a:p>
        </p:txBody>
      </p:sp>
      <p:sp>
        <p:nvSpPr>
          <p:cNvPr id="5" name="Rounded Rectangle 4"/>
          <p:cNvSpPr/>
          <p:nvPr/>
        </p:nvSpPr>
        <p:spPr>
          <a:xfrm>
            <a:off x="466344" y="1371600"/>
            <a:ext cx="7534656" cy="3456525"/>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gate-a-detail-on.jpg"/>
          <p:cNvPicPr>
            <a:picLocks noChangeAspect="1"/>
          </p:cNvPicPr>
          <p:nvPr/>
        </p:nvPicPr>
        <p:blipFill>
          <a:blip r:embed="rId2"/>
          <a:stretch>
            <a:fillRect/>
          </a:stretch>
        </p:blipFill>
        <p:spPr>
          <a:xfrm>
            <a:off x="502920" y="1408176"/>
            <a:ext cx="7461504" cy="3383373"/>
          </a:xfrm>
          <a:prstGeom prst="rect">
            <a:avLst/>
          </a:prstGeom>
        </p:spPr>
      </p:pic>
      <p:sp>
        <p:nvSpPr>
          <p:cNvPr id="7" name="TextBox 6"/>
          <p:cNvSpPr txBox="1"/>
          <p:nvPr/>
        </p:nvSpPr>
        <p:spPr>
          <a:xfrm>
            <a:off x="502920" y="4882989"/>
            <a:ext cx="7461504" cy="274320"/>
          </a:xfrm>
          <a:prstGeom prst="rect">
            <a:avLst/>
          </a:prstGeom>
          <a:noFill/>
        </p:spPr>
        <p:txBody>
          <a:bodyPr wrap="square">
            <a:spAutoFit/>
          </a:bodyPr>
          <a:lstStyle/>
          <a:p>
            <a:pPr algn="l">
              <a:lnSpc>
                <a:spcPct val="100000"/>
              </a:lnSpc>
            </a:pPr>
            <a:r>
              <a:rPr sz="950" b="0">
                <a:solidFill>
                  <a:srgbClr val="6B7688"/>
                </a:solidFill>
                <a:latin typeface="Consolas"/>
              </a:rPr>
              <a:t>Detail: ON — tampilan diagnosa</a:t>
            </a:r>
          </a:p>
        </p:txBody>
      </p:sp>
      <p:sp>
        <p:nvSpPr>
          <p:cNvPr id="8" name="TextBox 7"/>
          <p:cNvSpPr txBox="1"/>
          <p:nvPr/>
        </p:nvSpPr>
        <p:spPr>
          <a:xfrm>
            <a:off x="8247888" y="1481328"/>
            <a:ext cx="3456432" cy="4206240"/>
          </a:xfrm>
          <a:prstGeom prst="rect">
            <a:avLst/>
          </a:prstGeom>
          <a:noFill/>
        </p:spPr>
        <p:txBody>
          <a:bodyPr wrap="square">
            <a:spAutoFit/>
          </a:bodyPr>
          <a:lstStyle/>
          <a:p>
            <a:pPr algn="l">
              <a:lnSpc>
                <a:spcPct val="145000"/>
              </a:lnSpc>
            </a:pPr>
            <a:r>
              <a:rPr sz="1150" b="0">
                <a:solidFill>
                  <a:srgbClr val="F59E0B"/>
                </a:solidFill>
                <a:latin typeface="Segoe UI"/>
              </a:rPr>
              <a:t>▪  Tata letak mengikuti sample-ui.mp4; warna, kaca dan tipografi memakai token yang sama dengan konsol pusat.</a:t>
            </a:r>
          </a:p>
          <a:p>
            <a:pPr algn="l">
              <a:lnSpc>
                <a:spcPct val="145000"/>
              </a:lnSpc>
            </a:pPr>
            <a:r>
              <a:rPr sz="1150" b="0">
                <a:solidFill>
                  <a:srgbClr val="F59E0B"/>
                </a:solidFill>
                <a:latin typeface="Segoe UI"/>
              </a:rPr>
              <a:t>▪  Kiri: lintasan dengan potongan gambarnya. Tengah: tayangan + kotak. Bawah: potongan yang dipakai membaca. Kanan: nomor diperbesar + voting. Bawah: kesehatan perangkat.</a:t>
            </a:r>
          </a:p>
          <a:p>
            <a:pPr algn="l">
              <a:lnSpc>
                <a:spcPct val="145000"/>
              </a:lnSpc>
            </a:pPr>
            <a:r>
              <a:rPr sz="1150" b="0">
                <a:solidFill>
                  <a:srgbClr val="F59E0B"/>
                </a:solidFill>
                <a:latin typeface="Segoe UI"/>
              </a:rPr>
              <a:t>▪  Tidak ada yang dibuang: kartu kesehatan jadi strip bawah, pengaturan dan uji pencocokan masuk drawer, rincian voting dibuka dari daftar kiri.</a:t>
            </a:r>
          </a:p>
          <a:p>
            <a:pPr algn="l">
              <a:lnSpc>
                <a:spcPct val="145000"/>
              </a:lnSpc>
            </a:pPr>
            <a:r>
              <a:rPr sz="1150" b="0">
                <a:solidFill>
                  <a:srgbClr val="F59E0B"/>
                </a:solidFill>
                <a:latin typeface="Segoe UI"/>
              </a:rPr>
              <a:t>▪  Endpoint baru: GET /api/live/state, /api/live/crops/{track}/{index}, /api/live/stream (MJPEG), POST /api/live/reset.</a:t>
            </a:r>
          </a:p>
          <a:p>
            <a:pPr algn="l">
              <a:lnSpc>
                <a:spcPct val="145000"/>
              </a:lnSpc>
            </a:pPr>
            <a:r>
              <a:rPr sz="1150" b="0">
                <a:solidFill>
                  <a:srgbClr val="F59E0B"/>
                </a:solidFill>
                <a:latin typeface="Segoe UI"/>
              </a:rPr>
              <a:t>▪  Jejak = jendela deteksi, jadi potongan berlabel T#7 C#3 bisa dilacak ke voting yang tepat.</a:t>
            </a:r>
          </a:p>
        </p:txBody>
      </p:sp>
      <p:sp>
        <p:nvSpPr>
          <p:cNvPr id="9" name="TextBox 8"/>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10" name="TextBox 9"/>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02  ·  ARAH GATE</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Pusat yang Memiliki Arah, Edge yang Belajar</a:t>
            </a:r>
          </a:p>
        </p:txBody>
      </p:sp>
      <p:sp>
        <p:nvSpPr>
          <p:cNvPr id="5" name="Rounded Rectangle 4"/>
          <p:cNvSpPr/>
          <p:nvPr/>
        </p:nvSpPr>
        <p:spPr>
          <a:xfrm>
            <a:off x="50292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Rantainya</a:t>
            </a:r>
          </a:p>
        </p:txBody>
      </p:sp>
      <p:sp>
        <p:nvSpPr>
          <p:cNvPr id="7" name="TextBox 6"/>
          <p:cNvSpPr txBox="1"/>
          <p:nvPr/>
        </p:nvSpPr>
        <p:spPr>
          <a:xfrm>
            <a:off x="740664"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cameras.direction di pusat adalah pemiliknya. GET /api/edge/config mengirimkannya, edge menyimpannya di meta gate_direction agar tetap tahu arah saat jaringan mati. Terverifikasi: Gate A masuk, Gate B keluar, 276 unit master direplikasi saat boot.</a:t>
            </a:r>
          </a:p>
        </p:txBody>
      </p:sp>
      <p:sp>
        <p:nvSpPr>
          <p:cNvPr id="8" name="Rounded Rectangle 7"/>
          <p:cNvSpPr/>
          <p:nvPr/>
        </p:nvSpPr>
        <p:spPr>
          <a:xfrm>
            <a:off x="626364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3"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Bug 1 — klip hilang</a:t>
            </a:r>
          </a:p>
        </p:txBody>
      </p:sp>
      <p:sp>
        <p:nvSpPr>
          <p:cNvPr id="10" name="TextBox 9"/>
          <p:cNvSpPr txBox="1"/>
          <p:nvPr/>
        </p:nvSpPr>
        <p:spPr>
          <a:xfrm>
            <a:off x="6501383"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list_clips mewajibkan penanda IN/OUT di nama berkas. Begitu gate tahu arahnya, folder rekaman tanpa penanda jadi "Semua klip (0)" tanpa penjelasan. Sekarang klip disembunyikan hanya kalau namanya mengklaim arah sebaliknya.</a:t>
            </a:r>
          </a:p>
        </p:txBody>
      </p:sp>
      <p:sp>
        <p:nvSpPr>
          <p:cNvPr id="11" name="Rounded Rectangle 10"/>
          <p:cNvSpPr/>
          <p:nvPr/>
        </p:nvSpPr>
        <p:spPr>
          <a:xfrm>
            <a:off x="50292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Bug 2 — pusat dilaporkan terputus</a:t>
            </a:r>
          </a:p>
        </p:txBody>
      </p:sp>
      <p:sp>
        <p:nvSpPr>
          <p:cNvPr id="13" name="TextBox 12"/>
          <p:cNvSpPr txBox="1"/>
          <p:nvPr/>
        </p:nvSpPr>
        <p:spPr>
          <a:xfrm>
            <a:off x="740664"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core_reachable dipaku false tanpa agent, jadi layar bilang "Terputus" pada perangkat yang baru saja mengambil config dari pusat. Sekarang jatuh ke waktu kontak terakhir; /api/status juga mengembalikan core_last_contact.</a:t>
            </a:r>
          </a:p>
        </p:txBody>
      </p:sp>
      <p:sp>
        <p:nvSpPr>
          <p:cNvPr id="14" name="Rounded Rectangle 13"/>
          <p:cNvSpPr/>
          <p:nvPr/>
        </p:nvSpPr>
        <p:spPr>
          <a:xfrm>
            <a:off x="626364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3"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Bug 3 — master tidak direplikasi</a:t>
            </a:r>
          </a:p>
        </p:txBody>
      </p:sp>
      <p:sp>
        <p:nvSpPr>
          <p:cNvPr id="16" name="TextBox 15"/>
          <p:cNvSpPr txBox="1"/>
          <p:nvPr/>
        </p:nvSpPr>
        <p:spPr>
          <a:xfrm>
            <a:off x="6501383"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Tanpa agent, konsol baru menunjukkan 0 unit — dan dengan roster kosong setiap bacaan jadi UNKNOWN sebagus apa pun pembacaannya. _learn_gate_direction menjadi _sync_from_core dan ikut menarik roster.</a:t>
            </a:r>
          </a:p>
        </p:txBody>
      </p:sp>
      <p:sp>
        <p:nvSpPr>
          <p:cNvPr id="17" name="TextBox 16"/>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18" name="TextBox 17"/>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03  ·  RITASE</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Angkanya Tidak Pernah Sampai ke Pusat</a:t>
            </a:r>
          </a:p>
        </p:txBody>
      </p:sp>
      <p:sp>
        <p:nvSpPr>
          <p:cNvPr id="5" name="Rounded Rectangle 4"/>
          <p:cNvSpPr/>
          <p:nvPr/>
        </p:nvSpPr>
        <p:spPr>
          <a:xfrm>
            <a:off x="50292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Bug intinya</a:t>
            </a:r>
          </a:p>
        </p:txBody>
      </p:sp>
      <p:sp>
        <p:nvSpPr>
          <p:cNvPr id="7" name="TextBox 6"/>
          <p:cNvSpPr txBox="1"/>
          <p:nvPr/>
        </p:nvSpPr>
        <p:spPr>
          <a:xfrm>
            <a:off x="740664"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Edge mencocokkan ke replika miliknya sendiri lalu mengirim hull_id = "UNKNOWN" bila gagal. Angkanya dibuang di gerbang. Truk yang benar ada di lokasi tapi tidak terdaftar sampai ke pusat sebagai UNKNOWN anonim — tak bisa dibedakan dari jendela yang tidak membaca apa pun.</a:t>
            </a:r>
          </a:p>
        </p:txBody>
      </p:sp>
      <p:sp>
        <p:nvSpPr>
          <p:cNvPr id="8" name="Rounded Rectangle 7"/>
          <p:cNvSpPr/>
          <p:nvPr/>
        </p:nvSpPr>
        <p:spPr>
          <a:xfrm>
            <a:off x="626364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3"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Akibat kedua: match_outbound jadi kode mati</a:t>
            </a:r>
          </a:p>
        </p:txBody>
      </p:sp>
      <p:sp>
        <p:nvSpPr>
          <p:cNvPr id="10" name="TextBox 9"/>
          <p:cNvSpPr txBox="1"/>
          <p:nvPr/>
        </p:nvSpPr>
        <p:spPr>
          <a:xfrm>
            <a:off x="6501383"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Fungsi itu mempersempit kandidat ke truk yang sedang di dalam pit, justru supaya bacaan yang ambigu terhadap 276 unit terselesaikan terhadap segelintir yang di dalam. Tapi ia selalu menerima string "UNKNOWN", yang tidak mungkin cocok.</a:t>
            </a:r>
          </a:p>
        </p:txBody>
      </p:sp>
      <p:sp>
        <p:nvSpPr>
          <p:cNvPr id="11" name="Rounded Rectangle 10"/>
          <p:cNvSpPr/>
          <p:nvPr/>
        </p:nvSpPr>
        <p:spPr>
          <a:xfrm>
            <a:off x="50292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Perbaikan</a:t>
            </a:r>
          </a:p>
        </p:txBody>
      </p:sp>
      <p:sp>
        <p:nvSpPr>
          <p:cNvPr id="13" name="TextBox 12"/>
          <p:cNvSpPr txBox="1"/>
          <p:nvPr/>
        </p:nvSpPr>
        <p:spPr>
          <a:xfrm>
            <a:off x="740664"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raw_code ditambahkan ke CrossingPayload (opsional, jadi firmware lama tetap mengirim). edge_ingest.record_crossing mencocokkan dengan angka mentah bila hull_id UNKNOWN, lalu jatuh ke unregistered_hull().</a:t>
            </a:r>
          </a:p>
        </p:txBody>
      </p:sp>
      <p:sp>
        <p:nvSpPr>
          <p:cNvPr id="14" name="Rounded Rectangle 13"/>
          <p:cNvSpPr/>
          <p:nvPr/>
        </p:nvSpPr>
        <p:spPr>
          <a:xfrm>
            <a:off x="626364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3"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known vs registered</a:t>
            </a:r>
          </a:p>
        </p:txBody>
      </p:sp>
      <p:sp>
        <p:nvSpPr>
          <p:cNvPr id="16" name="TextBox 15"/>
          <p:cNvSpPr txBox="1"/>
          <p:nvPr/>
        </p:nvSpPr>
        <p:spPr>
          <a:xfrm>
            <a:off x="6501383"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known = ada angka terbaca. registered = angka itu unit di master. Keduanya berbeda untuk truk yang terbaca yakin tapi tidak terdaftar. Hanya yang registered mengisi tampilan armada — agar mencatat truk asing tidak diam-diam menambah roster.</a:t>
            </a:r>
          </a:p>
        </p:txBody>
      </p:sp>
      <p:sp>
        <p:nvSpPr>
          <p:cNvPr id="17" name="TextBox 16"/>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18" name="TextBox 17"/>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03  ·  AMBANG</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Kapan Truk Belum Terdaftar Dicatat dengan Nomornya</a:t>
            </a:r>
          </a:p>
        </p:txBody>
      </p:sp>
      <p:sp>
        <p:nvSpPr>
          <p:cNvPr id="5" name="Rectangle 4"/>
          <p:cNvSpPr/>
          <p:nvPr/>
        </p:nvSpPr>
        <p:spPr>
          <a:xfrm>
            <a:off x="502920" y="1554480"/>
            <a:ext cx="11201400" cy="384048"/>
          </a:xfrm>
          <a:prstGeom prst="rect">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618488"/>
            <a:ext cx="2571562" cy="274320"/>
          </a:xfrm>
          <a:prstGeom prst="rect">
            <a:avLst/>
          </a:prstGeom>
          <a:noFill/>
        </p:spPr>
        <p:txBody>
          <a:bodyPr wrap="square">
            <a:spAutoFit/>
          </a:bodyPr>
          <a:lstStyle/>
          <a:p>
            <a:pPr algn="l">
              <a:lnSpc>
                <a:spcPct val="100000"/>
              </a:lnSpc>
            </a:pPr>
            <a:r>
              <a:rPr sz="1050" b="0">
                <a:solidFill>
                  <a:srgbClr val="F59E0B"/>
                </a:solidFill>
                <a:latin typeface="Consolas"/>
              </a:rPr>
              <a:t>Syarat</a:t>
            </a:r>
          </a:p>
        </p:txBody>
      </p:sp>
      <p:sp>
        <p:nvSpPr>
          <p:cNvPr id="7" name="TextBox 6"/>
          <p:cNvSpPr txBox="1"/>
          <p:nvPr/>
        </p:nvSpPr>
        <p:spPr>
          <a:xfrm>
            <a:off x="3385378" y="1618488"/>
            <a:ext cx="2204303" cy="274320"/>
          </a:xfrm>
          <a:prstGeom prst="rect">
            <a:avLst/>
          </a:prstGeom>
          <a:noFill/>
        </p:spPr>
        <p:txBody>
          <a:bodyPr wrap="square">
            <a:spAutoFit/>
          </a:bodyPr>
          <a:lstStyle/>
          <a:p>
            <a:pPr algn="l">
              <a:lnSpc>
                <a:spcPct val="100000"/>
              </a:lnSpc>
            </a:pPr>
            <a:r>
              <a:rPr sz="1050" b="0">
                <a:solidFill>
                  <a:srgbClr val="F59E0B"/>
                </a:solidFill>
                <a:latin typeface="Consolas"/>
              </a:rPr>
              <a:t>Nilai</a:t>
            </a:r>
          </a:p>
        </p:txBody>
      </p:sp>
      <p:sp>
        <p:nvSpPr>
          <p:cNvPr id="8" name="TextBox 7"/>
          <p:cNvSpPr txBox="1"/>
          <p:nvPr/>
        </p:nvSpPr>
        <p:spPr>
          <a:xfrm>
            <a:off x="5772562" y="1618488"/>
            <a:ext cx="5876893" cy="274320"/>
          </a:xfrm>
          <a:prstGeom prst="rect">
            <a:avLst/>
          </a:prstGeom>
          <a:noFill/>
        </p:spPr>
        <p:txBody>
          <a:bodyPr wrap="square">
            <a:spAutoFit/>
          </a:bodyPr>
          <a:lstStyle/>
          <a:p>
            <a:pPr algn="l">
              <a:lnSpc>
                <a:spcPct val="100000"/>
              </a:lnSpc>
            </a:pPr>
            <a:r>
              <a:rPr sz="1050" b="0">
                <a:solidFill>
                  <a:srgbClr val="F59E0B"/>
                </a:solidFill>
                <a:latin typeface="Consolas"/>
              </a:rPr>
              <a:t>Alasan</a:t>
            </a:r>
          </a:p>
        </p:txBody>
      </p:sp>
      <p:sp>
        <p:nvSpPr>
          <p:cNvPr id="9" name="TextBox 8"/>
          <p:cNvSpPr txBox="1"/>
          <p:nvPr/>
        </p:nvSpPr>
        <p:spPr>
          <a:xfrm>
            <a:off x="630936" y="1993392"/>
            <a:ext cx="2571562" cy="310896"/>
          </a:xfrm>
          <a:prstGeom prst="rect">
            <a:avLst/>
          </a:prstGeom>
          <a:noFill/>
        </p:spPr>
        <p:txBody>
          <a:bodyPr wrap="square">
            <a:spAutoFit/>
          </a:bodyPr>
          <a:lstStyle/>
          <a:p>
            <a:pPr algn="l">
              <a:lnSpc>
                <a:spcPct val="100000"/>
              </a:lnSpc>
            </a:pPr>
            <a:r>
              <a:rPr sz="1150" b="0">
                <a:solidFill>
                  <a:srgbClr val="F8FAFC"/>
                </a:solidFill>
                <a:latin typeface="Segoe UI"/>
              </a:rPr>
              <a:t>Panjang kode</a:t>
            </a:r>
          </a:p>
        </p:txBody>
      </p:sp>
      <p:sp>
        <p:nvSpPr>
          <p:cNvPr id="10" name="TextBox 9"/>
          <p:cNvSpPr txBox="1"/>
          <p:nvPr/>
        </p:nvSpPr>
        <p:spPr>
          <a:xfrm>
            <a:off x="3385378" y="1993392"/>
            <a:ext cx="2204303" cy="310896"/>
          </a:xfrm>
          <a:prstGeom prst="rect">
            <a:avLst/>
          </a:prstGeom>
          <a:noFill/>
        </p:spPr>
        <p:txBody>
          <a:bodyPr wrap="square">
            <a:spAutoFit/>
          </a:bodyPr>
          <a:lstStyle/>
          <a:p>
            <a:pPr algn="l">
              <a:lnSpc>
                <a:spcPct val="100000"/>
              </a:lnSpc>
            </a:pPr>
            <a:r>
              <a:rPr sz="1150" b="0">
                <a:solidFill>
                  <a:srgbClr val="A3AEC2"/>
                </a:solidFill>
                <a:latin typeface="Consolas"/>
              </a:rPr>
              <a:t>tepat 4 digit</a:t>
            </a:r>
          </a:p>
        </p:txBody>
      </p:sp>
      <p:sp>
        <p:nvSpPr>
          <p:cNvPr id="11" name="TextBox 10"/>
          <p:cNvSpPr txBox="1"/>
          <p:nvPr/>
        </p:nvSpPr>
        <p:spPr>
          <a:xfrm>
            <a:off x="5772562" y="1993392"/>
            <a:ext cx="5876893" cy="310896"/>
          </a:xfrm>
          <a:prstGeom prst="rect">
            <a:avLst/>
          </a:prstGeom>
          <a:noFill/>
        </p:spPr>
        <p:txBody>
          <a:bodyPr wrap="square">
            <a:spAutoFit/>
          </a:bodyPr>
          <a:lstStyle/>
          <a:p>
            <a:pPr algn="l">
              <a:lnSpc>
                <a:spcPct val="100000"/>
              </a:lnSpc>
            </a:pPr>
            <a:r>
              <a:rPr sz="1150" b="0">
                <a:solidFill>
                  <a:srgbClr val="A3AEC2"/>
                </a:solidFill>
                <a:latin typeface="Consolas"/>
              </a:rPr>
              <a:t>sudah dijamin extract_code: hanya satu rentetan 4 digit yang tak ambigu</a:t>
            </a:r>
          </a:p>
        </p:txBody>
      </p:sp>
      <p:sp>
        <p:nvSpPr>
          <p:cNvPr id="12" name="TextBox 11"/>
          <p:cNvSpPr txBox="1"/>
          <p:nvPr/>
        </p:nvSpPr>
        <p:spPr>
          <a:xfrm>
            <a:off x="630936" y="2377440"/>
            <a:ext cx="2571562" cy="310896"/>
          </a:xfrm>
          <a:prstGeom prst="rect">
            <a:avLst/>
          </a:prstGeom>
          <a:noFill/>
        </p:spPr>
        <p:txBody>
          <a:bodyPr wrap="square">
            <a:spAutoFit/>
          </a:bodyPr>
          <a:lstStyle/>
          <a:p>
            <a:pPr algn="l">
              <a:lnSpc>
                <a:spcPct val="100000"/>
              </a:lnSpc>
            </a:pPr>
            <a:r>
              <a:rPr sz="1150" b="0">
                <a:solidFill>
                  <a:srgbClr val="F8FAFC"/>
                </a:solidFill>
                <a:latin typeface="Segoe UI"/>
              </a:rPr>
              <a:t>Porsi suara</a:t>
            </a:r>
          </a:p>
        </p:txBody>
      </p:sp>
      <p:sp>
        <p:nvSpPr>
          <p:cNvPr id="13" name="TextBox 12"/>
          <p:cNvSpPr txBox="1"/>
          <p:nvPr/>
        </p:nvSpPr>
        <p:spPr>
          <a:xfrm>
            <a:off x="3385378" y="2377440"/>
            <a:ext cx="2204303" cy="310896"/>
          </a:xfrm>
          <a:prstGeom prst="rect">
            <a:avLst/>
          </a:prstGeom>
          <a:noFill/>
        </p:spPr>
        <p:txBody>
          <a:bodyPr wrap="square">
            <a:spAutoFit/>
          </a:bodyPr>
          <a:lstStyle/>
          <a:p>
            <a:pPr algn="l">
              <a:lnSpc>
                <a:spcPct val="100000"/>
              </a:lnSpc>
            </a:pPr>
            <a:r>
              <a:rPr sz="1150" b="0">
                <a:solidFill>
                  <a:srgbClr val="A3AEC2"/>
                </a:solidFill>
                <a:latin typeface="Consolas"/>
              </a:rPr>
              <a:t>≥ 0,70</a:t>
            </a:r>
          </a:p>
        </p:txBody>
      </p:sp>
      <p:sp>
        <p:nvSpPr>
          <p:cNvPr id="14" name="TextBox 13"/>
          <p:cNvSpPr txBox="1"/>
          <p:nvPr/>
        </p:nvSpPr>
        <p:spPr>
          <a:xfrm>
            <a:off x="5772562" y="2377440"/>
            <a:ext cx="5876893" cy="310896"/>
          </a:xfrm>
          <a:prstGeom prst="rect">
            <a:avLst/>
          </a:prstGeom>
          <a:noFill/>
        </p:spPr>
        <p:txBody>
          <a:bodyPr wrap="square">
            <a:spAutoFit/>
          </a:bodyPr>
          <a:lstStyle/>
          <a:p>
            <a:pPr algn="l">
              <a:lnSpc>
                <a:spcPct val="100000"/>
              </a:lnSpc>
            </a:pPr>
            <a:r>
              <a:rPr sz="1150" b="0">
                <a:solidFill>
                  <a:srgbClr val="A3AEC2"/>
                </a:solidFill>
                <a:latin typeface="Consolas"/>
              </a:rPr>
              <a:t>di atas porsi setiap salah-baca yang teramati (terburuk 0,29)</a:t>
            </a:r>
          </a:p>
        </p:txBody>
      </p:sp>
      <p:sp>
        <p:nvSpPr>
          <p:cNvPr id="15" name="TextBox 14"/>
          <p:cNvSpPr txBox="1"/>
          <p:nvPr/>
        </p:nvSpPr>
        <p:spPr>
          <a:xfrm>
            <a:off x="630936" y="2761488"/>
            <a:ext cx="2571562" cy="310896"/>
          </a:xfrm>
          <a:prstGeom prst="rect">
            <a:avLst/>
          </a:prstGeom>
          <a:noFill/>
        </p:spPr>
        <p:txBody>
          <a:bodyPr wrap="square">
            <a:spAutoFit/>
          </a:bodyPr>
          <a:lstStyle/>
          <a:p>
            <a:pPr algn="l">
              <a:lnSpc>
                <a:spcPct val="100000"/>
              </a:lnSpc>
            </a:pPr>
            <a:r>
              <a:rPr sz="1150" b="0">
                <a:solidFill>
                  <a:srgbClr val="F8FAFC"/>
                </a:solidFill>
                <a:latin typeface="Segoe UI"/>
              </a:rPr>
              <a:t>Jumlah pembacaan</a:t>
            </a:r>
          </a:p>
        </p:txBody>
      </p:sp>
      <p:sp>
        <p:nvSpPr>
          <p:cNvPr id="16" name="TextBox 15"/>
          <p:cNvSpPr txBox="1"/>
          <p:nvPr/>
        </p:nvSpPr>
        <p:spPr>
          <a:xfrm>
            <a:off x="3385378" y="2761488"/>
            <a:ext cx="2204303" cy="310896"/>
          </a:xfrm>
          <a:prstGeom prst="rect">
            <a:avLst/>
          </a:prstGeom>
          <a:noFill/>
        </p:spPr>
        <p:txBody>
          <a:bodyPr wrap="square">
            <a:spAutoFit/>
          </a:bodyPr>
          <a:lstStyle/>
          <a:p>
            <a:pPr algn="l">
              <a:lnSpc>
                <a:spcPct val="100000"/>
              </a:lnSpc>
            </a:pPr>
            <a:r>
              <a:rPr sz="1150" b="0">
                <a:solidFill>
                  <a:srgbClr val="A3AEC2"/>
                </a:solidFill>
                <a:latin typeface="Consolas"/>
              </a:rPr>
              <a:t>&gt; 0</a:t>
            </a:r>
          </a:p>
        </p:txBody>
      </p:sp>
      <p:sp>
        <p:nvSpPr>
          <p:cNvPr id="17" name="TextBox 16"/>
          <p:cNvSpPr txBox="1"/>
          <p:nvPr/>
        </p:nvSpPr>
        <p:spPr>
          <a:xfrm>
            <a:off x="5772562" y="2761488"/>
            <a:ext cx="5876893" cy="310896"/>
          </a:xfrm>
          <a:prstGeom prst="rect">
            <a:avLst/>
          </a:prstGeom>
          <a:noFill/>
        </p:spPr>
        <p:txBody>
          <a:bodyPr wrap="square">
            <a:spAutoFit/>
          </a:bodyPr>
          <a:lstStyle/>
          <a:p>
            <a:pPr algn="l">
              <a:lnSpc>
                <a:spcPct val="100000"/>
              </a:lnSpc>
            </a:pPr>
            <a:r>
              <a:rPr sz="1150" b="0">
                <a:solidFill>
                  <a:srgbClr val="A3AEC2"/>
                </a:solidFill>
                <a:latin typeface="Consolas"/>
              </a:rPr>
              <a:t>nol pembacaan berarti tidak ada yang dilihat</a:t>
            </a:r>
          </a:p>
        </p:txBody>
      </p:sp>
      <p:sp>
        <p:nvSpPr>
          <p:cNvPr id="18" name="TextBox 17"/>
          <p:cNvSpPr txBox="1"/>
          <p:nvPr/>
        </p:nvSpPr>
        <p:spPr>
          <a:xfrm>
            <a:off x="502920" y="3374136"/>
            <a:ext cx="11155680" cy="914400"/>
          </a:xfrm>
          <a:prstGeom prst="rect">
            <a:avLst/>
          </a:prstGeom>
          <a:noFill/>
        </p:spPr>
        <p:txBody>
          <a:bodyPr wrap="square">
            <a:spAutoFit/>
          </a:bodyPr>
          <a:lstStyle/>
          <a:p>
            <a:pPr algn="l">
              <a:lnSpc>
                <a:spcPct val="140000"/>
              </a:lnSpc>
            </a:pPr>
            <a:r>
              <a:rPr sz="1150" b="0">
                <a:solidFill>
                  <a:srgbClr val="F59E0B"/>
                </a:solidFill>
                <a:latin typeface="Segoe UI"/>
              </a:rPr>
              <a:t>Sengaja lebih ketat daripada yang dibutuhkan truk terdaftar: truk terdaftar dikonfirmasi master, ini tidak — dan truk hantu akan menghitung ritase-nya sendiri. Konstanta: UNREGISTERED_MIN_CONFIDENCE di app/services/edge_ingest.py.</a:t>
            </a:r>
          </a:p>
        </p:txBody>
      </p:sp>
      <p:sp>
        <p:nvSpPr>
          <p:cNvPr id="19" name="TextBox 18"/>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20" name="TextBox 19"/>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03  ·  TRUK HANTU</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Bug yang Ditemukan Justru Saat Dijalankan</a:t>
            </a:r>
          </a:p>
        </p:txBody>
      </p:sp>
      <p:sp>
        <p:nvSpPr>
          <p:cNvPr id="5" name="Rounded Rectangle 4"/>
          <p:cNvSpPr/>
          <p:nvPr/>
        </p:nvSpPr>
        <p:spPr>
          <a:xfrm>
            <a:off x="502920" y="1536192"/>
            <a:ext cx="5440680" cy="1295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Gejala</a:t>
            </a:r>
          </a:p>
        </p:txBody>
      </p:sp>
      <p:sp>
        <p:nvSpPr>
          <p:cNvPr id="7" name="TextBox 6"/>
          <p:cNvSpPr txBox="1"/>
          <p:nvPr/>
        </p:nvSpPr>
        <p:spPr>
          <a:xfrm>
            <a:off x="740664" y="2103120"/>
            <a:ext cx="4965192" cy="609600"/>
          </a:xfrm>
          <a:prstGeom prst="rect">
            <a:avLst/>
          </a:prstGeom>
          <a:noFill/>
        </p:spPr>
        <p:txBody>
          <a:bodyPr wrap="square">
            <a:spAutoFit/>
          </a:bodyPr>
          <a:lstStyle/>
          <a:p>
            <a:pPr algn="l">
              <a:lnSpc>
                <a:spcPct val="135000"/>
              </a:lnSpc>
            </a:pPr>
            <a:r>
              <a:rPr sz="1150" b="0">
                <a:solidFill>
                  <a:srgbClr val="A3AEC2"/>
                </a:solidFill>
                <a:latin typeface="Segoe UI"/>
              </a:rPr>
              <a:t>Jalan pertama menghasilkan 23 lintasan, 11 belum berpasangan, dan truk "2254" yang tidak pernah ada — tercatat sebagai truk belum terdaftar dengan keyakinan 100%.</a:t>
            </a:r>
          </a:p>
        </p:txBody>
      </p:sp>
      <p:sp>
        <p:nvSpPr>
          <p:cNvPr id="8" name="Rounded Rectangle 7"/>
          <p:cNvSpPr/>
          <p:nvPr/>
        </p:nvSpPr>
        <p:spPr>
          <a:xfrm>
            <a:off x="6263640" y="1536192"/>
            <a:ext cx="5440680" cy="1295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3"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Sebabnya, persis</a:t>
            </a:r>
          </a:p>
        </p:txBody>
      </p:sp>
      <p:sp>
        <p:nvSpPr>
          <p:cNvPr id="10" name="TextBox 9"/>
          <p:cNvSpPr txBox="1"/>
          <p:nvPr/>
        </p:nvSpPr>
        <p:spPr>
          <a:xfrm>
            <a:off x="6501383" y="2103120"/>
            <a:ext cx="4965192" cy="609600"/>
          </a:xfrm>
          <a:prstGeom prst="rect">
            <a:avLst/>
          </a:prstGeom>
          <a:noFill/>
        </p:spPr>
        <p:txBody>
          <a:bodyPr wrap="square">
            <a:spAutoFit/>
          </a:bodyPr>
          <a:lstStyle/>
          <a:p>
            <a:pPr algn="l">
              <a:lnSpc>
                <a:spcPct val="135000"/>
              </a:lnSpc>
            </a:pPr>
            <a:r>
              <a:rPr sz="1150" b="0">
                <a:solidFill>
                  <a:srgbClr val="A3AEC2"/>
                </a:solidFill>
                <a:latin typeface="Segoe UI"/>
              </a:rPr>
              <a:t>Klip keberangkatan 2264 menghasilkan dua jendela. Jendela pertama membaca 2264 dengan benar dan, di pusat, mengeluarkan truk itu dari pit. Jendela kedua salah baca jadi 2254 — dan karena 2264 sudah tidak di dalam, match_outbound tidak punya apa pun untuk dicocokkan.</a:t>
            </a:r>
          </a:p>
        </p:txBody>
      </p:sp>
      <p:sp>
        <p:nvSpPr>
          <p:cNvPr id="11" name="Rounded Rectangle 10"/>
          <p:cNvSpPr/>
          <p:nvPr/>
        </p:nvSpPr>
        <p:spPr>
          <a:xfrm>
            <a:off x="502920" y="3060192"/>
            <a:ext cx="5440680" cy="1295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215640"/>
            <a:ext cx="4983480" cy="320040"/>
          </a:xfrm>
          <a:prstGeom prst="rect">
            <a:avLst/>
          </a:prstGeom>
          <a:noFill/>
        </p:spPr>
        <p:txBody>
          <a:bodyPr wrap="square">
            <a:spAutoFit/>
          </a:bodyPr>
          <a:lstStyle/>
          <a:p>
            <a:pPr algn="l">
              <a:lnSpc>
                <a:spcPct val="100000"/>
              </a:lnSpc>
            </a:pPr>
            <a:r>
              <a:rPr sz="1300" b="1">
                <a:solidFill>
                  <a:srgbClr val="F59E0B"/>
                </a:solidFill>
                <a:latin typeface="Segoe UI"/>
              </a:rPr>
              <a:t>Akar: satu lintasan jadi beberapa jendela</a:t>
            </a:r>
          </a:p>
        </p:txBody>
      </p:sp>
      <p:sp>
        <p:nvSpPr>
          <p:cNvPr id="13" name="TextBox 12"/>
          <p:cNvSpPr txBox="1"/>
          <p:nvPr/>
        </p:nvSpPr>
        <p:spPr>
          <a:xfrm>
            <a:off x="740664" y="3627120"/>
            <a:ext cx="4965192" cy="609600"/>
          </a:xfrm>
          <a:prstGeom prst="rect">
            <a:avLst/>
          </a:prstGeom>
          <a:noFill/>
        </p:spPr>
        <p:txBody>
          <a:bodyPr wrap="square">
            <a:spAutoFit/>
          </a:bodyPr>
          <a:lstStyle/>
          <a:p>
            <a:pPr algn="l">
              <a:lnSpc>
                <a:spcPct val="135000"/>
              </a:lnSpc>
            </a:pPr>
            <a:r>
              <a:rPr sz="1150" b="0">
                <a:solidFill>
                  <a:srgbClr val="A3AEC2"/>
                </a:solidFill>
                <a:latin typeface="Segoe UI"/>
              </a:rPr>
              <a:t>Klip ini berjalan ~8 detik terhadap detect_window_sec 6, jadi batas durasi memotong satu lintasan menjadi beberapa jendela dan tiap jendela dicatat sebagai lintasan. Bukan sekadar hitung ganda — ia memproduksi truk palsu.</a:t>
            </a:r>
          </a:p>
        </p:txBody>
      </p:sp>
      <p:sp>
        <p:nvSpPr>
          <p:cNvPr id="14" name="Rounded Rectangle 13"/>
          <p:cNvSpPr/>
          <p:nvPr/>
        </p:nvSpPr>
        <p:spPr>
          <a:xfrm>
            <a:off x="6263640" y="3060192"/>
            <a:ext cx="5440680" cy="1295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3" y="3215640"/>
            <a:ext cx="4983480" cy="320040"/>
          </a:xfrm>
          <a:prstGeom prst="rect">
            <a:avLst/>
          </a:prstGeom>
          <a:noFill/>
        </p:spPr>
        <p:txBody>
          <a:bodyPr wrap="square">
            <a:spAutoFit/>
          </a:bodyPr>
          <a:lstStyle/>
          <a:p>
            <a:pPr algn="l">
              <a:lnSpc>
                <a:spcPct val="100000"/>
              </a:lnSpc>
            </a:pPr>
            <a:r>
              <a:rPr sz="1300" b="1">
                <a:solidFill>
                  <a:srgbClr val="F59E0B"/>
                </a:solidFill>
                <a:latin typeface="Segoe UI"/>
              </a:rPr>
              <a:t>Tanda ikut ke ekspor</a:t>
            </a:r>
          </a:p>
        </p:txBody>
      </p:sp>
      <p:sp>
        <p:nvSpPr>
          <p:cNvPr id="16" name="TextBox 15"/>
          <p:cNvSpPr txBox="1"/>
          <p:nvPr/>
        </p:nvSpPr>
        <p:spPr>
          <a:xfrm>
            <a:off x="6501383" y="3627120"/>
            <a:ext cx="4965192" cy="609600"/>
          </a:xfrm>
          <a:prstGeom prst="rect">
            <a:avLst/>
          </a:prstGeom>
          <a:noFill/>
        </p:spPr>
        <p:txBody>
          <a:bodyPr wrap="square">
            <a:spAutoFit/>
          </a:bodyPr>
          <a:lstStyle/>
          <a:p>
            <a:pPr algn="l">
              <a:lnSpc>
                <a:spcPct val="135000"/>
              </a:lnSpc>
            </a:pPr>
            <a:r>
              <a:rPr sz="1150" b="0">
                <a:solidFill>
                  <a:srgbClr val="A3AEC2"/>
                </a:solidFill>
                <a:latin typeface="Segoe UI"/>
              </a:rPr>
              <a:t>build_shift_report tadinya membuang registered padahal perHull sudah punya, jadi PDF dan Excel — artefak yang ditandatangani dan diarsipkan — menampilkan truk asing seperti unit armada. Sekarang: baris ringkasan, kolom Status, dan sebutan eksplisit di catatan kaki PDF.</a:t>
            </a:r>
          </a:p>
        </p:txBody>
      </p:sp>
      <p:sp>
        <p:nvSpPr>
          <p:cNvPr id="17" name="Rounded Rectangle 16"/>
          <p:cNvSpPr/>
          <p:nvPr/>
        </p:nvSpPr>
        <p:spPr>
          <a:xfrm>
            <a:off x="502920" y="4584192"/>
            <a:ext cx="5440680" cy="1295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4739640"/>
            <a:ext cx="4983480" cy="320040"/>
          </a:xfrm>
          <a:prstGeom prst="rect">
            <a:avLst/>
          </a:prstGeom>
          <a:noFill/>
        </p:spPr>
        <p:txBody>
          <a:bodyPr wrap="square">
            <a:spAutoFit/>
          </a:bodyPr>
          <a:lstStyle/>
          <a:p>
            <a:pPr algn="l">
              <a:lnSpc>
                <a:spcPct val="100000"/>
              </a:lnSpc>
            </a:pPr>
            <a:r>
              <a:rPr sz="1300" b="1">
                <a:solidFill>
                  <a:srgbClr val="F59E0B"/>
                </a:solidFill>
                <a:latin typeface="Segoe UI"/>
              </a:rPr>
              <a:t>Perbaikan: test_runs.select_crossings()</a:t>
            </a:r>
          </a:p>
        </p:txBody>
      </p:sp>
      <p:sp>
        <p:nvSpPr>
          <p:cNvPr id="19" name="TextBox 18"/>
          <p:cNvSpPr txBox="1"/>
          <p:nvPr/>
        </p:nvSpPr>
        <p:spPr>
          <a:xfrm>
            <a:off x="740664" y="5151120"/>
            <a:ext cx="4965192" cy="609600"/>
          </a:xfrm>
          <a:prstGeom prst="rect">
            <a:avLst/>
          </a:prstGeom>
          <a:noFill/>
        </p:spPr>
        <p:txBody>
          <a:bodyPr wrap="square">
            <a:spAutoFit/>
          </a:bodyPr>
          <a:lstStyle/>
          <a:p>
            <a:pPr algn="l">
              <a:lnSpc>
                <a:spcPct val="135000"/>
              </a:lnSpc>
            </a:pPr>
            <a:r>
              <a:rPr sz="1150" b="0">
                <a:solidFill>
                  <a:srgbClr val="A3AEC2"/>
                </a:solidFill>
                <a:latin typeface="Segoe UI"/>
              </a:rPr>
              <a:t>Satu lintasan per unit terdaftar yang berbeda. Jendela tanpa identifikasi dibuang kalau klip sudah mengenali seseorang; kalau tidak ada yang dikenali, jendela terkuat berdiri sendiri agar truk belum terdaftar tetap dapat tepat satu lintasan. Deteksi langsung tidak disentuh.</a:t>
            </a:r>
          </a:p>
        </p:txBody>
      </p:sp>
      <p:sp>
        <p:nvSpPr>
          <p:cNvPr id="20" name="TextBox 19"/>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21" name="TextBox 20"/>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03  ·  HALAMAN BARU</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Ritase &amp; Posisi Truk di Konsol Pusat</a:t>
            </a:r>
          </a:p>
        </p:txBody>
      </p:sp>
      <p:sp>
        <p:nvSpPr>
          <p:cNvPr id="5" name="Rounded Rectangle 4"/>
          <p:cNvSpPr/>
          <p:nvPr/>
        </p:nvSpPr>
        <p:spPr>
          <a:xfrm>
            <a:off x="466344" y="1371600"/>
            <a:ext cx="7534656" cy="3456525"/>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7-pusat-ritase-selesai.jpg"/>
          <p:cNvPicPr>
            <a:picLocks noChangeAspect="1"/>
          </p:cNvPicPr>
          <p:nvPr/>
        </p:nvPicPr>
        <p:blipFill>
          <a:blip r:embed="rId2"/>
          <a:stretch>
            <a:fillRect/>
          </a:stretch>
        </p:blipFill>
        <p:spPr>
          <a:xfrm>
            <a:off x="502920" y="1408176"/>
            <a:ext cx="7461504" cy="3383373"/>
          </a:xfrm>
          <a:prstGeom prst="rect">
            <a:avLst/>
          </a:prstGeom>
        </p:spPr>
      </p:pic>
      <p:sp>
        <p:nvSpPr>
          <p:cNvPr id="7" name="TextBox 6"/>
          <p:cNvSpPr txBox="1"/>
          <p:nvPr/>
        </p:nvSpPr>
        <p:spPr>
          <a:xfrm>
            <a:off x="8247888" y="1481328"/>
            <a:ext cx="3456432" cy="4206240"/>
          </a:xfrm>
          <a:prstGeom prst="rect">
            <a:avLst/>
          </a:prstGeom>
          <a:noFill/>
        </p:spPr>
        <p:txBody>
          <a:bodyPr wrap="square">
            <a:spAutoFit/>
          </a:bodyPr>
          <a:lstStyle/>
          <a:p>
            <a:pPr algn="l">
              <a:lnSpc>
                <a:spcPct val="145000"/>
              </a:lnSpc>
            </a:pPr>
            <a:r>
              <a:rPr sz="1150" b="0">
                <a:solidFill>
                  <a:srgbClr val="F59E0B"/>
                </a:solidFill>
                <a:latin typeface="Segoe UI"/>
              </a:rPr>
              <a:t>▪  Rute /ritase, bagian nav "Data Ritase".</a:t>
            </a:r>
          </a:p>
          <a:p>
            <a:pPr algn="l">
              <a:lnSpc>
                <a:spcPct val="145000"/>
              </a:lnSpc>
            </a:pPr>
            <a:r>
              <a:rPr sz="1150" b="0">
                <a:solidFill>
                  <a:srgbClr val="F59E0B"/>
                </a:solidFill>
                <a:latin typeface="Segoe UI"/>
              </a:rPr>
              <a:t>▪  Empat penghitung: ritase selesai, truk di dalam area, total lintasan, dan ritase belum terdaftar — yang terakhir dipisah karena itu celah registri yang perlu ditutup.</a:t>
            </a:r>
          </a:p>
          <a:p>
            <a:pPr algn="l">
              <a:lnSpc>
                <a:spcPct val="145000"/>
              </a:lnSpc>
            </a:pPr>
            <a:r>
              <a:rPr sz="1150" b="0">
                <a:solidFill>
                  <a:srgbClr val="F59E0B"/>
                </a:solidFill>
                <a:latin typeface="Segoe UI"/>
              </a:rPr>
              <a:t>▪  Posisi Truk dan laporan ritase diambil dalam satu Promise.all: truk yang tercatat di dalam adalah siklus yang belum tertutup, jadi memuatnya di dua waktu berbeda bisa menampilkan angka yang saling bertentangan.</a:t>
            </a:r>
          </a:p>
          <a:p>
            <a:pPr algn="l">
              <a:lnSpc>
                <a:spcPct val="145000"/>
              </a:lnSpc>
            </a:pPr>
            <a:r>
              <a:rPr sz="1150" b="0">
                <a:solidFill>
                  <a:srgbClr val="F59E0B"/>
                </a:solidFill>
                <a:latin typeface="Segoe UI"/>
              </a:rPr>
              <a:t>▪  Endpoint: GET /api/pit-occupancy (baru); GET /api/ritase kini membawa registered per hull, unregisteredRitase, unregisteredHulls.</a:t>
            </a:r>
          </a:p>
          <a:p>
            <a:pPr algn="l">
              <a:lnSpc>
                <a:spcPct val="145000"/>
              </a:lnSpc>
            </a:pPr>
            <a:r>
              <a:rPr sz="1150" b="0">
                <a:solidFill>
                  <a:srgbClr val="F59E0B"/>
                </a:solidFill>
                <a:latin typeface="Segoe UI"/>
              </a:rPr>
              <a:t>▪  registered ditambahkan ke dua frozen key set di tests/test_response_contract.py — perubahan kontrak yang disengaja, bukan kebetulan.</a:t>
            </a:r>
          </a:p>
        </p:txBody>
      </p:sp>
      <p:sp>
        <p:nvSpPr>
          <p:cNvPr id="8" name="TextBox 7"/>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9" name="TextBox 8"/>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04  ·  SATU SAKLAR</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Detail ON/OFF</a:t>
            </a:r>
          </a:p>
        </p:txBody>
      </p:sp>
      <p:sp>
        <p:nvSpPr>
          <p:cNvPr id="5" name="Rounded Rectangle 4"/>
          <p:cNvSpPr/>
          <p:nvPr/>
        </p:nvSpPr>
        <p:spPr>
          <a:xfrm>
            <a:off x="502920" y="1481328"/>
            <a:ext cx="5257800" cy="2424098"/>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gate-a-siaga.jpg"/>
          <p:cNvPicPr>
            <a:picLocks noChangeAspect="1"/>
          </p:cNvPicPr>
          <p:nvPr/>
        </p:nvPicPr>
        <p:blipFill>
          <a:blip r:embed="rId2"/>
          <a:stretch>
            <a:fillRect/>
          </a:stretch>
        </p:blipFill>
        <p:spPr>
          <a:xfrm>
            <a:off x="539496" y="1517904"/>
            <a:ext cx="5184648" cy="2350946"/>
          </a:xfrm>
          <a:prstGeom prst="rect">
            <a:avLst/>
          </a:prstGeom>
        </p:spPr>
      </p:pic>
      <p:sp>
        <p:nvSpPr>
          <p:cNvPr id="7" name="TextBox 6"/>
          <p:cNvSpPr txBox="1"/>
          <p:nvPr/>
        </p:nvSpPr>
        <p:spPr>
          <a:xfrm>
            <a:off x="539496" y="3978578"/>
            <a:ext cx="5184648" cy="274320"/>
          </a:xfrm>
          <a:prstGeom prst="rect">
            <a:avLst/>
          </a:prstGeom>
          <a:noFill/>
        </p:spPr>
        <p:txBody>
          <a:bodyPr wrap="square">
            <a:spAutoFit/>
          </a:bodyPr>
          <a:lstStyle/>
          <a:p>
            <a:pPr algn="l">
              <a:lnSpc>
                <a:spcPct val="100000"/>
              </a:lnSpc>
            </a:pPr>
            <a:r>
              <a:rPr sz="1000" b="0">
                <a:solidFill>
                  <a:srgbClr val="F59E0B"/>
                </a:solidFill>
                <a:latin typeface="Consolas"/>
              </a:rPr>
              <a:t>Detail: OFF — tampilan operator</a:t>
            </a:r>
          </a:p>
        </p:txBody>
      </p:sp>
      <p:sp>
        <p:nvSpPr>
          <p:cNvPr id="8" name="Rounded Rectangle 7"/>
          <p:cNvSpPr/>
          <p:nvPr/>
        </p:nvSpPr>
        <p:spPr>
          <a:xfrm>
            <a:off x="6035040" y="1481328"/>
            <a:ext cx="5257800" cy="2424098"/>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3-gate-a-detail-on.jpg"/>
          <p:cNvPicPr>
            <a:picLocks noChangeAspect="1"/>
          </p:cNvPicPr>
          <p:nvPr/>
        </p:nvPicPr>
        <p:blipFill>
          <a:blip r:embed="rId3"/>
          <a:stretch>
            <a:fillRect/>
          </a:stretch>
        </p:blipFill>
        <p:spPr>
          <a:xfrm>
            <a:off x="6071616" y="1517904"/>
            <a:ext cx="5184648" cy="2350946"/>
          </a:xfrm>
          <a:prstGeom prst="rect">
            <a:avLst/>
          </a:prstGeom>
        </p:spPr>
      </p:pic>
      <p:sp>
        <p:nvSpPr>
          <p:cNvPr id="10" name="TextBox 9"/>
          <p:cNvSpPr txBox="1"/>
          <p:nvPr/>
        </p:nvSpPr>
        <p:spPr>
          <a:xfrm>
            <a:off x="6071616" y="3978578"/>
            <a:ext cx="5184648" cy="274320"/>
          </a:xfrm>
          <a:prstGeom prst="rect">
            <a:avLst/>
          </a:prstGeom>
          <a:noFill/>
        </p:spPr>
        <p:txBody>
          <a:bodyPr wrap="square">
            <a:spAutoFit/>
          </a:bodyPr>
          <a:lstStyle/>
          <a:p>
            <a:pPr algn="l">
              <a:lnSpc>
                <a:spcPct val="100000"/>
              </a:lnSpc>
            </a:pPr>
            <a:r>
              <a:rPr sz="1000" b="0">
                <a:solidFill>
                  <a:srgbClr val="F59E0B"/>
                </a:solidFill>
                <a:latin typeface="Consolas"/>
              </a:rPr>
              <a:t>Detail: ON — tampilan diagnosa</a:t>
            </a:r>
          </a:p>
        </p:txBody>
      </p:sp>
      <p:sp>
        <p:nvSpPr>
          <p:cNvPr id="11" name="TextBox 10"/>
          <p:cNvSpPr txBox="1"/>
          <p:nvPr/>
        </p:nvSpPr>
        <p:spPr>
          <a:xfrm>
            <a:off x="502920" y="4617720"/>
            <a:ext cx="11201400" cy="1600200"/>
          </a:xfrm>
          <a:prstGeom prst="rect">
            <a:avLst/>
          </a:prstGeom>
          <a:noFill/>
        </p:spPr>
        <p:txBody>
          <a:bodyPr wrap="square">
            <a:spAutoFit/>
          </a:bodyPr>
          <a:lstStyle/>
          <a:p>
            <a:pPr algn="l">
              <a:lnSpc>
                <a:spcPct val="145000"/>
              </a:lnSpc>
            </a:pPr>
            <a:r>
              <a:rPr sz="1150" b="0">
                <a:solidFill>
                  <a:srgbClr val="F59E0B"/>
                </a:solidFill>
                <a:latin typeface="Segoe UI"/>
              </a:rPr>
              <a:t>▪  Menggantikan tombol BBox, dan bawaannya OFF. Kotak hijau tetap ada — ia hanya menyatakan "sistem sedang melihat di sini".</a:t>
            </a:r>
          </a:p>
          <a:p>
            <a:pPr algn="l">
              <a:lnSpc>
                <a:spcPct val="145000"/>
              </a:lnSpc>
            </a:pPr>
            <a:r>
              <a:rPr sz="1150" b="0">
                <a:solidFill>
                  <a:srgbClr val="F59E0B"/>
                </a:solidFill>
                <a:latin typeface="Segoe UI"/>
              </a:rPr>
              <a:t>▪  OFF menyembunyikan: label T#id skor di atas kotak, baris 100% · exact di tiap lintasan, strip potongan gambar, penghitung frame, serta baris jejak/keyakinan dan hasil pencocokan di panel kanan.</a:t>
            </a:r>
          </a:p>
          <a:p>
            <a:pPr algn="l">
              <a:lnSpc>
                <a:spcPct val="145000"/>
              </a:lnSpc>
            </a:pPr>
            <a:r>
              <a:rPr sz="1150" b="0">
                <a:solidFill>
                  <a:srgbClr val="F59E0B"/>
                </a:solidFill>
                <a:latin typeface="Segoe UI"/>
              </a:rPr>
              <a:t>▪  Label digambar ke dalam JPEG oleh perangkat, jadi saklarnya benar-benar meminta ke perangkat: GET /api/live/stream?detail=1. Frame ber-label adalah encode JPEG kedua yang hanya dikerjakan selama ada yang menonton begitu (LiveState.detail_wanted()).</a:t>
            </a:r>
          </a:p>
        </p:txBody>
      </p:sp>
      <p:sp>
        <p:nvSpPr>
          <p:cNvPr id="12" name="TextBox 11"/>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13" name="TextBox 12"/>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GELOMBANG 04  ·  ISTILAH</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Kata "OCR" Dihapus dari Seluruh Layar</a:t>
            </a:r>
          </a:p>
        </p:txBody>
      </p:sp>
      <p:sp>
        <p:nvSpPr>
          <p:cNvPr id="5" name="Rectangle 4"/>
          <p:cNvSpPr/>
          <p:nvPr/>
        </p:nvSpPr>
        <p:spPr>
          <a:xfrm>
            <a:off x="502920" y="1554480"/>
            <a:ext cx="11201400" cy="384048"/>
          </a:xfrm>
          <a:prstGeom prst="rect">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618488"/>
            <a:ext cx="3474720" cy="274320"/>
          </a:xfrm>
          <a:prstGeom prst="rect">
            <a:avLst/>
          </a:prstGeom>
          <a:noFill/>
        </p:spPr>
        <p:txBody>
          <a:bodyPr wrap="square">
            <a:spAutoFit/>
          </a:bodyPr>
          <a:lstStyle/>
          <a:p>
            <a:pPr algn="l">
              <a:lnSpc>
                <a:spcPct val="100000"/>
              </a:lnSpc>
            </a:pPr>
            <a:r>
              <a:rPr sz="1050" b="0">
                <a:solidFill>
                  <a:srgbClr val="F59E0B"/>
                </a:solidFill>
                <a:latin typeface="Consolas"/>
              </a:rPr>
              <a:t>Sebelum</a:t>
            </a:r>
          </a:p>
        </p:txBody>
      </p:sp>
      <p:sp>
        <p:nvSpPr>
          <p:cNvPr id="7" name="TextBox 6"/>
          <p:cNvSpPr txBox="1"/>
          <p:nvPr/>
        </p:nvSpPr>
        <p:spPr>
          <a:xfrm>
            <a:off x="4288536" y="1618488"/>
            <a:ext cx="3840480" cy="274320"/>
          </a:xfrm>
          <a:prstGeom prst="rect">
            <a:avLst/>
          </a:prstGeom>
          <a:noFill/>
        </p:spPr>
        <p:txBody>
          <a:bodyPr wrap="square">
            <a:spAutoFit/>
          </a:bodyPr>
          <a:lstStyle/>
          <a:p>
            <a:pPr algn="l">
              <a:lnSpc>
                <a:spcPct val="100000"/>
              </a:lnSpc>
            </a:pPr>
            <a:r>
              <a:rPr sz="1050" b="0">
                <a:solidFill>
                  <a:srgbClr val="F59E0B"/>
                </a:solidFill>
                <a:latin typeface="Consolas"/>
              </a:rPr>
              <a:t>Sesudah</a:t>
            </a:r>
          </a:p>
        </p:txBody>
      </p:sp>
      <p:sp>
        <p:nvSpPr>
          <p:cNvPr id="8" name="TextBox 7"/>
          <p:cNvSpPr txBox="1"/>
          <p:nvPr/>
        </p:nvSpPr>
        <p:spPr>
          <a:xfrm>
            <a:off x="8311896" y="1618488"/>
            <a:ext cx="3337560" cy="274320"/>
          </a:xfrm>
          <a:prstGeom prst="rect">
            <a:avLst/>
          </a:prstGeom>
          <a:noFill/>
        </p:spPr>
        <p:txBody>
          <a:bodyPr wrap="square">
            <a:spAutoFit/>
          </a:bodyPr>
          <a:lstStyle/>
          <a:p>
            <a:pPr algn="l">
              <a:lnSpc>
                <a:spcPct val="100000"/>
              </a:lnSpc>
            </a:pPr>
            <a:r>
              <a:rPr sz="1050" b="0">
                <a:solidFill>
                  <a:srgbClr val="F59E0B"/>
                </a:solidFill>
                <a:latin typeface="Consolas"/>
              </a:rPr>
              <a:t>Letak</a:t>
            </a:r>
          </a:p>
        </p:txBody>
      </p:sp>
      <p:sp>
        <p:nvSpPr>
          <p:cNvPr id="9" name="TextBox 8"/>
          <p:cNvSpPr txBox="1"/>
          <p:nvPr/>
        </p:nvSpPr>
        <p:spPr>
          <a:xfrm>
            <a:off x="630936" y="1993392"/>
            <a:ext cx="3474720" cy="310896"/>
          </a:xfrm>
          <a:prstGeom prst="rect">
            <a:avLst/>
          </a:prstGeom>
          <a:noFill/>
        </p:spPr>
        <p:txBody>
          <a:bodyPr wrap="square">
            <a:spAutoFit/>
          </a:bodyPr>
          <a:lstStyle/>
          <a:p>
            <a:pPr algn="l">
              <a:lnSpc>
                <a:spcPct val="100000"/>
              </a:lnSpc>
            </a:pPr>
            <a:r>
              <a:rPr sz="1150" b="0">
                <a:solidFill>
                  <a:srgbClr val="F8FAFC"/>
                </a:solidFill>
                <a:latin typeface="Segoe UI"/>
              </a:rPr>
              <a:t>SAMPEL OCR</a:t>
            </a:r>
          </a:p>
        </p:txBody>
      </p:sp>
      <p:sp>
        <p:nvSpPr>
          <p:cNvPr id="10" name="TextBox 9"/>
          <p:cNvSpPr txBox="1"/>
          <p:nvPr/>
        </p:nvSpPr>
        <p:spPr>
          <a:xfrm>
            <a:off x="4288536" y="1993392"/>
            <a:ext cx="3840480" cy="310896"/>
          </a:xfrm>
          <a:prstGeom prst="rect">
            <a:avLst/>
          </a:prstGeom>
          <a:noFill/>
        </p:spPr>
        <p:txBody>
          <a:bodyPr wrap="square">
            <a:spAutoFit/>
          </a:bodyPr>
          <a:lstStyle/>
          <a:p>
            <a:pPr algn="l">
              <a:lnSpc>
                <a:spcPct val="100000"/>
              </a:lnSpc>
            </a:pPr>
            <a:r>
              <a:rPr sz="1150" b="0">
                <a:solidFill>
                  <a:srgbClr val="A3AEC2"/>
                </a:solidFill>
                <a:latin typeface="Consolas"/>
              </a:rPr>
              <a:t>TRUCK ID</a:t>
            </a:r>
          </a:p>
        </p:txBody>
      </p:sp>
      <p:sp>
        <p:nvSpPr>
          <p:cNvPr id="11" name="TextBox 10"/>
          <p:cNvSpPr txBox="1"/>
          <p:nvPr/>
        </p:nvSpPr>
        <p:spPr>
          <a:xfrm>
            <a:off x="8311896" y="1993392"/>
            <a:ext cx="3337560" cy="310896"/>
          </a:xfrm>
          <a:prstGeom prst="rect">
            <a:avLst/>
          </a:prstGeom>
          <a:noFill/>
        </p:spPr>
        <p:txBody>
          <a:bodyPr wrap="square">
            <a:spAutoFit/>
          </a:bodyPr>
          <a:lstStyle/>
          <a:p>
            <a:pPr algn="l">
              <a:lnSpc>
                <a:spcPct val="100000"/>
              </a:lnSpc>
            </a:pPr>
            <a:r>
              <a:rPr sz="1150" b="0">
                <a:solidFill>
                  <a:srgbClr val="A3AEC2"/>
                </a:solidFill>
                <a:latin typeface="Consolas"/>
              </a:rPr>
              <a:t>konsol gate — strip potongan gambar</a:t>
            </a:r>
          </a:p>
        </p:txBody>
      </p:sp>
      <p:sp>
        <p:nvSpPr>
          <p:cNvPr id="12" name="TextBox 11"/>
          <p:cNvSpPr txBox="1"/>
          <p:nvPr/>
        </p:nvSpPr>
        <p:spPr>
          <a:xfrm>
            <a:off x="630936" y="2377440"/>
            <a:ext cx="3474720" cy="310896"/>
          </a:xfrm>
          <a:prstGeom prst="rect">
            <a:avLst/>
          </a:prstGeom>
          <a:noFill/>
        </p:spPr>
        <p:txBody>
          <a:bodyPr wrap="square">
            <a:spAutoFit/>
          </a:bodyPr>
          <a:lstStyle/>
          <a:p>
            <a:pPr algn="l">
              <a:lnSpc>
                <a:spcPct val="100000"/>
              </a:lnSpc>
            </a:pPr>
            <a:r>
              <a:rPr sz="1150" b="0">
                <a:solidFill>
                  <a:srgbClr val="F8FAFC"/>
                </a:solidFill>
                <a:latin typeface="Segoe UI"/>
              </a:rPr>
              <a:t>Dibaca OCR</a:t>
            </a:r>
          </a:p>
        </p:txBody>
      </p:sp>
      <p:sp>
        <p:nvSpPr>
          <p:cNvPr id="13" name="TextBox 12"/>
          <p:cNvSpPr txBox="1"/>
          <p:nvPr/>
        </p:nvSpPr>
        <p:spPr>
          <a:xfrm>
            <a:off x="4288536" y="2377440"/>
            <a:ext cx="3840480" cy="310896"/>
          </a:xfrm>
          <a:prstGeom prst="rect">
            <a:avLst/>
          </a:prstGeom>
          <a:noFill/>
        </p:spPr>
        <p:txBody>
          <a:bodyPr wrap="square">
            <a:spAutoFit/>
          </a:bodyPr>
          <a:lstStyle/>
          <a:p>
            <a:pPr algn="l">
              <a:lnSpc>
                <a:spcPct val="100000"/>
              </a:lnSpc>
            </a:pPr>
            <a:r>
              <a:rPr sz="1150" b="0">
                <a:solidFill>
                  <a:srgbClr val="A3AEC2"/>
                </a:solidFill>
                <a:latin typeface="Consolas"/>
              </a:rPr>
              <a:t>Nomor terbaca</a:t>
            </a:r>
          </a:p>
        </p:txBody>
      </p:sp>
      <p:sp>
        <p:nvSpPr>
          <p:cNvPr id="14" name="TextBox 13"/>
          <p:cNvSpPr txBox="1"/>
          <p:nvPr/>
        </p:nvSpPr>
        <p:spPr>
          <a:xfrm>
            <a:off x="8311896" y="2377440"/>
            <a:ext cx="3337560" cy="310896"/>
          </a:xfrm>
          <a:prstGeom prst="rect">
            <a:avLst/>
          </a:prstGeom>
          <a:noFill/>
        </p:spPr>
        <p:txBody>
          <a:bodyPr wrap="square">
            <a:spAutoFit/>
          </a:bodyPr>
          <a:lstStyle/>
          <a:p>
            <a:pPr algn="l">
              <a:lnSpc>
                <a:spcPct val="100000"/>
              </a:lnSpc>
            </a:pPr>
            <a:r>
              <a:rPr sz="1150" b="0">
                <a:solidFill>
                  <a:srgbClr val="A3AEC2"/>
                </a:solidFill>
                <a:latin typeface="Consolas"/>
              </a:rPr>
              <a:t>konsol gate — rincian lintasan</a:t>
            </a:r>
          </a:p>
        </p:txBody>
      </p:sp>
      <p:sp>
        <p:nvSpPr>
          <p:cNvPr id="15" name="TextBox 14"/>
          <p:cNvSpPr txBox="1"/>
          <p:nvPr/>
        </p:nvSpPr>
        <p:spPr>
          <a:xfrm>
            <a:off x="630936" y="2761488"/>
            <a:ext cx="3474720" cy="310896"/>
          </a:xfrm>
          <a:prstGeom prst="rect">
            <a:avLst/>
          </a:prstGeom>
          <a:noFill/>
        </p:spPr>
        <p:txBody>
          <a:bodyPr wrap="square">
            <a:spAutoFit/>
          </a:bodyPr>
          <a:lstStyle/>
          <a:p>
            <a:pPr algn="l">
              <a:lnSpc>
                <a:spcPct val="100000"/>
              </a:lnSpc>
            </a:pPr>
            <a:r>
              <a:rPr sz="1150" b="0">
                <a:solidFill>
                  <a:srgbClr val="F8FAFC"/>
                </a:solidFill>
                <a:latin typeface="Segoe UI"/>
              </a:rPr>
              <a:t>Mesin OCR</a:t>
            </a:r>
          </a:p>
        </p:txBody>
      </p:sp>
      <p:sp>
        <p:nvSpPr>
          <p:cNvPr id="16" name="TextBox 15"/>
          <p:cNvSpPr txBox="1"/>
          <p:nvPr/>
        </p:nvSpPr>
        <p:spPr>
          <a:xfrm>
            <a:off x="4288536" y="2761488"/>
            <a:ext cx="3840480" cy="310896"/>
          </a:xfrm>
          <a:prstGeom prst="rect">
            <a:avLst/>
          </a:prstGeom>
          <a:noFill/>
        </p:spPr>
        <p:txBody>
          <a:bodyPr wrap="square">
            <a:spAutoFit/>
          </a:bodyPr>
          <a:lstStyle/>
          <a:p>
            <a:pPr algn="l">
              <a:lnSpc>
                <a:spcPct val="100000"/>
              </a:lnSpc>
            </a:pPr>
            <a:r>
              <a:rPr sz="1150" b="0">
                <a:solidFill>
                  <a:srgbClr val="A3AEC2"/>
                </a:solidFill>
                <a:latin typeface="Consolas"/>
              </a:rPr>
              <a:t>Mesin Pembaca Nomor</a:t>
            </a:r>
          </a:p>
        </p:txBody>
      </p:sp>
      <p:sp>
        <p:nvSpPr>
          <p:cNvPr id="17" name="TextBox 16"/>
          <p:cNvSpPr txBox="1"/>
          <p:nvPr/>
        </p:nvSpPr>
        <p:spPr>
          <a:xfrm>
            <a:off x="8311896" y="2761488"/>
            <a:ext cx="3337560" cy="310896"/>
          </a:xfrm>
          <a:prstGeom prst="rect">
            <a:avLst/>
          </a:prstGeom>
          <a:noFill/>
        </p:spPr>
        <p:txBody>
          <a:bodyPr wrap="square">
            <a:spAutoFit/>
          </a:bodyPr>
          <a:lstStyle/>
          <a:p>
            <a:pPr algn="l">
              <a:lnSpc>
                <a:spcPct val="100000"/>
              </a:lnSpc>
            </a:pPr>
            <a:r>
              <a:rPr sz="1150" b="0">
                <a:solidFill>
                  <a:srgbClr val="A3AEC2"/>
                </a:solidFill>
                <a:latin typeface="Consolas"/>
              </a:rPr>
              <a:t>konsol gate — drawer pengaturan</a:t>
            </a:r>
          </a:p>
        </p:txBody>
      </p:sp>
      <p:sp>
        <p:nvSpPr>
          <p:cNvPr id="18" name="TextBox 17"/>
          <p:cNvSpPr txBox="1"/>
          <p:nvPr/>
        </p:nvSpPr>
        <p:spPr>
          <a:xfrm>
            <a:off x="630936" y="3145536"/>
            <a:ext cx="3474720" cy="310896"/>
          </a:xfrm>
          <a:prstGeom prst="rect">
            <a:avLst/>
          </a:prstGeom>
          <a:noFill/>
        </p:spPr>
        <p:txBody>
          <a:bodyPr wrap="square">
            <a:spAutoFit/>
          </a:bodyPr>
          <a:lstStyle/>
          <a:p>
            <a:pPr algn="l">
              <a:lnSpc>
                <a:spcPct val="100000"/>
              </a:lnSpc>
            </a:pPr>
            <a:r>
              <a:rPr sz="1150" b="0">
                <a:solidFill>
                  <a:srgbClr val="F8FAFC"/>
                </a:solidFill>
                <a:latin typeface="Segoe UI"/>
              </a:rPr>
              <a:t>chip OCR</a:t>
            </a:r>
          </a:p>
        </p:txBody>
      </p:sp>
      <p:sp>
        <p:nvSpPr>
          <p:cNvPr id="19" name="TextBox 18"/>
          <p:cNvSpPr txBox="1"/>
          <p:nvPr/>
        </p:nvSpPr>
        <p:spPr>
          <a:xfrm>
            <a:off x="4288536" y="3145536"/>
            <a:ext cx="3840480" cy="310896"/>
          </a:xfrm>
          <a:prstGeom prst="rect">
            <a:avLst/>
          </a:prstGeom>
          <a:noFill/>
        </p:spPr>
        <p:txBody>
          <a:bodyPr wrap="square">
            <a:spAutoFit/>
          </a:bodyPr>
          <a:lstStyle/>
          <a:p>
            <a:pPr algn="l">
              <a:lnSpc>
                <a:spcPct val="100000"/>
              </a:lnSpc>
            </a:pPr>
            <a:r>
              <a:rPr sz="1150" b="0">
                <a:solidFill>
                  <a:srgbClr val="A3AEC2"/>
                </a:solidFill>
                <a:latin typeface="Consolas"/>
              </a:rPr>
              <a:t>PEMBACA</a:t>
            </a:r>
          </a:p>
        </p:txBody>
      </p:sp>
      <p:sp>
        <p:nvSpPr>
          <p:cNvPr id="20" name="TextBox 19"/>
          <p:cNvSpPr txBox="1"/>
          <p:nvPr/>
        </p:nvSpPr>
        <p:spPr>
          <a:xfrm>
            <a:off x="8311896" y="3145536"/>
            <a:ext cx="3337560" cy="310896"/>
          </a:xfrm>
          <a:prstGeom prst="rect">
            <a:avLst/>
          </a:prstGeom>
          <a:noFill/>
        </p:spPr>
        <p:txBody>
          <a:bodyPr wrap="square">
            <a:spAutoFit/>
          </a:bodyPr>
          <a:lstStyle/>
          <a:p>
            <a:pPr algn="l">
              <a:lnSpc>
                <a:spcPct val="100000"/>
              </a:lnSpc>
            </a:pPr>
            <a:r>
              <a:rPr sz="1150" b="0">
                <a:solidFill>
                  <a:srgbClr val="A3AEC2"/>
                </a:solidFill>
                <a:latin typeface="Consolas"/>
              </a:rPr>
              <a:t>konsol gate — strip kesehatan</a:t>
            </a:r>
          </a:p>
        </p:txBody>
      </p:sp>
      <p:sp>
        <p:nvSpPr>
          <p:cNvPr id="21" name="TextBox 20"/>
          <p:cNvSpPr txBox="1"/>
          <p:nvPr/>
        </p:nvSpPr>
        <p:spPr>
          <a:xfrm>
            <a:off x="630936" y="3529584"/>
            <a:ext cx="3474720" cy="310896"/>
          </a:xfrm>
          <a:prstGeom prst="rect">
            <a:avLst/>
          </a:prstGeom>
          <a:noFill/>
        </p:spPr>
        <p:txBody>
          <a:bodyPr wrap="square">
            <a:spAutoFit/>
          </a:bodyPr>
          <a:lstStyle/>
          <a:p>
            <a:pPr algn="l">
              <a:lnSpc>
                <a:spcPct val="100000"/>
              </a:lnSpc>
            </a:pPr>
            <a:r>
              <a:rPr sz="1150" b="0">
                <a:solidFill>
                  <a:srgbClr val="F8FAFC"/>
                </a:solidFill>
                <a:latin typeface="Segoe UI"/>
              </a:rPr>
              <a:t>ppocrv6-tiny</a:t>
            </a:r>
          </a:p>
        </p:txBody>
      </p:sp>
      <p:sp>
        <p:nvSpPr>
          <p:cNvPr id="22" name="TextBox 21"/>
          <p:cNvSpPr txBox="1"/>
          <p:nvPr/>
        </p:nvSpPr>
        <p:spPr>
          <a:xfrm>
            <a:off x="4288536" y="3529584"/>
            <a:ext cx="3840480" cy="310896"/>
          </a:xfrm>
          <a:prstGeom prst="rect">
            <a:avLst/>
          </a:prstGeom>
          <a:noFill/>
        </p:spPr>
        <p:txBody>
          <a:bodyPr wrap="square">
            <a:spAutoFit/>
          </a:bodyPr>
          <a:lstStyle/>
          <a:p>
            <a:pPr algn="l">
              <a:lnSpc>
                <a:spcPct val="100000"/>
              </a:lnSpc>
            </a:pPr>
            <a:r>
              <a:rPr sz="1150" b="0">
                <a:solidFill>
                  <a:srgbClr val="A3AEC2"/>
                </a:solidFill>
                <a:latin typeface="Consolas"/>
              </a:rPr>
              <a:t>Ringan / Sedang / Besar / Lengkap</a:t>
            </a:r>
          </a:p>
        </p:txBody>
      </p:sp>
      <p:sp>
        <p:nvSpPr>
          <p:cNvPr id="23" name="TextBox 22"/>
          <p:cNvSpPr txBox="1"/>
          <p:nvPr/>
        </p:nvSpPr>
        <p:spPr>
          <a:xfrm>
            <a:off x="8311896" y="3529584"/>
            <a:ext cx="3337560" cy="310896"/>
          </a:xfrm>
          <a:prstGeom prst="rect">
            <a:avLst/>
          </a:prstGeom>
          <a:noFill/>
        </p:spPr>
        <p:txBody>
          <a:bodyPr wrap="square">
            <a:spAutoFit/>
          </a:bodyPr>
          <a:lstStyle/>
          <a:p>
            <a:pPr algn="l">
              <a:lnSpc>
                <a:spcPct val="100000"/>
              </a:lnSpc>
            </a:pPr>
            <a:r>
              <a:rPr sz="1150" b="0">
                <a:solidFill>
                  <a:srgbClr val="A3AEC2"/>
                </a:solidFill>
                <a:latin typeface="Consolas"/>
              </a:rPr>
              <a:t>nama mesin, lewat READER_NAMES</a:t>
            </a:r>
          </a:p>
        </p:txBody>
      </p:sp>
      <p:sp>
        <p:nvSpPr>
          <p:cNvPr id="24" name="TextBox 23"/>
          <p:cNvSpPr txBox="1"/>
          <p:nvPr/>
        </p:nvSpPr>
        <p:spPr>
          <a:xfrm>
            <a:off x="630936" y="3913632"/>
            <a:ext cx="3474720" cy="310896"/>
          </a:xfrm>
          <a:prstGeom prst="rect">
            <a:avLst/>
          </a:prstGeom>
          <a:noFill/>
        </p:spPr>
        <p:txBody>
          <a:bodyPr wrap="square">
            <a:spAutoFit/>
          </a:bodyPr>
          <a:lstStyle/>
          <a:p>
            <a:pPr algn="l">
              <a:lnSpc>
                <a:spcPct val="100000"/>
              </a:lnSpc>
            </a:pPr>
            <a:r>
              <a:rPr sz="1150" b="0">
                <a:solidFill>
                  <a:srgbClr val="F8FAFC"/>
                </a:solidFill>
                <a:latin typeface="Segoe UI"/>
              </a:rPr>
              <a:t>Daftar Pembacaan OCR</a:t>
            </a:r>
          </a:p>
        </p:txBody>
      </p:sp>
      <p:sp>
        <p:nvSpPr>
          <p:cNvPr id="25" name="TextBox 24"/>
          <p:cNvSpPr txBox="1"/>
          <p:nvPr/>
        </p:nvSpPr>
        <p:spPr>
          <a:xfrm>
            <a:off x="4288536" y="3913632"/>
            <a:ext cx="3840480" cy="310896"/>
          </a:xfrm>
          <a:prstGeom prst="rect">
            <a:avLst/>
          </a:prstGeom>
          <a:noFill/>
        </p:spPr>
        <p:txBody>
          <a:bodyPr wrap="square">
            <a:spAutoFit/>
          </a:bodyPr>
          <a:lstStyle/>
          <a:p>
            <a:pPr algn="l">
              <a:lnSpc>
                <a:spcPct val="100000"/>
              </a:lnSpc>
            </a:pPr>
            <a:r>
              <a:rPr sz="1150" b="0">
                <a:solidFill>
                  <a:srgbClr val="A3AEC2"/>
                </a:solidFill>
                <a:latin typeface="Consolas"/>
              </a:rPr>
              <a:t>Daftar Pembacaan Nomor Lambung</a:t>
            </a:r>
          </a:p>
        </p:txBody>
      </p:sp>
      <p:sp>
        <p:nvSpPr>
          <p:cNvPr id="26" name="TextBox 25"/>
          <p:cNvSpPr txBox="1"/>
          <p:nvPr/>
        </p:nvSpPr>
        <p:spPr>
          <a:xfrm>
            <a:off x="8311896" y="3913632"/>
            <a:ext cx="3337560" cy="310896"/>
          </a:xfrm>
          <a:prstGeom prst="rect">
            <a:avLst/>
          </a:prstGeom>
          <a:noFill/>
        </p:spPr>
        <p:txBody>
          <a:bodyPr wrap="square">
            <a:spAutoFit/>
          </a:bodyPr>
          <a:lstStyle/>
          <a:p>
            <a:pPr algn="l">
              <a:lnSpc>
                <a:spcPct val="100000"/>
              </a:lnSpc>
            </a:pPr>
            <a:r>
              <a:rPr sz="1150" b="0">
                <a:solidFill>
                  <a:srgbClr val="A3AEC2"/>
                </a:solidFill>
                <a:latin typeface="Consolas"/>
              </a:rPr>
              <a:t>konsol pusat</a:t>
            </a:r>
          </a:p>
        </p:txBody>
      </p:sp>
      <p:sp>
        <p:nvSpPr>
          <p:cNvPr id="27" name="TextBox 26"/>
          <p:cNvSpPr txBox="1"/>
          <p:nvPr/>
        </p:nvSpPr>
        <p:spPr>
          <a:xfrm>
            <a:off x="630936" y="4297680"/>
            <a:ext cx="3474720" cy="310896"/>
          </a:xfrm>
          <a:prstGeom prst="rect">
            <a:avLst/>
          </a:prstGeom>
          <a:noFill/>
        </p:spPr>
        <p:txBody>
          <a:bodyPr wrap="square">
            <a:spAutoFit/>
          </a:bodyPr>
          <a:lstStyle/>
          <a:p>
            <a:pPr algn="l">
              <a:lnSpc>
                <a:spcPct val="100000"/>
              </a:lnSpc>
            </a:pPr>
            <a:r>
              <a:rPr sz="1150" b="0">
                <a:solidFill>
                  <a:srgbClr val="F8FAFC"/>
                </a:solidFill>
                <a:latin typeface="Segoe UI"/>
              </a:rPr>
              <a:t>Presisi OCR</a:t>
            </a:r>
          </a:p>
        </p:txBody>
      </p:sp>
      <p:sp>
        <p:nvSpPr>
          <p:cNvPr id="28" name="TextBox 27"/>
          <p:cNvSpPr txBox="1"/>
          <p:nvPr/>
        </p:nvSpPr>
        <p:spPr>
          <a:xfrm>
            <a:off x="4288536" y="4297680"/>
            <a:ext cx="3840480" cy="310896"/>
          </a:xfrm>
          <a:prstGeom prst="rect">
            <a:avLst/>
          </a:prstGeom>
          <a:noFill/>
        </p:spPr>
        <p:txBody>
          <a:bodyPr wrap="square">
            <a:spAutoFit/>
          </a:bodyPr>
          <a:lstStyle/>
          <a:p>
            <a:pPr algn="l">
              <a:lnSpc>
                <a:spcPct val="100000"/>
              </a:lnSpc>
            </a:pPr>
            <a:r>
              <a:rPr sz="1150" b="0">
                <a:solidFill>
                  <a:srgbClr val="A3AEC2"/>
                </a:solidFill>
                <a:latin typeface="Consolas"/>
              </a:rPr>
              <a:t>Presisi Pembacaan</a:t>
            </a:r>
          </a:p>
        </p:txBody>
      </p:sp>
      <p:sp>
        <p:nvSpPr>
          <p:cNvPr id="29" name="TextBox 28"/>
          <p:cNvSpPr txBox="1"/>
          <p:nvPr/>
        </p:nvSpPr>
        <p:spPr>
          <a:xfrm>
            <a:off x="8311896" y="4297680"/>
            <a:ext cx="3337560" cy="310896"/>
          </a:xfrm>
          <a:prstGeom prst="rect">
            <a:avLst/>
          </a:prstGeom>
          <a:noFill/>
        </p:spPr>
        <p:txBody>
          <a:bodyPr wrap="square">
            <a:spAutoFit/>
          </a:bodyPr>
          <a:lstStyle/>
          <a:p>
            <a:pPr algn="l">
              <a:lnSpc>
                <a:spcPct val="100000"/>
              </a:lnSpc>
            </a:pPr>
            <a:r>
              <a:rPr sz="1150" b="0">
                <a:solidFill>
                  <a:srgbClr val="A3AEC2"/>
                </a:solidFill>
                <a:latin typeface="Consolas"/>
              </a:rPr>
              <a:t>konsol pusat — laporan shift</a:t>
            </a:r>
          </a:p>
        </p:txBody>
      </p:sp>
      <p:sp>
        <p:nvSpPr>
          <p:cNvPr id="30" name="TextBox 29"/>
          <p:cNvSpPr txBox="1"/>
          <p:nvPr/>
        </p:nvSpPr>
        <p:spPr>
          <a:xfrm>
            <a:off x="630936" y="4681728"/>
            <a:ext cx="3474720" cy="310896"/>
          </a:xfrm>
          <a:prstGeom prst="rect">
            <a:avLst/>
          </a:prstGeom>
          <a:noFill/>
        </p:spPr>
        <p:txBody>
          <a:bodyPr wrap="square">
            <a:spAutoFit/>
          </a:bodyPr>
          <a:lstStyle/>
          <a:p>
            <a:pPr algn="l">
              <a:lnSpc>
                <a:spcPct val="100000"/>
              </a:lnSpc>
            </a:pPr>
            <a:r>
              <a:rPr sz="1150" b="0">
                <a:solidFill>
                  <a:srgbClr val="F8FAFC"/>
                </a:solidFill>
                <a:latin typeface="Segoe UI"/>
              </a:rPr>
              <a:t>OCR FPS / Ambang Keyakinan OCR</a:t>
            </a:r>
          </a:p>
        </p:txBody>
      </p:sp>
      <p:sp>
        <p:nvSpPr>
          <p:cNvPr id="31" name="TextBox 30"/>
          <p:cNvSpPr txBox="1"/>
          <p:nvPr/>
        </p:nvSpPr>
        <p:spPr>
          <a:xfrm>
            <a:off x="4288536" y="4681728"/>
            <a:ext cx="3840480" cy="310896"/>
          </a:xfrm>
          <a:prstGeom prst="rect">
            <a:avLst/>
          </a:prstGeom>
          <a:noFill/>
        </p:spPr>
        <p:txBody>
          <a:bodyPr wrap="square">
            <a:spAutoFit/>
          </a:bodyPr>
          <a:lstStyle/>
          <a:p>
            <a:pPr algn="l">
              <a:lnSpc>
                <a:spcPct val="100000"/>
              </a:lnSpc>
            </a:pPr>
            <a:r>
              <a:rPr sz="1150" b="0">
                <a:solidFill>
                  <a:srgbClr val="A3AEC2"/>
                </a:solidFill>
                <a:latin typeface="Consolas"/>
              </a:rPr>
              <a:t>FPS Pembacaan / Ambang Keyakinan Pembacaan</a:t>
            </a:r>
          </a:p>
        </p:txBody>
      </p:sp>
      <p:sp>
        <p:nvSpPr>
          <p:cNvPr id="32" name="TextBox 31"/>
          <p:cNvSpPr txBox="1"/>
          <p:nvPr/>
        </p:nvSpPr>
        <p:spPr>
          <a:xfrm>
            <a:off x="8311896" y="4681728"/>
            <a:ext cx="3337560" cy="310896"/>
          </a:xfrm>
          <a:prstGeom prst="rect">
            <a:avLst/>
          </a:prstGeom>
          <a:noFill/>
        </p:spPr>
        <p:txBody>
          <a:bodyPr wrap="square">
            <a:spAutoFit/>
          </a:bodyPr>
          <a:lstStyle/>
          <a:p>
            <a:pPr algn="l">
              <a:lnSpc>
                <a:spcPct val="100000"/>
              </a:lnSpc>
            </a:pPr>
            <a:r>
              <a:rPr sz="1150" b="0">
                <a:solidFill>
                  <a:srgbClr val="A3AEC2"/>
                </a:solidFill>
                <a:latin typeface="Consolas"/>
              </a:rPr>
              <a:t>konsol pusat — perangkat edge</a:t>
            </a:r>
          </a:p>
        </p:txBody>
      </p:sp>
      <p:sp>
        <p:nvSpPr>
          <p:cNvPr id="33" name="TextBox 32"/>
          <p:cNvSpPr txBox="1"/>
          <p:nvPr/>
        </p:nvSpPr>
        <p:spPr>
          <a:xfrm>
            <a:off x="502920" y="5294376"/>
            <a:ext cx="11155680" cy="914400"/>
          </a:xfrm>
          <a:prstGeom prst="rect">
            <a:avLst/>
          </a:prstGeom>
          <a:noFill/>
        </p:spPr>
        <p:txBody>
          <a:bodyPr wrap="square">
            <a:spAutoFit/>
          </a:bodyPr>
          <a:lstStyle/>
          <a:p>
            <a:pPr algn="l">
              <a:lnSpc>
                <a:spcPct val="140000"/>
              </a:lnSpc>
            </a:pPr>
            <a:r>
              <a:rPr sz="1150" b="0">
                <a:solidFill>
                  <a:srgbClr val="F59E0B"/>
                </a:solidFill>
                <a:latin typeface="Segoe UI"/>
              </a:rPr>
              <a:t>Termasuk kolom di PDF dan XLSX laporan shift. Pengenal internal (ocr_backend, ocr_fps, SMART_GATE_OCR_BACKEND, nama modul) tidak diubah — aturannya soal piksel, bukan kode.</a:t>
            </a:r>
          </a:p>
        </p:txBody>
      </p:sp>
      <p:sp>
        <p:nvSpPr>
          <p:cNvPr id="34" name="TextBox 33"/>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35" name="TextBox 34"/>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BUG TAMBAHAN</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Tiga Cacat yang Hanya Terlihat di Browser</a:t>
            </a:r>
          </a:p>
        </p:txBody>
      </p:sp>
      <p:sp>
        <p:nvSpPr>
          <p:cNvPr id="5" name="Rounded Rectangle 4"/>
          <p:cNvSpPr/>
          <p:nvPr/>
        </p:nvSpPr>
        <p:spPr>
          <a:xfrm>
            <a:off x="50292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Sambungan MJPEG bocor</a:t>
            </a:r>
          </a:p>
        </p:txBody>
      </p:sp>
      <p:sp>
        <p:nvSpPr>
          <p:cNvPr id="7" name="TextBox 6"/>
          <p:cNvSpPr txBox="1"/>
          <p:nvPr/>
        </p:nvSpPr>
        <p:spPr>
          <a:xfrm>
            <a:off x="740664"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Konsol menyambung ulang setiap kali frame_seq tidak bergerak ~12 polling — yaitu keadaan normal jalur yang sepi. Setiap sambungan ulang membuka respons baru tanpa menutup yang lama, dan browser hanya punya 6 sambungan per origin. Kolam habis, polling macet, halaman beku pada data lama — dan tab lain ke perangkat itu ikut menggantung.</a:t>
            </a:r>
          </a:p>
        </p:txBody>
      </p:sp>
      <p:sp>
        <p:nvSpPr>
          <p:cNvPr id="8" name="Rounded Rectangle 7"/>
          <p:cNvSpPr/>
          <p:nvPr/>
        </p:nvSpPr>
        <p:spPr>
          <a:xfrm>
            <a:off x="6263640" y="1536192"/>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3" y="1691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Penjaganya</a:t>
            </a:r>
          </a:p>
        </p:txBody>
      </p:sp>
      <p:sp>
        <p:nvSpPr>
          <p:cNvPr id="10" name="TextBox 9"/>
          <p:cNvSpPr txBox="1"/>
          <p:nvPr/>
        </p:nvSpPr>
        <p:spPr>
          <a:xfrm>
            <a:off x="6501383" y="2103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Menyambung ulang hanya bila ada bukti soket mati sementara perangkat jelas berproduksi (frame_age_sec &lt; 3 dan urutan kami macet), src lama dikosongkan lebih dulu, dan perangkat membatasi penonton di 4 dengan pelepasan slot di finally.</a:t>
            </a:r>
          </a:p>
        </p:txBody>
      </p:sp>
      <p:sp>
        <p:nvSpPr>
          <p:cNvPr id="11" name="Rounded Rectangle 10"/>
          <p:cNvSpPr/>
          <p:nvPr/>
        </p:nvSpPr>
        <p:spPr>
          <a:xfrm>
            <a:off x="50292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Bagian hanya digambar saat batas berikutnya tiba</a:t>
            </a:r>
          </a:p>
        </p:txBody>
      </p:sp>
      <p:sp>
        <p:nvSpPr>
          <p:cNvPr id="13" name="TextBox 12"/>
          <p:cNvSpPr txBox="1"/>
          <p:nvPr/>
        </p:nvSpPr>
        <p:spPr>
          <a:xfrm>
            <a:off x="740664"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Perangkat yang menerbitkan satu frame lalu diam meninggalkan panel kosong — JPEG-nya sudah terkirim dan mengendap di parser. STREAM_KEEPALIVE_SEC = 1,0 mengirim ulang frame terkini untuk membilasnya.</a:t>
            </a:r>
          </a:p>
        </p:txBody>
      </p:sp>
      <p:sp>
        <p:nvSpPr>
          <p:cNvPr id="14" name="Rounded Rectangle 13"/>
          <p:cNvSpPr/>
          <p:nvPr/>
        </p:nvSpPr>
        <p:spPr>
          <a:xfrm>
            <a:off x="6263640" y="3822191"/>
            <a:ext cx="5440680" cy="205740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3" y="3977639"/>
            <a:ext cx="4983480" cy="320040"/>
          </a:xfrm>
          <a:prstGeom prst="rect">
            <a:avLst/>
          </a:prstGeom>
          <a:noFill/>
        </p:spPr>
        <p:txBody>
          <a:bodyPr wrap="square">
            <a:spAutoFit/>
          </a:bodyPr>
          <a:lstStyle/>
          <a:p>
            <a:pPr algn="l">
              <a:lnSpc>
                <a:spcPct val="100000"/>
              </a:lnSpc>
            </a:pPr>
            <a:r>
              <a:rPr sz="1300" b="1">
                <a:solidFill>
                  <a:srgbClr val="F59E0B"/>
                </a:solidFill>
                <a:latin typeface="Segoe UI"/>
              </a:rPr>
              <a:t>Potongan gambar tercache menampilkan truk sesi sebelumnya</a:t>
            </a:r>
          </a:p>
        </p:txBody>
      </p:sp>
      <p:sp>
        <p:nvSpPr>
          <p:cNvPr id="16" name="TextBox 15"/>
          <p:cNvSpPr txBox="1"/>
          <p:nvPr/>
        </p:nvSpPr>
        <p:spPr>
          <a:xfrm>
            <a:off x="6501383" y="4389120"/>
            <a:ext cx="4965192" cy="1371600"/>
          </a:xfrm>
          <a:prstGeom prst="rect">
            <a:avLst/>
          </a:prstGeom>
          <a:noFill/>
        </p:spPr>
        <p:txBody>
          <a:bodyPr wrap="square">
            <a:spAutoFit/>
          </a:bodyPr>
          <a:lstStyle/>
          <a:p>
            <a:pPr algn="l">
              <a:lnSpc>
                <a:spcPct val="135000"/>
              </a:lnSpc>
            </a:pPr>
            <a:r>
              <a:rPr sz="1150" b="0">
                <a:solidFill>
                  <a:srgbClr val="A3AEC2"/>
                </a:solidFill>
                <a:latin typeface="Segoe UI"/>
              </a:rPr>
              <a:t>URL potongan dicache satu jam, tapi id jejak dimulai dari 1001 setiap proses restart — jadi konsol menggambar foto truk sesi lalu di sebelah nomor sekarang. Teramati: label 308, gambar 8901. LiveState._session kini ada di URL potongan.</a:t>
            </a:r>
          </a:p>
        </p:txBody>
      </p:sp>
      <p:sp>
        <p:nvSpPr>
          <p:cNvPr id="17" name="TextBox 16"/>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18" name="TextBox 17"/>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VERIFIKASI</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Dijalankan Ujung ke Ujung, Bukan Diuji Sebagian</a:t>
            </a:r>
          </a:p>
        </p:txBody>
      </p:sp>
      <p:sp>
        <p:nvSpPr>
          <p:cNvPr id="5" name="Rectangle 4"/>
          <p:cNvSpPr/>
          <p:nvPr/>
        </p:nvSpPr>
        <p:spPr>
          <a:xfrm>
            <a:off x="502920" y="1554480"/>
            <a:ext cx="11201400" cy="384048"/>
          </a:xfrm>
          <a:prstGeom prst="rect">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618488"/>
            <a:ext cx="4754880" cy="274320"/>
          </a:xfrm>
          <a:prstGeom prst="rect">
            <a:avLst/>
          </a:prstGeom>
          <a:noFill/>
        </p:spPr>
        <p:txBody>
          <a:bodyPr wrap="square">
            <a:spAutoFit/>
          </a:bodyPr>
          <a:lstStyle/>
          <a:p>
            <a:pPr algn="l">
              <a:lnSpc>
                <a:spcPct val="100000"/>
              </a:lnSpc>
            </a:pPr>
            <a:r>
              <a:rPr sz="1050" b="0">
                <a:solidFill>
                  <a:srgbClr val="F59E0B"/>
                </a:solidFill>
                <a:latin typeface="Consolas"/>
              </a:rPr>
              <a:t>Yang diukur</a:t>
            </a:r>
          </a:p>
        </p:txBody>
      </p:sp>
      <p:sp>
        <p:nvSpPr>
          <p:cNvPr id="7" name="TextBox 6"/>
          <p:cNvSpPr txBox="1"/>
          <p:nvPr/>
        </p:nvSpPr>
        <p:spPr>
          <a:xfrm>
            <a:off x="5568696" y="1618488"/>
            <a:ext cx="3108960" cy="274320"/>
          </a:xfrm>
          <a:prstGeom prst="rect">
            <a:avLst/>
          </a:prstGeom>
          <a:noFill/>
        </p:spPr>
        <p:txBody>
          <a:bodyPr wrap="square">
            <a:spAutoFit/>
          </a:bodyPr>
          <a:lstStyle/>
          <a:p>
            <a:pPr algn="l">
              <a:lnSpc>
                <a:spcPct val="100000"/>
              </a:lnSpc>
            </a:pPr>
            <a:r>
              <a:rPr sz="1050" b="0">
                <a:solidFill>
                  <a:srgbClr val="F59E0B"/>
                </a:solidFill>
                <a:latin typeface="Consolas"/>
              </a:rPr>
              <a:t>Sebelum perbaikan</a:t>
            </a:r>
          </a:p>
        </p:txBody>
      </p:sp>
      <p:sp>
        <p:nvSpPr>
          <p:cNvPr id="8" name="TextBox 7"/>
          <p:cNvSpPr txBox="1"/>
          <p:nvPr/>
        </p:nvSpPr>
        <p:spPr>
          <a:xfrm>
            <a:off x="8860536" y="1618488"/>
            <a:ext cx="2788920" cy="274320"/>
          </a:xfrm>
          <a:prstGeom prst="rect">
            <a:avLst/>
          </a:prstGeom>
          <a:noFill/>
        </p:spPr>
        <p:txBody>
          <a:bodyPr wrap="square">
            <a:spAutoFit/>
          </a:bodyPr>
          <a:lstStyle/>
          <a:p>
            <a:pPr algn="l">
              <a:lnSpc>
                <a:spcPct val="100000"/>
              </a:lnSpc>
            </a:pPr>
            <a:r>
              <a:rPr sz="1050" b="0">
                <a:solidFill>
                  <a:srgbClr val="F59E0B"/>
                </a:solidFill>
                <a:latin typeface="Consolas"/>
              </a:rPr>
              <a:t>Sesudah</a:t>
            </a:r>
          </a:p>
        </p:txBody>
      </p:sp>
      <p:sp>
        <p:nvSpPr>
          <p:cNvPr id="9" name="TextBox 8"/>
          <p:cNvSpPr txBox="1"/>
          <p:nvPr/>
        </p:nvSpPr>
        <p:spPr>
          <a:xfrm>
            <a:off x="630936" y="1993392"/>
            <a:ext cx="4754880" cy="310896"/>
          </a:xfrm>
          <a:prstGeom prst="rect">
            <a:avLst/>
          </a:prstGeom>
          <a:noFill/>
        </p:spPr>
        <p:txBody>
          <a:bodyPr wrap="square">
            <a:spAutoFit/>
          </a:bodyPr>
          <a:lstStyle/>
          <a:p>
            <a:pPr algn="l">
              <a:lnSpc>
                <a:spcPct val="100000"/>
              </a:lnSpc>
            </a:pPr>
            <a:r>
              <a:rPr sz="1150" b="0">
                <a:solidFill>
                  <a:srgbClr val="F8FAFC"/>
                </a:solidFill>
                <a:latin typeface="Segoe UI"/>
              </a:rPr>
              <a:t>Truk di dalam pit setelah run masuk</a:t>
            </a:r>
          </a:p>
        </p:txBody>
      </p:sp>
      <p:sp>
        <p:nvSpPr>
          <p:cNvPr id="10" name="TextBox 9"/>
          <p:cNvSpPr txBox="1"/>
          <p:nvPr/>
        </p:nvSpPr>
        <p:spPr>
          <a:xfrm>
            <a:off x="5568696" y="1993392"/>
            <a:ext cx="3108960" cy="310896"/>
          </a:xfrm>
          <a:prstGeom prst="rect">
            <a:avLst/>
          </a:prstGeom>
          <a:noFill/>
        </p:spPr>
        <p:txBody>
          <a:bodyPr wrap="square">
            <a:spAutoFit/>
          </a:bodyPr>
          <a:lstStyle/>
          <a:p>
            <a:pPr algn="l">
              <a:lnSpc>
                <a:spcPct val="100000"/>
              </a:lnSpc>
            </a:pPr>
            <a:r>
              <a:rPr sz="1150" b="0">
                <a:solidFill>
                  <a:srgbClr val="A3AEC2"/>
                </a:solidFill>
                <a:latin typeface="Consolas"/>
              </a:rPr>
              <a:t>—</a:t>
            </a:r>
          </a:p>
        </p:txBody>
      </p:sp>
      <p:sp>
        <p:nvSpPr>
          <p:cNvPr id="11" name="TextBox 10"/>
          <p:cNvSpPr txBox="1"/>
          <p:nvPr/>
        </p:nvSpPr>
        <p:spPr>
          <a:xfrm>
            <a:off x="8860536" y="1993392"/>
            <a:ext cx="2788920" cy="310896"/>
          </a:xfrm>
          <a:prstGeom prst="rect">
            <a:avLst/>
          </a:prstGeom>
          <a:noFill/>
        </p:spPr>
        <p:txBody>
          <a:bodyPr wrap="square">
            <a:spAutoFit/>
          </a:bodyPr>
          <a:lstStyle/>
          <a:p>
            <a:pPr algn="l">
              <a:lnSpc>
                <a:spcPct val="100000"/>
              </a:lnSpc>
            </a:pPr>
            <a:r>
              <a:rPr sz="1150" b="0">
                <a:solidFill>
                  <a:srgbClr val="A3AEC2"/>
                </a:solidFill>
                <a:latin typeface="Consolas"/>
              </a:rPr>
              <a:t>6 (1 belum terdaftar)</a:t>
            </a:r>
          </a:p>
        </p:txBody>
      </p:sp>
      <p:sp>
        <p:nvSpPr>
          <p:cNvPr id="12" name="TextBox 11"/>
          <p:cNvSpPr txBox="1"/>
          <p:nvPr/>
        </p:nvSpPr>
        <p:spPr>
          <a:xfrm>
            <a:off x="630936" y="2377440"/>
            <a:ext cx="4754880" cy="310896"/>
          </a:xfrm>
          <a:prstGeom prst="rect">
            <a:avLst/>
          </a:prstGeom>
          <a:noFill/>
        </p:spPr>
        <p:txBody>
          <a:bodyPr wrap="square">
            <a:spAutoFit/>
          </a:bodyPr>
          <a:lstStyle/>
          <a:p>
            <a:pPr algn="l">
              <a:lnSpc>
                <a:spcPct val="100000"/>
              </a:lnSpc>
            </a:pPr>
            <a:r>
              <a:rPr sz="1150" b="0">
                <a:solidFill>
                  <a:srgbClr val="F8FAFC"/>
                </a:solidFill>
                <a:latin typeface="Segoe UI"/>
              </a:rPr>
              <a:t>Ritase setelah run keluar</a:t>
            </a:r>
          </a:p>
        </p:txBody>
      </p:sp>
      <p:sp>
        <p:nvSpPr>
          <p:cNvPr id="13" name="TextBox 12"/>
          <p:cNvSpPr txBox="1"/>
          <p:nvPr/>
        </p:nvSpPr>
        <p:spPr>
          <a:xfrm>
            <a:off x="5568696" y="2377440"/>
            <a:ext cx="3108960" cy="310896"/>
          </a:xfrm>
          <a:prstGeom prst="rect">
            <a:avLst/>
          </a:prstGeom>
          <a:noFill/>
        </p:spPr>
        <p:txBody>
          <a:bodyPr wrap="square">
            <a:spAutoFit/>
          </a:bodyPr>
          <a:lstStyle/>
          <a:p>
            <a:pPr algn="l">
              <a:lnSpc>
                <a:spcPct val="100000"/>
              </a:lnSpc>
            </a:pPr>
            <a:r>
              <a:rPr sz="1150" b="0">
                <a:solidFill>
                  <a:srgbClr val="A3AEC2"/>
                </a:solidFill>
                <a:latin typeface="Consolas"/>
              </a:rPr>
              <a:t>—</a:t>
            </a:r>
          </a:p>
        </p:txBody>
      </p:sp>
      <p:sp>
        <p:nvSpPr>
          <p:cNvPr id="14" name="TextBox 13"/>
          <p:cNvSpPr txBox="1"/>
          <p:nvPr/>
        </p:nvSpPr>
        <p:spPr>
          <a:xfrm>
            <a:off x="8860536" y="2377440"/>
            <a:ext cx="2788920" cy="310896"/>
          </a:xfrm>
          <a:prstGeom prst="rect">
            <a:avLst/>
          </a:prstGeom>
          <a:noFill/>
        </p:spPr>
        <p:txBody>
          <a:bodyPr wrap="square">
            <a:spAutoFit/>
          </a:bodyPr>
          <a:lstStyle/>
          <a:p>
            <a:pPr algn="l">
              <a:lnSpc>
                <a:spcPct val="100000"/>
              </a:lnSpc>
            </a:pPr>
            <a:r>
              <a:rPr sz="1150" b="0">
                <a:solidFill>
                  <a:srgbClr val="A3AEC2"/>
                </a:solidFill>
                <a:latin typeface="Consolas"/>
              </a:rPr>
              <a:t>6 (1 belum terdaftar)</a:t>
            </a:r>
          </a:p>
        </p:txBody>
      </p:sp>
      <p:sp>
        <p:nvSpPr>
          <p:cNvPr id="15" name="TextBox 14"/>
          <p:cNvSpPr txBox="1"/>
          <p:nvPr/>
        </p:nvSpPr>
        <p:spPr>
          <a:xfrm>
            <a:off x="630936" y="2761488"/>
            <a:ext cx="4754880" cy="310896"/>
          </a:xfrm>
          <a:prstGeom prst="rect">
            <a:avLst/>
          </a:prstGeom>
          <a:noFill/>
        </p:spPr>
        <p:txBody>
          <a:bodyPr wrap="square">
            <a:spAutoFit/>
          </a:bodyPr>
          <a:lstStyle/>
          <a:p>
            <a:pPr algn="l">
              <a:lnSpc>
                <a:spcPct val="100000"/>
              </a:lnSpc>
            </a:pPr>
            <a:r>
              <a:rPr sz="1150" b="0">
                <a:solidFill>
                  <a:srgbClr val="F8FAFC"/>
                </a:solidFill>
                <a:latin typeface="Segoe UI"/>
              </a:rPr>
              <a:t>Lintasan tercatat untuk 12 kali lewat</a:t>
            </a:r>
          </a:p>
        </p:txBody>
      </p:sp>
      <p:sp>
        <p:nvSpPr>
          <p:cNvPr id="16" name="TextBox 15"/>
          <p:cNvSpPr txBox="1"/>
          <p:nvPr/>
        </p:nvSpPr>
        <p:spPr>
          <a:xfrm>
            <a:off x="5568696" y="2761488"/>
            <a:ext cx="3108960" cy="310896"/>
          </a:xfrm>
          <a:prstGeom prst="rect">
            <a:avLst/>
          </a:prstGeom>
          <a:noFill/>
        </p:spPr>
        <p:txBody>
          <a:bodyPr wrap="square">
            <a:spAutoFit/>
          </a:bodyPr>
          <a:lstStyle/>
          <a:p>
            <a:pPr algn="l">
              <a:lnSpc>
                <a:spcPct val="100000"/>
              </a:lnSpc>
            </a:pPr>
            <a:r>
              <a:rPr sz="1150" b="0">
                <a:solidFill>
                  <a:srgbClr val="A3AEC2"/>
                </a:solidFill>
                <a:latin typeface="Consolas"/>
              </a:rPr>
              <a:t>23</a:t>
            </a:r>
          </a:p>
        </p:txBody>
      </p:sp>
      <p:sp>
        <p:nvSpPr>
          <p:cNvPr id="17" name="TextBox 16"/>
          <p:cNvSpPr txBox="1"/>
          <p:nvPr/>
        </p:nvSpPr>
        <p:spPr>
          <a:xfrm>
            <a:off x="8860536" y="2761488"/>
            <a:ext cx="2788920" cy="310896"/>
          </a:xfrm>
          <a:prstGeom prst="rect">
            <a:avLst/>
          </a:prstGeom>
          <a:noFill/>
        </p:spPr>
        <p:txBody>
          <a:bodyPr wrap="square">
            <a:spAutoFit/>
          </a:bodyPr>
          <a:lstStyle/>
          <a:p>
            <a:pPr algn="l">
              <a:lnSpc>
                <a:spcPct val="100000"/>
              </a:lnSpc>
            </a:pPr>
            <a:r>
              <a:rPr sz="1150" b="0">
                <a:solidFill>
                  <a:srgbClr val="A3AEC2"/>
                </a:solidFill>
                <a:latin typeface="Consolas"/>
              </a:rPr>
              <a:t>12</a:t>
            </a:r>
          </a:p>
        </p:txBody>
      </p:sp>
      <p:sp>
        <p:nvSpPr>
          <p:cNvPr id="18" name="TextBox 17"/>
          <p:cNvSpPr txBox="1"/>
          <p:nvPr/>
        </p:nvSpPr>
        <p:spPr>
          <a:xfrm>
            <a:off x="630936" y="3145536"/>
            <a:ext cx="4754880" cy="310896"/>
          </a:xfrm>
          <a:prstGeom prst="rect">
            <a:avLst/>
          </a:prstGeom>
          <a:noFill/>
        </p:spPr>
        <p:txBody>
          <a:bodyPr wrap="square">
            <a:spAutoFit/>
          </a:bodyPr>
          <a:lstStyle/>
          <a:p>
            <a:pPr algn="l">
              <a:lnSpc>
                <a:spcPct val="100000"/>
              </a:lnSpc>
            </a:pPr>
            <a:r>
              <a:rPr sz="1150" b="0">
                <a:solidFill>
                  <a:srgbClr val="F8FAFC"/>
                </a:solidFill>
                <a:latin typeface="Segoe UI"/>
              </a:rPr>
              <a:t>Lintasan belum berpasangan</a:t>
            </a:r>
          </a:p>
        </p:txBody>
      </p:sp>
      <p:sp>
        <p:nvSpPr>
          <p:cNvPr id="19" name="TextBox 18"/>
          <p:cNvSpPr txBox="1"/>
          <p:nvPr/>
        </p:nvSpPr>
        <p:spPr>
          <a:xfrm>
            <a:off x="5568696" y="3145536"/>
            <a:ext cx="3108960" cy="310896"/>
          </a:xfrm>
          <a:prstGeom prst="rect">
            <a:avLst/>
          </a:prstGeom>
          <a:noFill/>
        </p:spPr>
        <p:txBody>
          <a:bodyPr wrap="square">
            <a:spAutoFit/>
          </a:bodyPr>
          <a:lstStyle/>
          <a:p>
            <a:pPr algn="l">
              <a:lnSpc>
                <a:spcPct val="100000"/>
              </a:lnSpc>
            </a:pPr>
            <a:r>
              <a:rPr sz="1150" b="0">
                <a:solidFill>
                  <a:srgbClr val="A3AEC2"/>
                </a:solidFill>
                <a:latin typeface="Consolas"/>
              </a:rPr>
              <a:t>11</a:t>
            </a:r>
          </a:p>
        </p:txBody>
      </p:sp>
      <p:sp>
        <p:nvSpPr>
          <p:cNvPr id="20" name="TextBox 19"/>
          <p:cNvSpPr txBox="1"/>
          <p:nvPr/>
        </p:nvSpPr>
        <p:spPr>
          <a:xfrm>
            <a:off x="8860536" y="3145536"/>
            <a:ext cx="2788920" cy="310896"/>
          </a:xfrm>
          <a:prstGeom prst="rect">
            <a:avLst/>
          </a:prstGeom>
          <a:noFill/>
        </p:spPr>
        <p:txBody>
          <a:bodyPr wrap="square">
            <a:spAutoFit/>
          </a:bodyPr>
          <a:lstStyle/>
          <a:p>
            <a:pPr algn="l">
              <a:lnSpc>
                <a:spcPct val="100000"/>
              </a:lnSpc>
            </a:pPr>
            <a:r>
              <a:rPr sz="1150" b="0">
                <a:solidFill>
                  <a:srgbClr val="A3AEC2"/>
                </a:solidFill>
                <a:latin typeface="Consolas"/>
              </a:rPr>
              <a:t>0</a:t>
            </a:r>
          </a:p>
        </p:txBody>
      </p:sp>
      <p:sp>
        <p:nvSpPr>
          <p:cNvPr id="21" name="TextBox 20"/>
          <p:cNvSpPr txBox="1"/>
          <p:nvPr/>
        </p:nvSpPr>
        <p:spPr>
          <a:xfrm>
            <a:off x="630936" y="3529584"/>
            <a:ext cx="4754880" cy="310896"/>
          </a:xfrm>
          <a:prstGeom prst="rect">
            <a:avLst/>
          </a:prstGeom>
          <a:noFill/>
        </p:spPr>
        <p:txBody>
          <a:bodyPr wrap="square">
            <a:spAutoFit/>
          </a:bodyPr>
          <a:lstStyle/>
          <a:p>
            <a:pPr algn="l">
              <a:lnSpc>
                <a:spcPct val="100000"/>
              </a:lnSpc>
            </a:pPr>
            <a:r>
              <a:rPr sz="1150" b="0">
                <a:solidFill>
                  <a:srgbClr val="F8FAFC"/>
                </a:solidFill>
                <a:latin typeface="Segoe UI"/>
              </a:rPr>
              <a:t>Truk hantu</a:t>
            </a:r>
          </a:p>
        </p:txBody>
      </p:sp>
      <p:sp>
        <p:nvSpPr>
          <p:cNvPr id="22" name="TextBox 21"/>
          <p:cNvSpPr txBox="1"/>
          <p:nvPr/>
        </p:nvSpPr>
        <p:spPr>
          <a:xfrm>
            <a:off x="5568696" y="3529584"/>
            <a:ext cx="3108960" cy="310896"/>
          </a:xfrm>
          <a:prstGeom prst="rect">
            <a:avLst/>
          </a:prstGeom>
          <a:noFill/>
        </p:spPr>
        <p:txBody>
          <a:bodyPr wrap="square">
            <a:spAutoFit/>
          </a:bodyPr>
          <a:lstStyle/>
          <a:p>
            <a:pPr algn="l">
              <a:lnSpc>
                <a:spcPct val="100000"/>
              </a:lnSpc>
            </a:pPr>
            <a:r>
              <a:rPr sz="1150" b="0">
                <a:solidFill>
                  <a:srgbClr val="A3AEC2"/>
                </a:solidFill>
                <a:latin typeface="Consolas"/>
              </a:rPr>
              <a:t>1 ("2254", keyakinan 100%)</a:t>
            </a:r>
          </a:p>
        </p:txBody>
      </p:sp>
      <p:sp>
        <p:nvSpPr>
          <p:cNvPr id="23" name="TextBox 22"/>
          <p:cNvSpPr txBox="1"/>
          <p:nvPr/>
        </p:nvSpPr>
        <p:spPr>
          <a:xfrm>
            <a:off x="8860536" y="3529584"/>
            <a:ext cx="2788920" cy="310896"/>
          </a:xfrm>
          <a:prstGeom prst="rect">
            <a:avLst/>
          </a:prstGeom>
          <a:noFill/>
        </p:spPr>
        <p:txBody>
          <a:bodyPr wrap="square">
            <a:spAutoFit/>
          </a:bodyPr>
          <a:lstStyle/>
          <a:p>
            <a:pPr algn="l">
              <a:lnSpc>
                <a:spcPct val="100000"/>
              </a:lnSpc>
            </a:pPr>
            <a:r>
              <a:rPr sz="1150" b="0">
                <a:solidFill>
                  <a:srgbClr val="A3AEC2"/>
                </a:solidFill>
                <a:latin typeface="Consolas"/>
              </a:rPr>
              <a:t>0</a:t>
            </a:r>
          </a:p>
        </p:txBody>
      </p:sp>
      <p:sp>
        <p:nvSpPr>
          <p:cNvPr id="24" name="TextBox 23"/>
          <p:cNvSpPr txBox="1"/>
          <p:nvPr/>
        </p:nvSpPr>
        <p:spPr>
          <a:xfrm>
            <a:off x="630936" y="3913632"/>
            <a:ext cx="4754880" cy="310896"/>
          </a:xfrm>
          <a:prstGeom prst="rect">
            <a:avLst/>
          </a:prstGeom>
          <a:noFill/>
        </p:spPr>
        <p:txBody>
          <a:bodyPr wrap="square">
            <a:spAutoFit/>
          </a:bodyPr>
          <a:lstStyle/>
          <a:p>
            <a:pPr algn="l">
              <a:lnSpc>
                <a:spcPct val="100000"/>
              </a:lnSpc>
            </a:pPr>
            <a:r>
              <a:rPr sz="1150" b="0">
                <a:solidFill>
                  <a:srgbClr val="F8FAFC"/>
                </a:solidFill>
                <a:latin typeface="Segoe UI"/>
              </a:rPr>
              <a:t>Antrean kirim ke pusat / belum tersinkron</a:t>
            </a:r>
          </a:p>
        </p:txBody>
      </p:sp>
      <p:sp>
        <p:nvSpPr>
          <p:cNvPr id="25" name="TextBox 24"/>
          <p:cNvSpPr txBox="1"/>
          <p:nvPr/>
        </p:nvSpPr>
        <p:spPr>
          <a:xfrm>
            <a:off x="5568696" y="3913632"/>
            <a:ext cx="3108960" cy="310896"/>
          </a:xfrm>
          <a:prstGeom prst="rect">
            <a:avLst/>
          </a:prstGeom>
          <a:noFill/>
        </p:spPr>
        <p:txBody>
          <a:bodyPr wrap="square">
            <a:spAutoFit/>
          </a:bodyPr>
          <a:lstStyle/>
          <a:p>
            <a:pPr algn="l">
              <a:lnSpc>
                <a:spcPct val="100000"/>
              </a:lnSpc>
            </a:pPr>
            <a:r>
              <a:rPr sz="1150" b="0">
                <a:solidFill>
                  <a:srgbClr val="A3AEC2"/>
                </a:solidFill>
                <a:latin typeface="Consolas"/>
              </a:rPr>
              <a:t>—</a:t>
            </a:r>
          </a:p>
        </p:txBody>
      </p:sp>
      <p:sp>
        <p:nvSpPr>
          <p:cNvPr id="26" name="TextBox 25"/>
          <p:cNvSpPr txBox="1"/>
          <p:nvPr/>
        </p:nvSpPr>
        <p:spPr>
          <a:xfrm>
            <a:off x="8860536" y="3913632"/>
            <a:ext cx="2788920" cy="310896"/>
          </a:xfrm>
          <a:prstGeom prst="rect">
            <a:avLst/>
          </a:prstGeom>
          <a:noFill/>
        </p:spPr>
        <p:txBody>
          <a:bodyPr wrap="square">
            <a:spAutoFit/>
          </a:bodyPr>
          <a:lstStyle/>
          <a:p>
            <a:pPr algn="l">
              <a:lnSpc>
                <a:spcPct val="100000"/>
              </a:lnSpc>
            </a:pPr>
            <a:r>
              <a:rPr sz="1150" b="0">
                <a:solidFill>
                  <a:srgbClr val="A3AEC2"/>
                </a:solidFill>
                <a:latin typeface="Consolas"/>
              </a:rPr>
              <a:t>0 / 0</a:t>
            </a:r>
          </a:p>
        </p:txBody>
      </p:sp>
      <p:sp>
        <p:nvSpPr>
          <p:cNvPr id="27" name="TextBox 26"/>
          <p:cNvSpPr txBox="1"/>
          <p:nvPr/>
        </p:nvSpPr>
        <p:spPr>
          <a:xfrm>
            <a:off x="630936" y="4297680"/>
            <a:ext cx="4754880" cy="310896"/>
          </a:xfrm>
          <a:prstGeom prst="rect">
            <a:avLst/>
          </a:prstGeom>
          <a:noFill/>
        </p:spPr>
        <p:txBody>
          <a:bodyPr wrap="square">
            <a:spAutoFit/>
          </a:bodyPr>
          <a:lstStyle/>
          <a:p>
            <a:pPr algn="l">
              <a:lnSpc>
                <a:spcPct val="100000"/>
              </a:lnSpc>
            </a:pPr>
            <a:r>
              <a:rPr sz="1150" b="0">
                <a:solidFill>
                  <a:srgbClr val="F8FAFC"/>
                </a:solidFill>
                <a:latin typeface="Segoe UI"/>
              </a:rPr>
              <a:t>Suite core / edge</a:t>
            </a:r>
          </a:p>
        </p:txBody>
      </p:sp>
      <p:sp>
        <p:nvSpPr>
          <p:cNvPr id="28" name="TextBox 27"/>
          <p:cNvSpPr txBox="1"/>
          <p:nvPr/>
        </p:nvSpPr>
        <p:spPr>
          <a:xfrm>
            <a:off x="5568696" y="4297680"/>
            <a:ext cx="3108960" cy="310896"/>
          </a:xfrm>
          <a:prstGeom prst="rect">
            <a:avLst/>
          </a:prstGeom>
          <a:noFill/>
        </p:spPr>
        <p:txBody>
          <a:bodyPr wrap="square">
            <a:spAutoFit/>
          </a:bodyPr>
          <a:lstStyle/>
          <a:p>
            <a:pPr algn="l">
              <a:lnSpc>
                <a:spcPct val="100000"/>
              </a:lnSpc>
            </a:pPr>
            <a:r>
              <a:rPr sz="1150" b="0">
                <a:solidFill>
                  <a:srgbClr val="A3AEC2"/>
                </a:solidFill>
                <a:latin typeface="Consolas"/>
              </a:rPr>
              <a:t>159 / 119</a:t>
            </a:r>
          </a:p>
        </p:txBody>
      </p:sp>
      <p:sp>
        <p:nvSpPr>
          <p:cNvPr id="29" name="TextBox 28"/>
          <p:cNvSpPr txBox="1"/>
          <p:nvPr/>
        </p:nvSpPr>
        <p:spPr>
          <a:xfrm>
            <a:off x="8860536" y="4297680"/>
            <a:ext cx="2788920" cy="310896"/>
          </a:xfrm>
          <a:prstGeom prst="rect">
            <a:avLst/>
          </a:prstGeom>
          <a:noFill/>
        </p:spPr>
        <p:txBody>
          <a:bodyPr wrap="square">
            <a:spAutoFit/>
          </a:bodyPr>
          <a:lstStyle/>
          <a:p>
            <a:pPr algn="l">
              <a:lnSpc>
                <a:spcPct val="100000"/>
              </a:lnSpc>
            </a:pPr>
            <a:r>
              <a:rPr sz="1150" b="0">
                <a:solidFill>
                  <a:srgbClr val="A3AEC2"/>
                </a:solidFill>
                <a:latin typeface="Consolas"/>
              </a:rPr>
              <a:t>196 / 186</a:t>
            </a:r>
          </a:p>
        </p:txBody>
      </p:sp>
      <p:sp>
        <p:nvSpPr>
          <p:cNvPr id="30" name="TextBox 29"/>
          <p:cNvSpPr txBox="1"/>
          <p:nvPr/>
        </p:nvSpPr>
        <p:spPr>
          <a:xfrm>
            <a:off x="502920" y="4910328"/>
            <a:ext cx="11155680" cy="914400"/>
          </a:xfrm>
          <a:prstGeom prst="rect">
            <a:avLst/>
          </a:prstGeom>
          <a:noFill/>
        </p:spPr>
        <p:txBody>
          <a:bodyPr wrap="square">
            <a:spAutoFit/>
          </a:bodyPr>
          <a:lstStyle/>
          <a:p>
            <a:pPr algn="l">
              <a:lnSpc>
                <a:spcPct val="140000"/>
              </a:lnSpc>
            </a:pPr>
            <a:r>
              <a:rPr sz="1150" b="0">
                <a:solidFill>
                  <a:srgbClr val="F59E0B"/>
                </a:solidFill>
                <a:latin typeface="Segoe UI"/>
              </a:rPr>
              <a:t>Dua proses edge sungguhan terhadap pusat sungguhan, 12 klip, termasuk satu truk (8901) yang memang tidak ada di master 276 unit. Waktu siklus terhitung: 9 menit untuk pasangan operasional.</a:t>
            </a:r>
          </a:p>
        </p:txBody>
      </p:sp>
      <p:sp>
        <p:nvSpPr>
          <p:cNvPr id="31" name="TextBox 30"/>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32" name="TextBox 31"/>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Rectangle 1"/>
          <p:cNvSpPr/>
          <p:nvPr/>
        </p:nvSpPr>
        <p:spPr>
          <a:xfrm>
            <a:off x="502920" y="475488"/>
            <a:ext cx="54864"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8229600" cy="219456"/>
          </a:xfrm>
          <a:prstGeom prst="rect">
            <a:avLst/>
          </a:prstGeom>
          <a:noFill/>
        </p:spPr>
        <p:txBody>
          <a:bodyPr wrap="square">
            <a:spAutoFit/>
          </a:bodyPr>
          <a:lstStyle/>
          <a:p>
            <a:pPr algn="l">
              <a:lnSpc>
                <a:spcPct val="100000"/>
              </a:lnSpc>
            </a:pPr>
            <a:r>
              <a:rPr sz="950" b="0">
                <a:solidFill>
                  <a:srgbClr val="F59E0B"/>
                </a:solidFill>
                <a:latin typeface="Consolas"/>
              </a:rPr>
              <a:t>TERBUKA</a:t>
            </a:r>
          </a:p>
        </p:txBody>
      </p:sp>
      <p:sp>
        <p:nvSpPr>
          <p:cNvPr id="4" name="TextBox 3"/>
          <p:cNvSpPr txBox="1"/>
          <p:nvPr/>
        </p:nvSpPr>
        <p:spPr>
          <a:xfrm>
            <a:off x="685800" y="658368"/>
            <a:ext cx="10515600" cy="502920"/>
          </a:xfrm>
          <a:prstGeom prst="rect">
            <a:avLst/>
          </a:prstGeom>
          <a:noFill/>
        </p:spPr>
        <p:txBody>
          <a:bodyPr wrap="square">
            <a:spAutoFit/>
          </a:bodyPr>
          <a:lstStyle/>
          <a:p>
            <a:pPr algn="l">
              <a:lnSpc>
                <a:spcPct val="100000"/>
              </a:lnSpc>
            </a:pPr>
            <a:r>
              <a:rPr sz="2500" b="1">
                <a:solidFill>
                  <a:srgbClr val="F8FAFC"/>
                </a:solidFill>
                <a:latin typeface="Segoe UI"/>
              </a:rPr>
              <a:t>Yang Belum Selesai</a:t>
            </a:r>
          </a:p>
        </p:txBody>
      </p:sp>
      <p:sp>
        <p:nvSpPr>
          <p:cNvPr id="5" name="Rounded Rectangle 4"/>
          <p:cNvSpPr/>
          <p:nvPr/>
        </p:nvSpPr>
        <p:spPr>
          <a:xfrm>
            <a:off x="502920" y="1600200"/>
            <a:ext cx="11201400" cy="4069080"/>
          </a:xfrm>
          <a:prstGeom prst="roundRect">
            <a:avLst>
              <a:gd name="adj" fmla="val 6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19"/>
            <a:ext cx="10515600" cy="3566160"/>
          </a:xfrm>
          <a:prstGeom prst="rect">
            <a:avLst/>
          </a:prstGeom>
          <a:noFill/>
        </p:spPr>
        <p:txBody>
          <a:bodyPr wrap="square">
            <a:spAutoFit/>
          </a:bodyPr>
          <a:lstStyle/>
          <a:p>
            <a:pPr algn="l">
              <a:lnSpc>
                <a:spcPct val="175000"/>
              </a:lnSpc>
            </a:pPr>
            <a:r>
              <a:rPr sz="1300" b="0">
                <a:solidFill>
                  <a:srgbClr val="A3AEC2"/>
                </a:solidFill>
                <a:latin typeface="Segoe UI"/>
              </a:rPr>
              <a:t>▪  Belum diukur di Orin Nano Super yang sebenarnya. 15 ms PP-OCRv6 tiny terukur di CPU x86 dan punya banyak ruang; 0,5 detik PaddleOCR-VL tidak.</a:t>
            </a:r>
          </a:p>
          <a:p>
            <a:pPr algn="l">
              <a:lnSpc>
                <a:spcPct val="175000"/>
              </a:lnSpc>
            </a:pPr>
            <a:r>
              <a:rPr sz="1300" b="0">
                <a:solidFill>
                  <a:srgbClr val="A3AEC2"/>
                </a:solidFill>
                <a:latin typeface="Segoe UI"/>
              </a:rPr>
              <a:t>▪  Klip uji adalah rekaman YouTube — nomornya bukan armada PT CK-BIB, jadi angka akurasi mengukur pembacaan, bukan identifikasi ujung ke ujung.</a:t>
            </a:r>
          </a:p>
          <a:p>
            <a:pPr algn="l">
              <a:lnSpc>
                <a:spcPct val="175000"/>
              </a:lnSpc>
            </a:pPr>
            <a:r>
              <a:rPr sz="1300" b="0">
                <a:solidFill>
                  <a:srgbClr val="A3AEC2"/>
                </a:solidFill>
                <a:latin typeface="Segoe UI"/>
              </a:rPr>
              <a:t>▪  Koreksi fuzzy bisa memindahkan bacaan yang benar ke truk lain: 5600 terbaca benar, tidak ada di master, dan 4600 satu-satunya tetangga berjarak 1 — jadi tercatat HD 4600. Di lokasi nyata plat memang ada di master, tapi truk tak terdaftar tetap berisiko dikoreksi ke unit terdaftar. Pertanyaan kebijakan, bukan tambalan kode.</a:t>
            </a:r>
          </a:p>
          <a:p>
            <a:pPr algn="l">
              <a:lnSpc>
                <a:spcPct val="175000"/>
              </a:lnSpc>
            </a:pPr>
            <a:r>
              <a:rPr sz="1300" b="0">
                <a:solidFill>
                  <a:srgbClr val="A3AEC2"/>
                </a:solidFill>
                <a:latin typeface="Segoe UI"/>
              </a:rPr>
              <a:t>▪  Konsol pusat belum punya saklar Detail; keyakinan masih tampil di Riwayat Pembacaan dan Laporan Shift.</a:t>
            </a:r>
          </a:p>
          <a:p>
            <a:pPr algn="l">
              <a:lnSpc>
                <a:spcPct val="175000"/>
              </a:lnSpc>
            </a:pPr>
            <a:r>
              <a:rPr sz="1300" b="0">
                <a:solidFill>
                  <a:srgbClr val="A3AEC2"/>
                </a:solidFill>
                <a:latin typeface="Segoe UI"/>
              </a:rPr>
              <a:t>▪  3 error lint di lib/{backend-status,guide,theme}-context.tsx adalah baseline lama, bukan dari perubahan ini.</a:t>
            </a:r>
          </a:p>
        </p:txBody>
      </p:sp>
      <p:sp>
        <p:nvSpPr>
          <p:cNvPr id="7" name="TextBox 6"/>
          <p:cNvSpPr txBox="1"/>
          <p:nvPr/>
        </p:nvSpPr>
        <p:spPr>
          <a:xfrm>
            <a:off x="502920" y="6355080"/>
            <a:ext cx="5943600" cy="228600"/>
          </a:xfrm>
          <a:prstGeom prst="rect">
            <a:avLst/>
          </a:prstGeom>
          <a:noFill/>
        </p:spPr>
        <p:txBody>
          <a:bodyPr wrap="square">
            <a:spAutoFit/>
          </a:bodyPr>
          <a:lstStyle/>
          <a:p>
            <a:pPr algn="l">
              <a:lnSpc>
                <a:spcPct val="100000"/>
              </a:lnSpc>
            </a:pPr>
            <a:r>
              <a:rPr sz="900" b="0">
                <a:solidFill>
                  <a:srgbClr val="6B7688"/>
                </a:solidFill>
                <a:latin typeface="Consolas"/>
              </a:rPr>
              <a:t>ISHS  ·  Perubahan Teknis  ·  2026-08-08</a:t>
            </a:r>
          </a:p>
        </p:txBody>
      </p:sp>
      <p:sp>
        <p:nvSpPr>
          <p:cNvPr id="8" name="TextBox 7"/>
          <p:cNvSpPr txBox="1"/>
          <p:nvPr/>
        </p:nvSpPr>
        <p:spPr>
          <a:xfrm>
            <a:off x="10241280" y="6355080"/>
            <a:ext cx="1463040" cy="228600"/>
          </a:xfrm>
          <a:prstGeom prst="rect">
            <a:avLst/>
          </a:prstGeom>
          <a:noFill/>
        </p:spPr>
        <p:txBody>
          <a:bodyPr wrap="square">
            <a:spAutoFit/>
          </a:bodyPr>
          <a:lstStyle/>
          <a:p>
            <a:pPr algn="r">
              <a:lnSpc>
                <a:spcPct val="100000"/>
              </a:lnSpc>
            </a:pPr>
            <a:r>
              <a:rPr sz="900" b="0">
                <a:solidFill>
                  <a:srgbClr val="6B7688"/>
                </a:solidFill>
                <a:latin typeface="Consolas"/>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