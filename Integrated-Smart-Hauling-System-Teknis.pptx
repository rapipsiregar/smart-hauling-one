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2194560"/>
            <a:ext cx="10515600" cy="1097280"/>
          </a:xfrm>
          <a:prstGeom prst="rect">
            <a:avLst/>
          </a:prstGeom>
          <a:noFill/>
        </p:spPr>
        <p:txBody>
          <a:bodyPr wrap="square">
            <a:spAutoFit/>
          </a:bodyPr>
          <a:lstStyle/>
          <a:p>
            <a:pPr algn="l">
              <a:defRPr sz="4000" b="1">
                <a:solidFill>
                  <a:srgbClr val="F8FAFC"/>
                </a:solidFill>
                <a:latin typeface="Calibri"/>
              </a:defRPr>
            </a:pPr>
            <a:r>
              <a:t>Integrated Smart Hauling System</a:t>
            </a:r>
          </a:p>
        </p:txBody>
      </p:sp>
      <p:sp>
        <p:nvSpPr>
          <p:cNvPr id="3" name="TextBox 2"/>
          <p:cNvSpPr txBox="1"/>
          <p:nvPr/>
        </p:nvSpPr>
        <p:spPr>
          <a:xfrm>
            <a:off x="822960" y="3383280"/>
            <a:ext cx="10515600" cy="1463040"/>
          </a:xfrm>
          <a:prstGeom prst="rect">
            <a:avLst/>
          </a:prstGeom>
          <a:noFill/>
        </p:spPr>
        <p:txBody>
          <a:bodyPr wrap="square">
            <a:spAutoFit/>
          </a:bodyPr>
          <a:lstStyle/>
          <a:p>
            <a:pPr algn="l">
              <a:defRPr sz="2000" b="0">
                <a:solidFill>
                  <a:srgbClr val="A3AEC2"/>
                </a:solidFill>
                <a:latin typeface="Calibri"/>
              </a:defRPr>
            </a:pPr>
            <a:r>
              <a:t>Dokumentasi teknis: dari pipeline batch awal, ke arsitektur gerbang mandiri.</a:t>
            </a:r>
          </a:p>
          <a:p>
            <a:pPr algn="l">
              <a:defRPr sz="2000" b="0">
                <a:solidFill>
                  <a:srgbClr val="A3AEC2"/>
                </a:solidFill>
                <a:latin typeface="Calibri"/>
              </a:defRPr>
            </a:pPr>
            <a:r>
              <a:t>Alur data, algoritma OCR dan voting, pencocokan armada, serta pertimbangan perangkat.</a:t>
            </a:r>
          </a:p>
        </p:txBody>
      </p:sp>
      <p:sp>
        <p:nvSpPr>
          <p:cNvPr id="4" name="TextBox 3"/>
          <p:cNvSpPr txBox="1"/>
          <p:nvPr/>
        </p:nvSpPr>
        <p:spPr>
          <a:xfrm>
            <a:off x="822960" y="5852160"/>
            <a:ext cx="10515600" cy="548640"/>
          </a:xfrm>
          <a:prstGeom prst="rect">
            <a:avLst/>
          </a:prstGeom>
          <a:noFill/>
        </p:spPr>
        <p:txBody>
          <a:bodyPr wrap="square">
            <a:spAutoFit/>
          </a:bodyPr>
          <a:lstStyle/>
          <a:p>
            <a:pPr algn="l">
              <a:defRPr sz="1300" b="0">
                <a:solidFill>
                  <a:srgbClr val="F59E0B"/>
                </a:solidFill>
                <a:latin typeface="Consolas"/>
              </a:defRPr>
            </a:pPr>
            <a:r>
              <a:t>Disusun dari kode dan hasil pengujian nyata · bukan rancangan di atas kertas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BAGIAN 1</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Bagaimana bentuknya sampai seperti sekarang</a:t>
            </a:r>
          </a:p>
        </p:txBody>
      </p:sp>
      <p:sp>
        <p:nvSpPr>
          <p:cNvPr id="4" name="TextBox 3"/>
          <p:cNvSpPr txBox="1"/>
          <p:nvPr/>
        </p:nvSpPr>
        <p:spPr>
          <a:xfrm>
            <a:off x="822960" y="2011680"/>
            <a:ext cx="10515600" cy="4206240"/>
          </a:xfrm>
          <a:prstGeom prst="rect">
            <a:avLst/>
          </a:prstGeom>
          <a:noFill/>
        </p:spPr>
        <p:txBody>
          <a:bodyPr wrap="square">
            <a:spAutoFit/>
          </a:bodyPr>
          <a:lstStyle/>
          <a:p>
            <a:pPr algn="l">
              <a:defRPr sz="1700" b="0">
                <a:solidFill>
                  <a:srgbClr val="A3AEC2"/>
                </a:solidFill>
                <a:latin typeface="Calibri"/>
              </a:defRPr>
            </a:pPr>
            <a:r>
              <a:t>Sistem ini tidak dimulai sebagai perangkat gerbang. Bentuk awalnya adalah pipeline pengolahan berkas: rekaman dikumpulkan, lalu diproses belakangan di satu server.</a:t>
            </a:r>
          </a:p>
          <a:p>
            <a:pPr algn="l">
              <a:defRPr sz="1700" b="0">
                <a:solidFill>
                  <a:srgbClr val="A3AEC2"/>
                </a:solidFill>
                <a:latin typeface="Calibri"/>
              </a:defRPr>
            </a:pPr>
          </a:p>
          <a:p>
            <a:pPr algn="l">
              <a:defRPr sz="1700" b="0">
                <a:solidFill>
                  <a:srgbClr val="A3AEC2"/>
                </a:solidFill>
                <a:latin typeface="Calibri"/>
              </a:defRPr>
            </a:pPr>
            <a:r>
              <a:t>Tiga slide berikut menjelaskan kenapa bentuk itu ditinggalkan, dan apa konsekuensinya terhadap kode yang ada sekarang.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1.1 · AWAL</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Tahap pertama: pipeline batch di satu server</a:t>
            </a:r>
          </a:p>
        </p:txBody>
      </p:sp>
      <p:sp>
        <p:nvSpPr>
          <p:cNvPr id="4" name="TextBox 3"/>
          <p:cNvSpPr txBox="1"/>
          <p:nvPr/>
        </p:nvSpPr>
        <p:spPr>
          <a:xfrm>
            <a:off x="822960" y="2011680"/>
            <a:ext cx="10607040" cy="320040"/>
          </a:xfrm>
          <a:prstGeom prst="rect">
            <a:avLst/>
          </a:prstGeom>
          <a:noFill/>
        </p:spPr>
        <p:txBody>
          <a:bodyPr wrap="square">
            <a:spAutoFit/>
          </a:bodyPr>
          <a:lstStyle/>
          <a:p>
            <a:pPr algn="l">
              <a:defRPr sz="1800" b="1">
                <a:solidFill>
                  <a:srgbClr val="F8FAFC"/>
                </a:solidFill>
                <a:latin typeface="Calibri"/>
              </a:defRPr>
            </a:pPr>
            <a:r>
              <a:t>Rekaman dikumpulkan dulu, diproses kemudian</a:t>
            </a:r>
          </a:p>
        </p:txBody>
      </p:sp>
      <p:sp>
        <p:nvSpPr>
          <p:cNvPr id="5" name="TextBox 4"/>
          <p:cNvSpPr txBox="1"/>
          <p:nvPr/>
        </p:nvSpPr>
        <p:spPr>
          <a:xfrm>
            <a:off x="822960" y="2322576"/>
            <a:ext cx="10607040" cy="548640"/>
          </a:xfrm>
          <a:prstGeom prst="rect">
            <a:avLst/>
          </a:prstGeom>
          <a:noFill/>
        </p:spPr>
        <p:txBody>
          <a:bodyPr wrap="square">
            <a:spAutoFit/>
          </a:bodyPr>
          <a:lstStyle/>
          <a:p>
            <a:pPr algn="l">
              <a:defRPr sz="1400" b="0">
                <a:solidFill>
                  <a:srgbClr val="A3AEC2"/>
                </a:solidFill>
                <a:latin typeface="Calibri"/>
              </a:defRPr>
            </a:pPr>
            <a:r>
              <a:t>Klip video ditaruh di folder per kamera, lalu dijalankan berurutan lewat skrip di labs/. Hasilnya masuk ke SQLite sebagai video_results.</a:t>
            </a:r>
          </a:p>
        </p:txBody>
      </p:sp>
      <p:sp>
        <p:nvSpPr>
          <p:cNvPr id="6" name="TextBox 5"/>
          <p:cNvSpPr txBox="1"/>
          <p:nvPr/>
        </p:nvSpPr>
        <p:spPr>
          <a:xfrm>
            <a:off x="822960" y="2880360"/>
            <a:ext cx="10607040" cy="320040"/>
          </a:xfrm>
          <a:prstGeom prst="rect">
            <a:avLst/>
          </a:prstGeom>
          <a:noFill/>
        </p:spPr>
        <p:txBody>
          <a:bodyPr wrap="square">
            <a:spAutoFit/>
          </a:bodyPr>
          <a:lstStyle/>
          <a:p>
            <a:pPr algn="l">
              <a:defRPr sz="1800" b="1">
                <a:solidFill>
                  <a:srgbClr val="F8FAFC"/>
                </a:solidFill>
                <a:latin typeface="Calibri"/>
              </a:defRPr>
            </a:pPr>
            <a:r>
              <a:t>Deteksi memakai SAM 3, lalu diganti YOLO terlatih</a:t>
            </a:r>
          </a:p>
        </p:txBody>
      </p:sp>
      <p:sp>
        <p:nvSpPr>
          <p:cNvPr id="7" name="TextBox 6"/>
          <p:cNvSpPr txBox="1"/>
          <p:nvPr/>
        </p:nvSpPr>
        <p:spPr>
          <a:xfrm>
            <a:off x="822960" y="3191256"/>
            <a:ext cx="10607040" cy="548640"/>
          </a:xfrm>
          <a:prstGeom prst="rect">
            <a:avLst/>
          </a:prstGeom>
          <a:noFill/>
        </p:spPr>
        <p:txBody>
          <a:bodyPr wrap="square">
            <a:spAutoFit/>
          </a:bodyPr>
          <a:lstStyle/>
          <a:p>
            <a:pPr algn="l">
              <a:defRPr sz="1400" b="0">
                <a:solidFill>
                  <a:srgbClr val="A3AEC2"/>
                </a:solidFill>
                <a:latin typeface="Calibri"/>
              </a:defRPr>
            </a:pPr>
            <a:r>
              <a:t>Percobaan awal memakai segmentasi SAM 3 untuk menemukan area nomor lambung. Terlalu berat dan tidak spesifik; digantikan model YOLO26n yang dilatih khusus mengenali plat nomor lambung.</a:t>
            </a:r>
          </a:p>
        </p:txBody>
      </p:sp>
      <p:sp>
        <p:nvSpPr>
          <p:cNvPr id="8" name="TextBox 7"/>
          <p:cNvSpPr txBox="1"/>
          <p:nvPr/>
        </p:nvSpPr>
        <p:spPr>
          <a:xfrm>
            <a:off x="822960" y="3749040"/>
            <a:ext cx="10607040" cy="320040"/>
          </a:xfrm>
          <a:prstGeom prst="rect">
            <a:avLst/>
          </a:prstGeom>
          <a:noFill/>
        </p:spPr>
        <p:txBody>
          <a:bodyPr wrap="square">
            <a:spAutoFit/>
          </a:bodyPr>
          <a:lstStyle/>
          <a:p>
            <a:pPr algn="l">
              <a:defRPr sz="1800" b="1">
                <a:solidFill>
                  <a:srgbClr val="F8FAFC"/>
                </a:solidFill>
                <a:latin typeface="Calibri"/>
              </a:defRPr>
            </a:pPr>
            <a:r>
              <a:t>OCR memakai PaddleOCR-VL, sempat diadu dengan Nemotron</a:t>
            </a:r>
          </a:p>
        </p:txBody>
      </p:sp>
      <p:sp>
        <p:nvSpPr>
          <p:cNvPr id="9" name="TextBox 8"/>
          <p:cNvSpPr txBox="1"/>
          <p:nvPr/>
        </p:nvSpPr>
        <p:spPr>
          <a:xfrm>
            <a:off x="822960" y="4059936"/>
            <a:ext cx="10607040" cy="548640"/>
          </a:xfrm>
          <a:prstGeom prst="rect">
            <a:avLst/>
          </a:prstGeom>
          <a:noFill/>
        </p:spPr>
        <p:txBody>
          <a:bodyPr wrap="square">
            <a:spAutoFit/>
          </a:bodyPr>
          <a:lstStyle/>
          <a:p>
            <a:pPr algn="l">
              <a:defRPr sz="1400" b="0">
                <a:solidFill>
                  <a:srgbClr val="A3AEC2"/>
                </a:solidFill>
                <a:latin typeface="Calibri"/>
              </a:defRPr>
            </a:pPr>
            <a:r>
              <a:t>Dua mesin OCR diuji berdampingan (labs/04 dan labs/05). PaddleOCR-VL menang untuk kasus angka pendek pada permukaan kotor.</a:t>
            </a:r>
          </a:p>
        </p:txBody>
      </p:sp>
      <p:sp>
        <p:nvSpPr>
          <p:cNvPr id="10" name="TextBox 9"/>
          <p:cNvSpPr txBox="1"/>
          <p:nvPr/>
        </p:nvSpPr>
        <p:spPr>
          <a:xfrm>
            <a:off x="822960" y="4617720"/>
            <a:ext cx="10607040" cy="320040"/>
          </a:xfrm>
          <a:prstGeom prst="rect">
            <a:avLst/>
          </a:prstGeom>
          <a:noFill/>
        </p:spPr>
        <p:txBody>
          <a:bodyPr wrap="square">
            <a:spAutoFit/>
          </a:bodyPr>
          <a:lstStyle/>
          <a:p>
            <a:pPr algn="l">
              <a:defRPr sz="1800" b="1">
                <a:solidFill>
                  <a:srgbClr val="F8FAFC"/>
                </a:solidFill>
                <a:latin typeface="Calibri"/>
              </a:defRPr>
            </a:pPr>
            <a:r>
              <a:t>Keterbatasan mendasar: tidak ada yang terjadi saat truk lewat</a:t>
            </a:r>
          </a:p>
        </p:txBody>
      </p:sp>
      <p:sp>
        <p:nvSpPr>
          <p:cNvPr id="11" name="TextBox 10"/>
          <p:cNvSpPr txBox="1"/>
          <p:nvPr/>
        </p:nvSpPr>
        <p:spPr>
          <a:xfrm>
            <a:off x="822960" y="4928616"/>
            <a:ext cx="10607040" cy="548640"/>
          </a:xfrm>
          <a:prstGeom prst="rect">
            <a:avLst/>
          </a:prstGeom>
          <a:noFill/>
        </p:spPr>
        <p:txBody>
          <a:bodyPr wrap="square">
            <a:spAutoFit/>
          </a:bodyPr>
          <a:lstStyle/>
          <a:p>
            <a:pPr algn="l">
              <a:defRPr sz="1400" b="0">
                <a:solidFill>
                  <a:srgbClr val="A3AEC2"/>
                </a:solidFill>
                <a:latin typeface="Calibri"/>
              </a:defRPr>
            </a:pPr>
            <a:r>
              <a:t>Ritase baru diketahui setelah rekaman diproses. Untuk operasi tambang, itu terlambat.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1.2 · PERUBAHAN</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Tahap kedua: deteksi dipindah ke gerbang</a:t>
            </a:r>
          </a:p>
        </p:txBody>
      </p:sp>
      <p:sp>
        <p:nvSpPr>
          <p:cNvPr id="4" name="TextBox 3"/>
          <p:cNvSpPr txBox="1"/>
          <p:nvPr/>
        </p:nvSpPr>
        <p:spPr>
          <a:xfrm>
            <a:off x="822960" y="2011680"/>
            <a:ext cx="10607040" cy="320040"/>
          </a:xfrm>
          <a:prstGeom prst="rect">
            <a:avLst/>
          </a:prstGeom>
          <a:noFill/>
        </p:spPr>
        <p:txBody>
          <a:bodyPr wrap="square">
            <a:spAutoFit/>
          </a:bodyPr>
          <a:lstStyle/>
          <a:p>
            <a:pPr algn="l">
              <a:defRPr sz="1800" b="1">
                <a:solidFill>
                  <a:srgbClr val="F8FAFC"/>
                </a:solidFill>
                <a:latin typeface="Calibri"/>
              </a:defRPr>
            </a:pPr>
            <a:r>
              <a:t>Keputusan pemilik sistem, 2 Agustus 2026</a:t>
            </a:r>
          </a:p>
        </p:txBody>
      </p:sp>
      <p:sp>
        <p:nvSpPr>
          <p:cNvPr id="5" name="TextBox 4"/>
          <p:cNvSpPr txBox="1"/>
          <p:nvPr/>
        </p:nvSpPr>
        <p:spPr>
          <a:xfrm>
            <a:off x="822960" y="2322576"/>
            <a:ext cx="10607040" cy="548640"/>
          </a:xfrm>
          <a:prstGeom prst="rect">
            <a:avLst/>
          </a:prstGeom>
          <a:noFill/>
        </p:spPr>
        <p:txBody>
          <a:bodyPr wrap="square">
            <a:spAutoFit/>
          </a:bodyPr>
          <a:lstStyle/>
          <a:p>
            <a:pPr algn="l">
              <a:defRPr sz="1400" b="0">
                <a:solidFill>
                  <a:srgbClr val="A3AEC2"/>
                </a:solidFill>
                <a:latin typeface="Calibri"/>
              </a:defRPr>
            </a:pPr>
            <a:r>
              <a:t>Setiap gerbang menjadi aplikasi mandiri — punya backend, UI, dan basis data sendiri. Pusat berubah peran menjadi pengumpul dan pelapor.</a:t>
            </a:r>
          </a:p>
        </p:txBody>
      </p:sp>
      <p:sp>
        <p:nvSpPr>
          <p:cNvPr id="6" name="TextBox 5"/>
          <p:cNvSpPr txBox="1"/>
          <p:nvPr/>
        </p:nvSpPr>
        <p:spPr>
          <a:xfrm>
            <a:off x="822960" y="2880360"/>
            <a:ext cx="10607040" cy="320040"/>
          </a:xfrm>
          <a:prstGeom prst="rect">
            <a:avLst/>
          </a:prstGeom>
          <a:noFill/>
        </p:spPr>
        <p:txBody>
          <a:bodyPr wrap="square">
            <a:spAutoFit/>
          </a:bodyPr>
          <a:lstStyle/>
          <a:p>
            <a:pPr algn="l">
              <a:defRPr sz="1800" b="1">
                <a:solidFill>
                  <a:srgbClr val="F8FAFC"/>
                </a:solidFill>
                <a:latin typeface="Calibri"/>
              </a:defRPr>
            </a:pPr>
            <a:r>
              <a:t>Alasan utama: gerbang harus tetap bekerja saat jaringan putus</a:t>
            </a:r>
          </a:p>
        </p:txBody>
      </p:sp>
      <p:sp>
        <p:nvSpPr>
          <p:cNvPr id="7" name="TextBox 6"/>
          <p:cNvSpPr txBox="1"/>
          <p:nvPr/>
        </p:nvSpPr>
        <p:spPr>
          <a:xfrm>
            <a:off x="822960" y="3191256"/>
            <a:ext cx="10607040" cy="548640"/>
          </a:xfrm>
          <a:prstGeom prst="rect">
            <a:avLst/>
          </a:prstGeom>
          <a:noFill/>
        </p:spPr>
        <p:txBody>
          <a:bodyPr wrap="square">
            <a:spAutoFit/>
          </a:bodyPr>
          <a:lstStyle/>
          <a:p>
            <a:pPr algn="l">
              <a:defRPr sz="1400" b="0">
                <a:solidFill>
                  <a:srgbClr val="A3AEC2"/>
                </a:solidFill>
                <a:latin typeface="Calibri"/>
              </a:defRPr>
            </a:pPr>
            <a:r>
              <a:t>Tambang bukan kantor. Kalau tautan ke pusat mati, truk tetap lewat dan ritase tetap harus tercatat. Deteksi yang bergantung pada server pusat akan berhenti total.</a:t>
            </a:r>
          </a:p>
        </p:txBody>
      </p:sp>
      <p:sp>
        <p:nvSpPr>
          <p:cNvPr id="8" name="TextBox 7"/>
          <p:cNvSpPr txBox="1"/>
          <p:nvPr/>
        </p:nvSpPr>
        <p:spPr>
          <a:xfrm>
            <a:off x="822960" y="3749040"/>
            <a:ext cx="10607040" cy="320040"/>
          </a:xfrm>
          <a:prstGeom prst="rect">
            <a:avLst/>
          </a:prstGeom>
          <a:noFill/>
        </p:spPr>
        <p:txBody>
          <a:bodyPr wrap="square">
            <a:spAutoFit/>
          </a:bodyPr>
          <a:lstStyle/>
          <a:p>
            <a:pPr algn="l">
              <a:defRPr sz="1800" b="1">
                <a:solidFill>
                  <a:srgbClr val="F8FAFC"/>
                </a:solidFill>
                <a:latin typeface="Calibri"/>
              </a:defRPr>
            </a:pPr>
            <a:r>
              <a:t>Alasan kedua: video tidak perlu dikirim</a:t>
            </a:r>
          </a:p>
        </p:txBody>
      </p:sp>
      <p:sp>
        <p:nvSpPr>
          <p:cNvPr id="9" name="TextBox 8"/>
          <p:cNvSpPr txBox="1"/>
          <p:nvPr/>
        </p:nvSpPr>
        <p:spPr>
          <a:xfrm>
            <a:off x="822960" y="4059936"/>
            <a:ext cx="10607040" cy="548640"/>
          </a:xfrm>
          <a:prstGeom prst="rect">
            <a:avLst/>
          </a:prstGeom>
          <a:noFill/>
        </p:spPr>
        <p:txBody>
          <a:bodyPr wrap="square">
            <a:spAutoFit/>
          </a:bodyPr>
          <a:lstStyle/>
          <a:p>
            <a:pPr algn="l">
              <a:defRPr sz="1400" b="0">
                <a:solidFill>
                  <a:srgbClr val="A3AEC2"/>
                </a:solidFill>
                <a:latin typeface="Calibri"/>
              </a:defRPr>
            </a:pPr>
            <a:r>
              <a:t>Yang dikirim hanya hasil akhir — satu nomor lambung, keyakinannya, dan satu potongan gambar. Bukan aliran video, yang mahal dan rapuh di jaringan seluler.</a:t>
            </a:r>
          </a:p>
        </p:txBody>
      </p:sp>
      <p:sp>
        <p:nvSpPr>
          <p:cNvPr id="10" name="TextBox 9"/>
          <p:cNvSpPr txBox="1"/>
          <p:nvPr/>
        </p:nvSpPr>
        <p:spPr>
          <a:xfrm>
            <a:off x="822960" y="4617720"/>
            <a:ext cx="10607040" cy="320040"/>
          </a:xfrm>
          <a:prstGeom prst="rect">
            <a:avLst/>
          </a:prstGeom>
          <a:noFill/>
        </p:spPr>
        <p:txBody>
          <a:bodyPr wrap="square">
            <a:spAutoFit/>
          </a:bodyPr>
          <a:lstStyle/>
          <a:p>
            <a:pPr algn="l">
              <a:defRPr sz="1800" b="1">
                <a:solidFill>
                  <a:srgbClr val="F8FAFC"/>
                </a:solidFill>
                <a:latin typeface="Calibri"/>
              </a:defRPr>
            </a:pPr>
            <a:r>
              <a:t>Konsekuensi: kode inti diduplikasi, dan itu disengaja</a:t>
            </a:r>
          </a:p>
        </p:txBody>
      </p:sp>
      <p:sp>
        <p:nvSpPr>
          <p:cNvPr id="11" name="TextBox 10"/>
          <p:cNvSpPr txBox="1"/>
          <p:nvPr/>
        </p:nvSpPr>
        <p:spPr>
          <a:xfrm>
            <a:off x="822960" y="4928616"/>
            <a:ext cx="10607040" cy="548640"/>
          </a:xfrm>
          <a:prstGeom prst="rect">
            <a:avLst/>
          </a:prstGeom>
          <a:noFill/>
        </p:spPr>
        <p:txBody>
          <a:bodyPr wrap="square">
            <a:spAutoFit/>
          </a:bodyPr>
          <a:lstStyle/>
          <a:p>
            <a:pPr algn="l">
              <a:defRPr sz="1400" b="0">
                <a:solidFill>
                  <a:srgbClr val="A3AEC2"/>
                </a:solidFill>
                <a:latin typeface="Calibri"/>
              </a:defRPr>
            </a:pPr>
            <a:r>
              <a:t>edge/ tidak boleh mengimpor apa pun dari core/, karena harus bisa dipasang sendirian ke perangkat. Algoritma bersama disalin ke edge/backend/vendor/.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1.3 · RISIKO DUPLIKASI</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Kalau dua salinan berbeda, ritase ikut salah</a:t>
            </a:r>
          </a:p>
        </p:txBody>
      </p:sp>
      <p:sp>
        <p:nvSpPr>
          <p:cNvPr id="4" name="TextBox 3"/>
          <p:cNvSpPr txBox="1"/>
          <p:nvPr/>
        </p:nvSpPr>
        <p:spPr>
          <a:xfrm>
            <a:off x="822960" y="2011680"/>
            <a:ext cx="10515600" cy="4206240"/>
          </a:xfrm>
          <a:prstGeom prst="rect">
            <a:avLst/>
          </a:prstGeom>
          <a:noFill/>
        </p:spPr>
        <p:txBody>
          <a:bodyPr wrap="square">
            <a:spAutoFit/>
          </a:bodyPr>
          <a:lstStyle/>
          <a:p>
            <a:pPr algn="l">
              <a:defRPr sz="1700" b="0">
                <a:solidFill>
                  <a:srgbClr val="A3AEC2"/>
                </a:solidFill>
                <a:latin typeface="Calibri"/>
              </a:defRPr>
            </a:pPr>
            <a:r>
              <a:t>Pencocokan nomor lambung dan voting konsensus ada di dua tempat: di gerbang dan di pusat.</a:t>
            </a:r>
          </a:p>
          <a:p>
            <a:pPr algn="l">
              <a:defRPr sz="1700" b="0">
                <a:solidFill>
                  <a:srgbClr val="A3AEC2"/>
                </a:solidFill>
                <a:latin typeface="Calibri"/>
              </a:defRPr>
            </a:pPr>
          </a:p>
          <a:p>
            <a:pPr algn="l">
              <a:defRPr sz="1700" b="0">
                <a:solidFill>
                  <a:srgbClr val="A3AEC2"/>
                </a:solidFill>
                <a:latin typeface="Calibri"/>
              </a:defRPr>
            </a:pPr>
            <a:r>
              <a:t>Kalau keduanya sempat berbeda walau satu baris, truk yang sama bisa dikenali sebagai unit berbeda di gerbang dan di pusat — dan rekonsiliasi ritase diam-diam berhenti cocok dengan dirinya sendiri.</a:t>
            </a:r>
          </a:p>
          <a:p>
            <a:pPr algn="l">
              <a:defRPr sz="1700" b="0">
                <a:solidFill>
                  <a:srgbClr val="A3AEC2"/>
                </a:solidFill>
                <a:latin typeface="Calibri"/>
              </a:defRPr>
            </a:pPr>
          </a:p>
          <a:p>
            <a:pPr algn="l">
              <a:defRPr sz="1700" b="0">
                <a:solidFill>
                  <a:srgbClr val="A3AEC2"/>
                </a:solidFill>
                <a:latin typeface="Calibri"/>
              </a:defRPr>
            </a:pPr>
            <a:r>
              <a:t>Penjaganya: tests/test_vendor_sync.py memastikan salinan di edge/backend/vendor/ identik byte demi byte dengan aslinya di core/. Kalau tes itu gagal, salin ulang dari core — jangan perbaiki salinan edge sendiri-sendiri, karena justru itu yang dicegah.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BAGIAN 2</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Alur data, ujung ke ujung</a:t>
            </a:r>
          </a:p>
        </p:txBody>
      </p:sp>
      <p:sp>
        <p:nvSpPr>
          <p:cNvPr id="4" name="TextBox 3"/>
          <p:cNvSpPr txBox="1"/>
          <p:nvPr/>
        </p:nvSpPr>
        <p:spPr>
          <a:xfrm>
            <a:off x="822960" y="2011680"/>
            <a:ext cx="10515600" cy="4206240"/>
          </a:xfrm>
          <a:prstGeom prst="rect">
            <a:avLst/>
          </a:prstGeom>
          <a:noFill/>
        </p:spPr>
        <p:txBody>
          <a:bodyPr wrap="square">
            <a:spAutoFit/>
          </a:bodyPr>
          <a:lstStyle/>
          <a:p>
            <a:pPr algn="l">
              <a:defRPr sz="1700" b="0">
                <a:solidFill>
                  <a:srgbClr val="A3AEC2"/>
                </a:solidFill>
                <a:latin typeface="Calibri"/>
              </a:defRPr>
            </a:pPr>
            <a:r>
              <a:t>Dari frame kamera sampai baris ritase di laporan.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2.1 · DI DALAM PERANGKAT GERBANG</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Enam utas yang berjalan bersamaan</a:t>
            </a:r>
          </a:p>
        </p:txBody>
      </p:sp>
      <p:sp>
        <p:nvSpPr>
          <p:cNvPr id="4" name="TextBox 3"/>
          <p:cNvSpPr txBox="1"/>
          <p:nvPr/>
        </p:nvSpPr>
        <p:spPr>
          <a:xfrm>
            <a:off x="822960" y="2011680"/>
            <a:ext cx="10607040" cy="320040"/>
          </a:xfrm>
          <a:prstGeom prst="rect">
            <a:avLst/>
          </a:prstGeom>
          <a:noFill/>
        </p:spPr>
        <p:txBody>
          <a:bodyPr wrap="square">
            <a:spAutoFit/>
          </a:bodyPr>
          <a:lstStyle/>
          <a:p>
            <a:pPr algn="l">
              <a:defRPr sz="1800" b="1">
                <a:solidFill>
                  <a:srgbClr val="F8FAFC"/>
                </a:solidFill>
                <a:latin typeface="Calibri"/>
              </a:defRPr>
            </a:pPr>
            <a:r>
              <a:t>CaptureThread — membaca RTSP ke ring buffer dangkal</a:t>
            </a:r>
          </a:p>
        </p:txBody>
      </p:sp>
      <p:sp>
        <p:nvSpPr>
          <p:cNvPr id="5" name="TextBox 4"/>
          <p:cNvSpPr txBox="1"/>
          <p:nvPr/>
        </p:nvSpPr>
        <p:spPr>
          <a:xfrm>
            <a:off x="822960" y="2322576"/>
            <a:ext cx="10607040" cy="548640"/>
          </a:xfrm>
          <a:prstGeom prst="rect">
            <a:avLst/>
          </a:prstGeom>
          <a:noFill/>
        </p:spPr>
        <p:txBody>
          <a:bodyPr wrap="square">
            <a:spAutoFit/>
          </a:bodyPr>
          <a:lstStyle/>
          <a:p>
            <a:pPr algn="l">
              <a:defRPr sz="1400" b="0">
                <a:solidFill>
                  <a:srgbClr val="A3AEC2"/>
                </a:solidFill>
                <a:latin typeface="Calibri"/>
              </a:defRPr>
            </a:pPr>
            <a:r>
              <a:t>Kedalaman 3 frame saja. Kalau inferensi tertinggal, frame lama dibuang; memproses dekat waktu nyata lebih penting daripada memproses semua frame.</a:t>
            </a:r>
          </a:p>
        </p:txBody>
      </p:sp>
      <p:sp>
        <p:nvSpPr>
          <p:cNvPr id="6" name="TextBox 5"/>
          <p:cNvSpPr txBox="1"/>
          <p:nvPr/>
        </p:nvSpPr>
        <p:spPr>
          <a:xfrm>
            <a:off x="822960" y="2880360"/>
            <a:ext cx="10607040" cy="320040"/>
          </a:xfrm>
          <a:prstGeom prst="rect">
            <a:avLst/>
          </a:prstGeom>
          <a:noFill/>
        </p:spPr>
        <p:txBody>
          <a:bodyPr wrap="square">
            <a:spAutoFit/>
          </a:bodyPr>
          <a:lstStyle/>
          <a:p>
            <a:pPr algn="l">
              <a:defRPr sz="1800" b="1">
                <a:solidFill>
                  <a:srgbClr val="F8FAFC"/>
                </a:solidFill>
                <a:latin typeface="Calibri"/>
              </a:defRPr>
            </a:pPr>
            <a:r>
              <a:t>InferenceLoop — YOLO lalu OCR, berurutan per frame</a:t>
            </a:r>
          </a:p>
        </p:txBody>
      </p:sp>
      <p:sp>
        <p:nvSpPr>
          <p:cNvPr id="7" name="TextBox 6"/>
          <p:cNvSpPr txBox="1"/>
          <p:nvPr/>
        </p:nvSpPr>
        <p:spPr>
          <a:xfrm>
            <a:off x="822960" y="3191256"/>
            <a:ext cx="10607040" cy="548640"/>
          </a:xfrm>
          <a:prstGeom prst="rect">
            <a:avLst/>
          </a:prstGeom>
          <a:noFill/>
        </p:spPr>
        <p:txBody>
          <a:bodyPr wrap="square">
            <a:spAutoFit/>
          </a:bodyPr>
          <a:lstStyle/>
          <a:p>
            <a:pPr algn="l">
              <a:defRPr sz="1400" b="0">
                <a:solidFill>
                  <a:srgbClr val="A3AEC2"/>
                </a:solidFill>
                <a:latin typeface="Calibri"/>
              </a:defRPr>
            </a:pPr>
            <a:r>
              <a:t>Satu koneksi RTSP dipakai bersama semua konsumen. Membuka koneksi kedua berisiko melewati batas klien kamera.</a:t>
            </a:r>
          </a:p>
        </p:txBody>
      </p:sp>
      <p:sp>
        <p:nvSpPr>
          <p:cNvPr id="8" name="TextBox 7"/>
          <p:cNvSpPr txBox="1"/>
          <p:nvPr/>
        </p:nvSpPr>
        <p:spPr>
          <a:xfrm>
            <a:off x="822960" y="3749040"/>
            <a:ext cx="10607040" cy="320040"/>
          </a:xfrm>
          <a:prstGeom prst="rect">
            <a:avLst/>
          </a:prstGeom>
          <a:noFill/>
        </p:spPr>
        <p:txBody>
          <a:bodyPr wrap="square">
            <a:spAutoFit/>
          </a:bodyPr>
          <a:lstStyle/>
          <a:p>
            <a:pPr algn="l">
              <a:defRPr sz="1800" b="1">
                <a:solidFill>
                  <a:srgbClr val="F8FAFC"/>
                </a:solidFill>
                <a:latin typeface="Calibri"/>
              </a:defRPr>
            </a:pPr>
            <a:r>
              <a:t>DetectionWindow — mesin status yang menentukan batas satu truk</a:t>
            </a:r>
          </a:p>
        </p:txBody>
      </p:sp>
      <p:sp>
        <p:nvSpPr>
          <p:cNvPr id="9" name="TextBox 8"/>
          <p:cNvSpPr txBox="1"/>
          <p:nvPr/>
        </p:nvSpPr>
        <p:spPr>
          <a:xfrm>
            <a:off x="822960" y="4059936"/>
            <a:ext cx="10607040" cy="548640"/>
          </a:xfrm>
          <a:prstGeom prst="rect">
            <a:avLst/>
          </a:prstGeom>
          <a:noFill/>
        </p:spPr>
        <p:txBody>
          <a:bodyPr wrap="square">
            <a:spAutoFit/>
          </a:bodyPr>
          <a:lstStyle/>
          <a:p>
            <a:pPr algn="l">
              <a:defRPr sz="1400" b="0">
                <a:solidFill>
                  <a:srgbClr val="A3AEC2"/>
                </a:solidFill>
                <a:latin typeface="Calibri"/>
              </a:defRPr>
            </a:pPr>
            <a:r>
              <a:t>Membuka saat plat terlihat, menutup saat batas durasi tercapai atau plat hilang cukup lama. Satu jendela = satu lintasan.</a:t>
            </a:r>
          </a:p>
        </p:txBody>
      </p:sp>
      <p:sp>
        <p:nvSpPr>
          <p:cNvPr id="10" name="TextBox 9"/>
          <p:cNvSpPr txBox="1"/>
          <p:nvPr/>
        </p:nvSpPr>
        <p:spPr>
          <a:xfrm>
            <a:off x="822960" y="4617720"/>
            <a:ext cx="10607040" cy="320040"/>
          </a:xfrm>
          <a:prstGeom prst="rect">
            <a:avLst/>
          </a:prstGeom>
          <a:noFill/>
        </p:spPr>
        <p:txBody>
          <a:bodyPr wrap="square">
            <a:spAutoFit/>
          </a:bodyPr>
          <a:lstStyle/>
          <a:p>
            <a:pPr algn="l">
              <a:defRPr sz="1800" b="1">
                <a:solidFill>
                  <a:srgbClr val="F8FAFC"/>
                </a:solidFill>
                <a:latin typeface="Calibri"/>
              </a:defRPr>
            </a:pPr>
            <a:r>
              <a:t>LocalFinalizer — voting, cocokkan ke replika master, simpan</a:t>
            </a:r>
          </a:p>
        </p:txBody>
      </p:sp>
      <p:sp>
        <p:nvSpPr>
          <p:cNvPr id="11" name="TextBox 10"/>
          <p:cNvSpPr txBox="1"/>
          <p:nvPr/>
        </p:nvSpPr>
        <p:spPr>
          <a:xfrm>
            <a:off x="822960" y="4928616"/>
            <a:ext cx="10607040" cy="548640"/>
          </a:xfrm>
          <a:prstGeom prst="rect">
            <a:avLst/>
          </a:prstGeom>
          <a:noFill/>
        </p:spPr>
        <p:txBody>
          <a:bodyPr wrap="square">
            <a:spAutoFit/>
          </a:bodyPr>
          <a:lstStyle/>
          <a:p>
            <a:pPr algn="l">
              <a:defRPr sz="1400" b="0">
                <a:solidFill>
                  <a:srgbClr val="A3AEC2"/>
                </a:solidFill>
                <a:latin typeface="Calibri"/>
              </a:defRPr>
            </a:pPr>
            <a:r>
              <a:t>Pencocokan terjadi di perangkat memakai salinan lokal daftar armada, jadi gerbang tetap mengenali truk saat pusat tidak terjangkau.</a:t>
            </a:r>
          </a:p>
        </p:txBody>
      </p:sp>
      <p:sp>
        <p:nvSpPr>
          <p:cNvPr id="12" name="TextBox 11"/>
          <p:cNvSpPr txBox="1"/>
          <p:nvPr/>
        </p:nvSpPr>
        <p:spPr>
          <a:xfrm>
            <a:off x="822960" y="5486400"/>
            <a:ext cx="10607040" cy="320040"/>
          </a:xfrm>
          <a:prstGeom prst="rect">
            <a:avLst/>
          </a:prstGeom>
          <a:noFill/>
        </p:spPr>
        <p:txBody>
          <a:bodyPr wrap="square">
            <a:spAutoFit/>
          </a:bodyPr>
          <a:lstStyle/>
          <a:p>
            <a:pPr algn="l">
              <a:defRPr sz="1800" b="1">
                <a:solidFill>
                  <a:srgbClr val="F8FAFC"/>
                </a:solidFill>
                <a:latin typeface="Calibri"/>
              </a:defRPr>
            </a:pPr>
            <a:r>
              <a:t>Outbox — antrean kirim yang tahan mati listrik</a:t>
            </a:r>
          </a:p>
        </p:txBody>
      </p:sp>
      <p:sp>
        <p:nvSpPr>
          <p:cNvPr id="13" name="TextBox 12"/>
          <p:cNvSpPr txBox="1"/>
          <p:nvPr/>
        </p:nvSpPr>
        <p:spPr>
          <a:xfrm>
            <a:off x="822960" y="5797296"/>
            <a:ext cx="10607040" cy="548640"/>
          </a:xfrm>
          <a:prstGeom prst="rect">
            <a:avLst/>
          </a:prstGeom>
          <a:noFill/>
        </p:spPr>
        <p:txBody>
          <a:bodyPr wrap="square">
            <a:spAutoFit/>
          </a:bodyPr>
          <a:lstStyle/>
          <a:p>
            <a:pPr algn="l">
              <a:defRPr sz="1400" b="0">
                <a:solidFill>
                  <a:srgbClr val="A3AEC2"/>
                </a:solidFill>
                <a:latin typeface="Calibri"/>
              </a:defRPr>
            </a:pPr>
            <a:r>
              <a:t>SQLite. Tidak ada lintasan yang hilang diam-diam: semua respons non-2xx dicoba ulang, termasuk 401, karena kunci yang baru diputar mungkin belum tersebar.</a:t>
            </a:r>
          </a:p>
        </p:txBody>
      </p:sp>
      <p:sp>
        <p:nvSpPr>
          <p:cNvPr id="14" name="TextBox 13"/>
          <p:cNvSpPr txBox="1"/>
          <p:nvPr/>
        </p:nvSpPr>
        <p:spPr>
          <a:xfrm>
            <a:off x="822960" y="6355080"/>
            <a:ext cx="10607040" cy="320040"/>
          </a:xfrm>
          <a:prstGeom prst="rect">
            <a:avLst/>
          </a:prstGeom>
          <a:noFill/>
        </p:spPr>
        <p:txBody>
          <a:bodyPr wrap="square">
            <a:spAutoFit/>
          </a:bodyPr>
          <a:lstStyle/>
          <a:p>
            <a:pPr algn="l">
              <a:defRPr sz="1800" b="1">
                <a:solidFill>
                  <a:srgbClr val="F8FAFC"/>
                </a:solidFill>
                <a:latin typeface="Calibri"/>
              </a:defRPr>
            </a:pPr>
            <a:r>
              <a:t>MasterSync + Heartbeat — menjaga replika dan melapor sehat</a:t>
            </a:r>
          </a:p>
        </p:txBody>
      </p:sp>
      <p:sp>
        <p:nvSpPr>
          <p:cNvPr id="15" name="TextBox 14"/>
          <p:cNvSpPr txBox="1"/>
          <p:nvPr/>
        </p:nvSpPr>
        <p:spPr>
          <a:xfrm>
            <a:off x="822960" y="6665976"/>
            <a:ext cx="10607040" cy="548640"/>
          </a:xfrm>
          <a:prstGeom prst="rect">
            <a:avLst/>
          </a:prstGeom>
          <a:noFill/>
        </p:spPr>
        <p:txBody>
          <a:bodyPr wrap="square">
            <a:spAutoFit/>
          </a:bodyPr>
          <a:lstStyle/>
          <a:p>
            <a:pPr algn="l">
              <a:defRPr sz="1400" b="0">
                <a:solidFill>
                  <a:srgbClr val="A3AEC2"/>
                </a:solidFill>
                <a:latin typeface="Calibri"/>
              </a:defRPr>
            </a:pPr>
            <a:r>
              <a:t>Master ditarik hanya kalau versinya berubah. Perangkat yang diam 90 detik ditandai offline oleh pusat.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2.2 · JENDELA DETEKSI</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Menentukan batas satu truk</a:t>
            </a:r>
          </a:p>
        </p:txBody>
      </p:sp>
      <p:sp>
        <p:nvSpPr>
          <p:cNvPr id="4" name="TextBox 3"/>
          <p:cNvSpPr txBox="1"/>
          <p:nvPr/>
        </p:nvSpPr>
        <p:spPr>
          <a:xfrm>
            <a:off x="822960" y="2011680"/>
            <a:ext cx="10515600" cy="4206240"/>
          </a:xfrm>
          <a:prstGeom prst="rect">
            <a:avLst/>
          </a:prstGeom>
          <a:noFill/>
        </p:spPr>
        <p:txBody>
          <a:bodyPr wrap="square">
            <a:spAutoFit/>
          </a:bodyPr>
          <a:lstStyle/>
          <a:p>
            <a:pPr algn="l">
              <a:defRPr sz="1700" b="0">
                <a:solidFill>
                  <a:srgbClr val="A3AEC2"/>
                </a:solidFill>
                <a:latin typeface="Calibri"/>
              </a:defRPr>
            </a:pPr>
            <a:r>
              <a:t>Satu truk lewat = satu Detection Window = satu lintasan. Jendela ditutup oleh salah satu dari:</a:t>
            </a:r>
          </a:p>
          <a:p>
            <a:pPr algn="l">
              <a:defRPr sz="1700" b="0">
                <a:solidFill>
                  <a:srgbClr val="A3AEC2"/>
                </a:solidFill>
                <a:latin typeface="Calibri"/>
              </a:defRPr>
            </a:pPr>
          </a:p>
          <a:p>
            <a:pPr algn="l">
              <a:defRPr sz="1700" b="0">
                <a:solidFill>
                  <a:srgbClr val="A3AEC2"/>
                </a:solidFill>
                <a:latin typeface="Calibri"/>
              </a:defRPr>
            </a:pPr>
            <a:r>
              <a:t>• Batas durasi (detect_window_sec) — setelan perangkat, sekarang 10 detik</a:t>
            </a:r>
          </a:p>
          <a:p>
            <a:pPr algn="l">
              <a:defRPr sz="1700" b="0">
                <a:solidFill>
                  <a:srgbClr val="A3AEC2"/>
                </a:solidFill>
                <a:latin typeface="Calibri"/>
              </a:defRPr>
            </a:pPr>
            <a:r>
              <a:t>• Jeda tanpa deteksi (NO_DETECTION_GRACE_SEC) — konstanta kode, sekarang 2,5 detik</a:t>
            </a:r>
          </a:p>
          <a:p>
            <a:pPr algn="l">
              <a:defRPr sz="1700" b="0">
                <a:solidFill>
                  <a:srgbClr val="A3AEC2"/>
                </a:solidFill>
                <a:latin typeface="Calibri"/>
              </a:defRPr>
            </a:pPr>
          </a:p>
          <a:p>
            <a:pPr algn="l">
              <a:defRPr sz="1700" b="0">
                <a:solidFill>
                  <a:srgbClr val="A3AEC2"/>
                </a:solidFill>
                <a:latin typeface="Calibri"/>
              </a:defRPr>
            </a:pPr>
            <a:r>
              <a:t>Setelah menutup, ada masa tenang 1 detik supaya deteksi di ekor truk tidak langsung membuka jendela kedua untuk truk fisik yang sama.</a:t>
            </a:r>
          </a:p>
          <a:p>
            <a:pPr algn="l">
              <a:defRPr sz="1700" b="0">
                <a:solidFill>
                  <a:srgbClr val="A3AEC2"/>
                </a:solidFill>
                <a:latin typeface="Calibri"/>
              </a:defRPr>
            </a:pPr>
          </a:p>
          <a:p>
            <a:pPr algn="l">
              <a:defRPr sz="1700" b="0">
                <a:solidFill>
                  <a:srgbClr val="A3AEC2"/>
                </a:solidFill>
                <a:latin typeface="Calibri"/>
              </a:defRPr>
            </a:pPr>
            <a:r>
              <a:t>Angka 2,5 detik itu hasil ukur, bukan tebakan — dijelaskan di bagian pengujian.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2.3 · YANG DIKIRIM KE PUSAT</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Satu lintasan, bukan aliran video</a:t>
            </a:r>
          </a:p>
        </p:txBody>
      </p:sp>
      <p:sp>
        <p:nvSpPr>
          <p:cNvPr id="4" name="TextBox 3"/>
          <p:cNvSpPr txBox="1"/>
          <p:nvPr/>
        </p:nvSpPr>
        <p:spPr>
          <a:xfrm>
            <a:off x="822960" y="2011680"/>
            <a:ext cx="10607040" cy="320040"/>
          </a:xfrm>
          <a:prstGeom prst="rect">
            <a:avLst/>
          </a:prstGeom>
          <a:noFill/>
        </p:spPr>
        <p:txBody>
          <a:bodyPr wrap="square">
            <a:spAutoFit/>
          </a:bodyPr>
          <a:lstStyle/>
          <a:p>
            <a:pPr algn="l">
              <a:defRPr sz="1800" b="1">
                <a:solidFill>
                  <a:srgbClr val="F8FAFC"/>
                </a:solidFill>
                <a:latin typeface="Calibri"/>
              </a:defRPr>
            </a:pPr>
            <a:r>
              <a:t>Muatan: satu JSON + satu potongan gambar</a:t>
            </a:r>
          </a:p>
        </p:txBody>
      </p:sp>
      <p:sp>
        <p:nvSpPr>
          <p:cNvPr id="5" name="TextBox 4"/>
          <p:cNvSpPr txBox="1"/>
          <p:nvPr/>
        </p:nvSpPr>
        <p:spPr>
          <a:xfrm>
            <a:off x="822960" y="2322576"/>
            <a:ext cx="10607040" cy="548640"/>
          </a:xfrm>
          <a:prstGeom prst="rect">
            <a:avLst/>
          </a:prstGeom>
          <a:noFill/>
        </p:spPr>
        <p:txBody>
          <a:bodyPr wrap="square">
            <a:spAutoFit/>
          </a:bodyPr>
          <a:lstStyle/>
          <a:p>
            <a:pPr algn="l">
              <a:defRPr sz="1400" b="0">
                <a:solidFill>
                  <a:srgbClr val="A3AEC2"/>
                </a:solidFill>
                <a:latin typeface="Calibri"/>
              </a:defRPr>
            </a:pPr>
            <a:r>
              <a:t>camera_code, detected_at, window_sec, hull_id, confidence, read_count, dan sebaran voting. Ditambah satu JPEG potongan plat.</a:t>
            </a:r>
          </a:p>
        </p:txBody>
      </p:sp>
      <p:sp>
        <p:nvSpPr>
          <p:cNvPr id="6" name="TextBox 5"/>
          <p:cNvSpPr txBox="1"/>
          <p:nvPr/>
        </p:nvSpPr>
        <p:spPr>
          <a:xfrm>
            <a:off x="822960" y="2880360"/>
            <a:ext cx="10607040" cy="320040"/>
          </a:xfrm>
          <a:prstGeom prst="rect">
            <a:avLst/>
          </a:prstGeom>
          <a:noFill/>
        </p:spPr>
        <p:txBody>
          <a:bodyPr wrap="square">
            <a:spAutoFit/>
          </a:bodyPr>
          <a:lstStyle/>
          <a:p>
            <a:pPr algn="l">
              <a:defRPr sz="1800" b="1">
                <a:solidFill>
                  <a:srgbClr val="F8FAFC"/>
                </a:solidFill>
                <a:latin typeface="Calibri"/>
              </a:defRPr>
            </a:pPr>
            <a:r>
              <a:t>Idempotency-Key wajib, UUID v4</a:t>
            </a:r>
          </a:p>
        </p:txBody>
      </p:sp>
      <p:sp>
        <p:nvSpPr>
          <p:cNvPr id="7" name="TextBox 6"/>
          <p:cNvSpPr txBox="1"/>
          <p:nvPr/>
        </p:nvSpPr>
        <p:spPr>
          <a:xfrm>
            <a:off x="822960" y="3191256"/>
            <a:ext cx="10607040" cy="548640"/>
          </a:xfrm>
          <a:prstGeom prst="rect">
            <a:avLst/>
          </a:prstGeom>
          <a:noFill/>
        </p:spPr>
        <p:txBody>
          <a:bodyPr wrap="square">
            <a:spAutoFit/>
          </a:bodyPr>
          <a:lstStyle/>
          <a:p>
            <a:pPr algn="l">
              <a:defRPr sz="1400" b="0">
                <a:solidFill>
                  <a:srgbClr val="A3AEC2"/>
                </a:solidFill>
                <a:latin typeface="Calibri"/>
              </a:defRPr>
            </a:pPr>
            <a:r>
              <a:t>Kunci dibuat sekali di antrean dan dipakai ulang di setiap percobaan kirim. Itulah yang membuat pusat bisa menolak duplikat saat jaringan membuat pengiriman terulang.</a:t>
            </a:r>
          </a:p>
        </p:txBody>
      </p:sp>
      <p:sp>
        <p:nvSpPr>
          <p:cNvPr id="8" name="TextBox 7"/>
          <p:cNvSpPr txBox="1"/>
          <p:nvPr/>
        </p:nvSpPr>
        <p:spPr>
          <a:xfrm>
            <a:off x="822960" y="3749040"/>
            <a:ext cx="10607040" cy="320040"/>
          </a:xfrm>
          <a:prstGeom prst="rect">
            <a:avLst/>
          </a:prstGeom>
          <a:noFill/>
        </p:spPr>
        <p:txBody>
          <a:bodyPr wrap="square">
            <a:spAutoFit/>
          </a:bodyPr>
          <a:lstStyle/>
          <a:p>
            <a:pPr algn="l">
              <a:defRPr sz="1800" b="1">
                <a:solidFill>
                  <a:srgbClr val="F8FAFC"/>
                </a:solidFill>
                <a:latin typeface="Calibri"/>
              </a:defRPr>
            </a:pPr>
            <a:r>
              <a:t>Autentikasi per perangkat</a:t>
            </a:r>
          </a:p>
        </p:txBody>
      </p:sp>
      <p:sp>
        <p:nvSpPr>
          <p:cNvPr id="9" name="TextBox 8"/>
          <p:cNvSpPr txBox="1"/>
          <p:nvPr/>
        </p:nvSpPr>
        <p:spPr>
          <a:xfrm>
            <a:off x="822960" y="4059936"/>
            <a:ext cx="10607040" cy="548640"/>
          </a:xfrm>
          <a:prstGeom prst="rect">
            <a:avLst/>
          </a:prstGeom>
          <a:noFill/>
        </p:spPr>
        <p:txBody>
          <a:bodyPr wrap="square">
            <a:spAutoFit/>
          </a:bodyPr>
          <a:lstStyle/>
          <a:p>
            <a:pPr algn="l">
              <a:defRPr sz="1400" b="0">
                <a:solidFill>
                  <a:srgbClr val="A3AEC2"/>
                </a:solidFill>
                <a:latin typeface="Calibri"/>
              </a:defRPr>
            </a:pPr>
            <a:r>
              <a:t>Setiap gerbang punya kunci API sendiri. Yang disimpan pusat hanya hash SHA-256-nya; kunci aslinya tidak pernah tersimpan maupun tercatat di log.</a:t>
            </a:r>
          </a:p>
        </p:txBody>
      </p:sp>
      <p:sp>
        <p:nvSpPr>
          <p:cNvPr id="10" name="TextBox 9"/>
          <p:cNvSpPr txBox="1"/>
          <p:nvPr/>
        </p:nvSpPr>
        <p:spPr>
          <a:xfrm>
            <a:off x="822960" y="4617720"/>
            <a:ext cx="10607040" cy="320040"/>
          </a:xfrm>
          <a:prstGeom prst="rect">
            <a:avLst/>
          </a:prstGeom>
          <a:noFill/>
        </p:spPr>
        <p:txBody>
          <a:bodyPr wrap="square">
            <a:spAutoFit/>
          </a:bodyPr>
          <a:lstStyle/>
          <a:p>
            <a:pPr algn="l">
              <a:defRPr sz="1800" b="1">
                <a:solidFill>
                  <a:srgbClr val="F8FAFC"/>
                </a:solidFill>
                <a:latin typeface="Calibri"/>
              </a:defRPr>
            </a:pPr>
            <a:r>
              <a:t>Pusat tidak mengulang deteksi</a:t>
            </a:r>
          </a:p>
        </p:txBody>
      </p:sp>
      <p:sp>
        <p:nvSpPr>
          <p:cNvPr id="11" name="TextBox 10"/>
          <p:cNvSpPr txBox="1"/>
          <p:nvPr/>
        </p:nvSpPr>
        <p:spPr>
          <a:xfrm>
            <a:off x="822960" y="4928616"/>
            <a:ext cx="10607040" cy="548640"/>
          </a:xfrm>
          <a:prstGeom prst="rect">
            <a:avLst/>
          </a:prstGeom>
          <a:noFill/>
        </p:spPr>
        <p:txBody>
          <a:bodyPr wrap="square">
            <a:spAutoFit/>
          </a:bodyPr>
          <a:lstStyle/>
          <a:p>
            <a:pPr algn="l">
              <a:defRPr sz="1400" b="0">
                <a:solidFill>
                  <a:srgbClr val="A3AEC2"/>
                </a:solidFill>
                <a:latin typeface="Calibri"/>
              </a:defRPr>
            </a:pPr>
            <a:r>
              <a:t>Pusat hanya mencocokkan ulang nomor ke master dan menyimpan. Deteksi tidak pernah dijalankan dua kali.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BAGIAN 3</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Algoritma pembacaan nomor lambung</a:t>
            </a:r>
          </a:p>
        </p:txBody>
      </p:sp>
      <p:sp>
        <p:nvSpPr>
          <p:cNvPr id="4" name="TextBox 3"/>
          <p:cNvSpPr txBox="1"/>
          <p:nvPr/>
        </p:nvSpPr>
        <p:spPr>
          <a:xfrm>
            <a:off x="822960" y="2011680"/>
            <a:ext cx="10515600" cy="4206240"/>
          </a:xfrm>
          <a:prstGeom prst="rect">
            <a:avLst/>
          </a:prstGeom>
          <a:noFill/>
        </p:spPr>
        <p:txBody>
          <a:bodyPr wrap="square">
            <a:spAutoFit/>
          </a:bodyPr>
          <a:lstStyle/>
          <a:p>
            <a:pPr algn="l">
              <a:defRPr sz="1700" b="0">
                <a:solidFill>
                  <a:srgbClr val="A3AEC2"/>
                </a:solidFill>
                <a:latin typeface="Calibri"/>
              </a:defRPr>
            </a:pPr>
            <a:r>
              <a:t>Tiga tahap: menemukan platnya, membaca teksnya, lalu memutuskan angkanya.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3.1 · DETEKSI</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YOLO26n yang dilatih khusus</a:t>
            </a:r>
          </a:p>
        </p:txBody>
      </p:sp>
      <p:sp>
        <p:nvSpPr>
          <p:cNvPr id="4" name="TextBox 3"/>
          <p:cNvSpPr txBox="1"/>
          <p:nvPr/>
        </p:nvSpPr>
        <p:spPr>
          <a:xfrm>
            <a:off x="822960" y="2011680"/>
            <a:ext cx="10607040" cy="320040"/>
          </a:xfrm>
          <a:prstGeom prst="rect">
            <a:avLst/>
          </a:prstGeom>
          <a:noFill/>
        </p:spPr>
        <p:txBody>
          <a:bodyPr wrap="square">
            <a:spAutoFit/>
          </a:bodyPr>
          <a:lstStyle/>
          <a:p>
            <a:pPr algn="l">
              <a:defRPr sz="1800" b="1">
                <a:solidFill>
                  <a:srgbClr val="F8FAFC"/>
                </a:solidFill>
                <a:latin typeface="Calibri"/>
              </a:defRPr>
            </a:pPr>
            <a:r>
              <a:t>Model mendeteksi area nomor lambung, bukan trucknya</a:t>
            </a:r>
          </a:p>
        </p:txBody>
      </p:sp>
      <p:sp>
        <p:nvSpPr>
          <p:cNvPr id="5" name="TextBox 4"/>
          <p:cNvSpPr txBox="1"/>
          <p:nvPr/>
        </p:nvSpPr>
        <p:spPr>
          <a:xfrm>
            <a:off x="822960" y="2322576"/>
            <a:ext cx="10607040" cy="548640"/>
          </a:xfrm>
          <a:prstGeom prst="rect">
            <a:avLst/>
          </a:prstGeom>
          <a:noFill/>
        </p:spPr>
        <p:txBody>
          <a:bodyPr wrap="square">
            <a:spAutoFit/>
          </a:bodyPr>
          <a:lstStyle/>
          <a:p>
            <a:pPr algn="l">
              <a:defRPr sz="1400" b="0">
                <a:solidFill>
                  <a:srgbClr val="A3AEC2"/>
                </a:solidFill>
                <a:latin typeface="Calibri"/>
              </a:defRPr>
            </a:pPr>
            <a:r>
              <a:t>truck-id-yolo26n-det-v2-numeric-filtered. Dilatih hanya pada plat nomor lambung, sehingga kotak yang dihasilkan langsung siap dipotong untuk OCR.</a:t>
            </a:r>
          </a:p>
        </p:txBody>
      </p:sp>
      <p:sp>
        <p:nvSpPr>
          <p:cNvPr id="6" name="TextBox 5"/>
          <p:cNvSpPr txBox="1"/>
          <p:nvPr/>
        </p:nvSpPr>
        <p:spPr>
          <a:xfrm>
            <a:off x="822960" y="2880360"/>
            <a:ext cx="10607040" cy="320040"/>
          </a:xfrm>
          <a:prstGeom prst="rect">
            <a:avLst/>
          </a:prstGeom>
          <a:noFill/>
        </p:spPr>
        <p:txBody>
          <a:bodyPr wrap="square">
            <a:spAutoFit/>
          </a:bodyPr>
          <a:lstStyle/>
          <a:p>
            <a:pPr algn="l">
              <a:defRPr sz="1800" b="1">
                <a:solidFill>
                  <a:srgbClr val="F8FAFC"/>
                </a:solidFill>
                <a:latin typeface="Calibri"/>
              </a:defRPr>
            </a:pPr>
            <a:r>
              <a:t>Ambang keyakinan 0,30 diterapkan di dalam model</a:t>
            </a:r>
          </a:p>
        </p:txBody>
      </p:sp>
      <p:sp>
        <p:nvSpPr>
          <p:cNvPr id="7" name="TextBox 6"/>
          <p:cNvSpPr txBox="1"/>
          <p:nvPr/>
        </p:nvSpPr>
        <p:spPr>
          <a:xfrm>
            <a:off x="822960" y="3191256"/>
            <a:ext cx="10607040" cy="548640"/>
          </a:xfrm>
          <a:prstGeom prst="rect">
            <a:avLst/>
          </a:prstGeom>
          <a:noFill/>
        </p:spPr>
        <p:txBody>
          <a:bodyPr wrap="square">
            <a:spAutoFit/>
          </a:bodyPr>
          <a:lstStyle/>
          <a:p>
            <a:pPr algn="l">
              <a:defRPr sz="1400" b="0">
                <a:solidFill>
                  <a:srgbClr val="A3AEC2"/>
                </a:solidFill>
                <a:latin typeface="Calibri"/>
              </a:defRPr>
            </a:pPr>
            <a:r>
              <a:t>conf=DETECT_TRIGGER_CONF diteruskan ke YOLO, jadi kotak di bawah ambang tidak pernah keluar — tidak perlu penyaringan terpisah.</a:t>
            </a:r>
          </a:p>
        </p:txBody>
      </p:sp>
      <p:sp>
        <p:nvSpPr>
          <p:cNvPr id="8" name="TextBox 7"/>
          <p:cNvSpPr txBox="1"/>
          <p:nvPr/>
        </p:nvSpPr>
        <p:spPr>
          <a:xfrm>
            <a:off x="822960" y="3749040"/>
            <a:ext cx="10607040" cy="320040"/>
          </a:xfrm>
          <a:prstGeom prst="rect">
            <a:avLst/>
          </a:prstGeom>
          <a:noFill/>
        </p:spPr>
        <p:txBody>
          <a:bodyPr wrap="square">
            <a:spAutoFit/>
          </a:bodyPr>
          <a:lstStyle/>
          <a:p>
            <a:pPr algn="l">
              <a:defRPr sz="1800" b="1">
                <a:solidFill>
                  <a:srgbClr val="F8FAFC"/>
                </a:solidFill>
                <a:latin typeface="Calibri"/>
              </a:defRPr>
            </a:pPr>
            <a:r>
              <a:t>Terukur: plat terlihat di 88-191 dari 192 frame per klip</a:t>
            </a:r>
          </a:p>
        </p:txBody>
      </p:sp>
      <p:sp>
        <p:nvSpPr>
          <p:cNvPr id="9" name="TextBox 8"/>
          <p:cNvSpPr txBox="1"/>
          <p:nvPr/>
        </p:nvSpPr>
        <p:spPr>
          <a:xfrm>
            <a:off x="822960" y="4059936"/>
            <a:ext cx="10607040" cy="548640"/>
          </a:xfrm>
          <a:prstGeom prst="rect">
            <a:avLst/>
          </a:prstGeom>
          <a:noFill/>
        </p:spPr>
        <p:txBody>
          <a:bodyPr wrap="square">
            <a:spAutoFit/>
          </a:bodyPr>
          <a:lstStyle/>
          <a:p>
            <a:pPr algn="l">
              <a:defRPr sz="1400" b="0">
                <a:solidFill>
                  <a:srgbClr val="A3AEC2"/>
                </a:solidFill>
                <a:latin typeface="Calibri"/>
              </a:defRPr>
            </a:pPr>
            <a:r>
              <a:t>Klip masuk hampir selalu di atas 92%; klip keluar lebih bervariasi karena truk bermuatan, berdebu, dan sudutnya lebih menyamping.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3.2 · OCR</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PaddleOCR-VL pada potongan gambar</a:t>
            </a:r>
          </a:p>
        </p:txBody>
      </p:sp>
      <p:sp>
        <p:nvSpPr>
          <p:cNvPr id="4" name="TextBox 3"/>
          <p:cNvSpPr txBox="1"/>
          <p:nvPr/>
        </p:nvSpPr>
        <p:spPr>
          <a:xfrm>
            <a:off x="822960" y="2011680"/>
            <a:ext cx="10607040" cy="320040"/>
          </a:xfrm>
          <a:prstGeom prst="rect">
            <a:avLst/>
          </a:prstGeom>
          <a:noFill/>
        </p:spPr>
        <p:txBody>
          <a:bodyPr wrap="square">
            <a:spAutoFit/>
          </a:bodyPr>
          <a:lstStyle/>
          <a:p>
            <a:pPr algn="l">
              <a:defRPr sz="1800" b="1">
                <a:solidFill>
                  <a:srgbClr val="F8FAFC"/>
                </a:solidFill>
                <a:latin typeface="Calibri"/>
              </a:defRPr>
            </a:pPr>
            <a:r>
              <a:t>Potongan diberi padding 15% sebelum dibaca</a:t>
            </a:r>
          </a:p>
        </p:txBody>
      </p:sp>
      <p:sp>
        <p:nvSpPr>
          <p:cNvPr id="5" name="TextBox 4"/>
          <p:cNvSpPr txBox="1"/>
          <p:nvPr/>
        </p:nvSpPr>
        <p:spPr>
          <a:xfrm>
            <a:off x="822960" y="2322576"/>
            <a:ext cx="10607040" cy="548640"/>
          </a:xfrm>
          <a:prstGeom prst="rect">
            <a:avLst/>
          </a:prstGeom>
          <a:noFill/>
        </p:spPr>
        <p:txBody>
          <a:bodyPr wrap="square">
            <a:spAutoFit/>
          </a:bodyPr>
          <a:lstStyle/>
          <a:p>
            <a:pPr algn="l">
              <a:defRPr sz="1400" b="0">
                <a:solidFill>
                  <a:srgbClr val="A3AEC2"/>
                </a:solidFill>
                <a:latin typeface="Calibri"/>
              </a:defRPr>
            </a:pPr>
            <a:r>
              <a:t>pad_crop memperluas kotak deteksi supaya digit di tepi tidak terpotong.</a:t>
            </a:r>
          </a:p>
        </p:txBody>
      </p:sp>
      <p:sp>
        <p:nvSpPr>
          <p:cNvPr id="6" name="TextBox 5"/>
          <p:cNvSpPr txBox="1"/>
          <p:nvPr/>
        </p:nvSpPr>
        <p:spPr>
          <a:xfrm>
            <a:off x="822960" y="2880360"/>
            <a:ext cx="10607040" cy="320040"/>
          </a:xfrm>
          <a:prstGeom prst="rect">
            <a:avLst/>
          </a:prstGeom>
          <a:noFill/>
        </p:spPr>
        <p:txBody>
          <a:bodyPr wrap="square">
            <a:spAutoFit/>
          </a:bodyPr>
          <a:lstStyle/>
          <a:p>
            <a:pPr algn="l">
              <a:defRPr sz="1800" b="1">
                <a:solidFill>
                  <a:srgbClr val="F8FAFC"/>
                </a:solidFill>
                <a:latin typeface="Calibri"/>
              </a:defRPr>
            </a:pPr>
            <a:r>
              <a:t>Penyaring luas minimum 400 px²</a:t>
            </a:r>
          </a:p>
        </p:txBody>
      </p:sp>
      <p:sp>
        <p:nvSpPr>
          <p:cNvPr id="7" name="TextBox 6"/>
          <p:cNvSpPr txBox="1"/>
          <p:nvPr/>
        </p:nvSpPr>
        <p:spPr>
          <a:xfrm>
            <a:off x="822960" y="3191256"/>
            <a:ext cx="10607040" cy="548640"/>
          </a:xfrm>
          <a:prstGeom prst="rect">
            <a:avLst/>
          </a:prstGeom>
          <a:noFill/>
        </p:spPr>
        <p:txBody>
          <a:bodyPr wrap="square">
            <a:spAutoFit/>
          </a:bodyPr>
          <a:lstStyle/>
          <a:p>
            <a:pPr algn="l">
              <a:defRPr sz="1400" b="0">
                <a:solidFill>
                  <a:srgbClr val="A3AEC2"/>
                </a:solidFill>
                <a:latin typeface="Calibri"/>
              </a:defRPr>
            </a:pPr>
            <a:r>
              <a:t>Potongan terlalu kecil ditolak sebelum OCR — hasilnya tidak akan terbaca dan hanya membuang waktu.</a:t>
            </a:r>
          </a:p>
        </p:txBody>
      </p:sp>
      <p:sp>
        <p:nvSpPr>
          <p:cNvPr id="8" name="TextBox 7"/>
          <p:cNvSpPr txBox="1"/>
          <p:nvPr/>
        </p:nvSpPr>
        <p:spPr>
          <a:xfrm>
            <a:off x="822960" y="3749040"/>
            <a:ext cx="10607040" cy="320040"/>
          </a:xfrm>
          <a:prstGeom prst="rect">
            <a:avLst/>
          </a:prstGeom>
          <a:noFill/>
        </p:spPr>
        <p:txBody>
          <a:bodyPr wrap="square">
            <a:spAutoFit/>
          </a:bodyPr>
          <a:lstStyle/>
          <a:p>
            <a:pPr algn="l">
              <a:defRPr sz="1800" b="1">
                <a:solidFill>
                  <a:srgbClr val="F8FAFC"/>
                </a:solidFill>
                <a:latin typeface="Calibri"/>
              </a:defRPr>
            </a:pPr>
            <a:r>
              <a:t>Deduplikasi berbasis IoU 0,92</a:t>
            </a:r>
          </a:p>
        </p:txBody>
      </p:sp>
      <p:sp>
        <p:nvSpPr>
          <p:cNvPr id="9" name="TextBox 8"/>
          <p:cNvSpPr txBox="1"/>
          <p:nvPr/>
        </p:nvSpPr>
        <p:spPr>
          <a:xfrm>
            <a:off x="822960" y="4059936"/>
            <a:ext cx="10607040" cy="548640"/>
          </a:xfrm>
          <a:prstGeom prst="rect">
            <a:avLst/>
          </a:prstGeom>
          <a:noFill/>
        </p:spPr>
        <p:txBody>
          <a:bodyPr wrap="square">
            <a:spAutoFit/>
          </a:bodyPr>
          <a:lstStyle/>
          <a:p>
            <a:pPr algn="l">
              <a:defRPr sz="1400" b="0">
                <a:solidFill>
                  <a:srgbClr val="A3AEC2"/>
                </a:solidFill>
                <a:latin typeface="Calibri"/>
              </a:defRPr>
            </a:pPr>
            <a:r>
              <a:t>Kalau kotak yang mau dibaca hampir identik dengan yang barusan dibaca, dilewati. Mencegah membaca gambar yang sama berulang saat truk hampir diam.</a:t>
            </a:r>
          </a:p>
        </p:txBody>
      </p:sp>
      <p:sp>
        <p:nvSpPr>
          <p:cNvPr id="10" name="TextBox 9"/>
          <p:cNvSpPr txBox="1"/>
          <p:nvPr/>
        </p:nvSpPr>
        <p:spPr>
          <a:xfrm>
            <a:off x="822960" y="4617720"/>
            <a:ext cx="10607040" cy="320040"/>
          </a:xfrm>
          <a:prstGeom prst="rect">
            <a:avLst/>
          </a:prstGeom>
          <a:noFill/>
        </p:spPr>
        <p:txBody>
          <a:bodyPr wrap="square">
            <a:spAutoFit/>
          </a:bodyPr>
          <a:lstStyle/>
          <a:p>
            <a:pPr algn="l">
              <a:defRPr sz="1800" b="1">
                <a:solidFill>
                  <a:srgbClr val="F8FAFC"/>
                </a:solidFill>
                <a:latin typeface="Calibri"/>
              </a:defRPr>
            </a:pPr>
            <a:r>
              <a:t>Normalisasi khusus armada numerik</a:t>
            </a:r>
          </a:p>
        </p:txBody>
      </p:sp>
      <p:sp>
        <p:nvSpPr>
          <p:cNvPr id="11" name="TextBox 10"/>
          <p:cNvSpPr txBox="1"/>
          <p:nvPr/>
        </p:nvSpPr>
        <p:spPr>
          <a:xfrm>
            <a:off x="822960" y="4928616"/>
            <a:ext cx="10607040" cy="548640"/>
          </a:xfrm>
          <a:prstGeom prst="rect">
            <a:avLst/>
          </a:prstGeom>
          <a:noFill/>
        </p:spPr>
        <p:txBody>
          <a:bodyPr wrap="square">
            <a:spAutoFit/>
          </a:bodyPr>
          <a:lstStyle/>
          <a:p>
            <a:pPr algn="l">
              <a:defRPr sz="1400" b="0">
                <a:solidFill>
                  <a:srgbClr val="A3AEC2"/>
                </a:solidFill>
                <a:latin typeface="Calibri"/>
              </a:defRPr>
            </a:pPr>
            <a:r>
              <a:t>Karena nomor lambung di armada ini murni angka, huruf di dalam hasil baca pasti salah baca digit: O→0, I→1, Z→2, S→5, B→8. Dipetakan balik sebelum voting.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3.3 · VOTING KONSENSUS</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Kenapa satu pembacaan tidak pernah cukup</a:t>
            </a:r>
          </a:p>
        </p:txBody>
      </p:sp>
      <p:sp>
        <p:nvSpPr>
          <p:cNvPr id="4" name="TextBox 3"/>
          <p:cNvSpPr txBox="1"/>
          <p:nvPr/>
        </p:nvSpPr>
        <p:spPr>
          <a:xfrm>
            <a:off x="822960" y="2011680"/>
            <a:ext cx="10515600" cy="4206240"/>
          </a:xfrm>
          <a:prstGeom prst="rect">
            <a:avLst/>
          </a:prstGeom>
          <a:noFill/>
        </p:spPr>
        <p:txBody>
          <a:bodyPr wrap="square">
            <a:spAutoFit/>
          </a:bodyPr>
          <a:lstStyle/>
          <a:p>
            <a:pPr algn="l">
              <a:defRPr sz="1700" b="0">
                <a:solidFill>
                  <a:srgbClr val="A3AEC2"/>
                </a:solidFill>
                <a:latin typeface="Calibri"/>
              </a:defRPr>
            </a:pPr>
            <a:r>
              <a:t>Setiap jendela mengumpulkan puluhan pembacaan. Semuanya dikelompokkan dengan jarak edit (Levenshtein) maksimal 1, lalu tiap kelompok diberi bobot.</a:t>
            </a:r>
          </a:p>
          <a:p>
            <a:pPr algn="l">
              <a:defRPr sz="1700" b="0">
                <a:solidFill>
                  <a:srgbClr val="A3AEC2"/>
                </a:solidFill>
                <a:latin typeface="Calibri"/>
              </a:defRPr>
            </a:pPr>
          </a:p>
          <a:p>
            <a:pPr algn="l">
              <a:defRPr sz="1700" b="0">
                <a:solidFill>
                  <a:srgbClr val="A3AEC2"/>
                </a:solidFill>
                <a:latin typeface="Calibri"/>
              </a:defRPr>
            </a:pPr>
            <a:r>
              <a:t>Bobot satu pembacaan = keyakinan deteksi × keyakinan OCR.</a:t>
            </a:r>
          </a:p>
          <a:p>
            <a:pPr algn="l">
              <a:defRPr sz="1700" b="0">
                <a:solidFill>
                  <a:srgbClr val="A3AEC2"/>
                </a:solidFill>
                <a:latin typeface="Calibri"/>
              </a:defRPr>
            </a:pPr>
          </a:p>
          <a:p>
            <a:pPr algn="l">
              <a:defRPr sz="1700" b="0">
                <a:solidFill>
                  <a:srgbClr val="A3AEC2"/>
                </a:solidFill>
                <a:latin typeface="Calibri"/>
              </a:defRPr>
            </a:pPr>
            <a:r>
              <a:t>Kelompok dengan bobot terbesar menang, dan porsinya terhadap total menjadi angka keyakinan yang ditampilkan.</a:t>
            </a:r>
          </a:p>
          <a:p>
            <a:pPr algn="l">
              <a:defRPr sz="1700" b="0">
                <a:solidFill>
                  <a:srgbClr val="A3AEC2"/>
                </a:solidFill>
                <a:latin typeface="Calibri"/>
              </a:defRPr>
            </a:pPr>
          </a:p>
          <a:p>
            <a:pPr algn="l">
              <a:defRPr sz="1700" b="0">
                <a:solidFill>
                  <a:srgbClr val="A3AEC2"/>
                </a:solidFill>
                <a:latin typeface="Calibri"/>
              </a:defRPr>
            </a:pPr>
            <a:r>
              <a:t>Contoh nyata dari klip keluar HD 2221: '2221' menang dengan 18 pembacaan (95%), sedangkan 'CAT' — logo di kabin — hanya 1 pembacaan (5%). Tanpa voting, satu frame yang kebetulan menangkap logo bisa menjadi jawaban akhir.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3.4 · PENCOCOKAN KE DAFTAR ARMADA</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276 unit, dan aturan menolak menebak</a:t>
            </a:r>
          </a:p>
        </p:txBody>
      </p:sp>
      <p:sp>
        <p:nvSpPr>
          <p:cNvPr id="4" name="TextBox 3"/>
          <p:cNvSpPr txBox="1"/>
          <p:nvPr/>
        </p:nvSpPr>
        <p:spPr>
          <a:xfrm>
            <a:off x="822960" y="2011680"/>
            <a:ext cx="10607040" cy="320040"/>
          </a:xfrm>
          <a:prstGeom prst="rect">
            <a:avLst/>
          </a:prstGeom>
          <a:noFill/>
        </p:spPr>
        <p:txBody>
          <a:bodyPr wrap="square">
            <a:spAutoFit/>
          </a:bodyPr>
          <a:lstStyle/>
          <a:p>
            <a:pPr algn="l">
              <a:defRPr sz="1800" b="1">
                <a:solidFill>
                  <a:srgbClr val="F8FAFC"/>
                </a:solidFill>
                <a:latin typeface="Calibri"/>
              </a:defRPr>
            </a:pPr>
            <a:r>
              <a:t>Yang terbaca kamera hanya 4 digit</a:t>
            </a:r>
          </a:p>
        </p:txBody>
      </p:sp>
      <p:sp>
        <p:nvSpPr>
          <p:cNvPr id="5" name="TextBox 4"/>
          <p:cNvSpPr txBox="1"/>
          <p:nvPr/>
        </p:nvSpPr>
        <p:spPr>
          <a:xfrm>
            <a:off x="822960" y="2322576"/>
            <a:ext cx="10607040" cy="548640"/>
          </a:xfrm>
          <a:prstGeom prst="rect">
            <a:avLst/>
          </a:prstGeom>
          <a:noFill/>
        </p:spPr>
        <p:txBody>
          <a:bodyPr wrap="square">
            <a:spAutoFit/>
          </a:bodyPr>
          <a:lstStyle/>
          <a:p>
            <a:pPr algn="l">
              <a:defRPr sz="1400" b="0">
                <a:solidFill>
                  <a:srgbClr val="A3AEC2"/>
                </a:solidFill>
                <a:latin typeface="Calibri"/>
              </a:defRPr>
            </a:pPr>
            <a:r>
              <a:t>Awalan operator ('HD') tidak dicat sebesar itu di badan unit, jadi pipeline membaca 4 digit lalu mencocokkannya ke hull_code.</a:t>
            </a:r>
          </a:p>
        </p:txBody>
      </p:sp>
      <p:sp>
        <p:nvSpPr>
          <p:cNvPr id="6" name="TextBox 5"/>
          <p:cNvSpPr txBox="1"/>
          <p:nvPr/>
        </p:nvSpPr>
        <p:spPr>
          <a:xfrm>
            <a:off x="822960" y="2880360"/>
            <a:ext cx="10607040" cy="320040"/>
          </a:xfrm>
          <a:prstGeom prst="rect">
            <a:avLst/>
          </a:prstGeom>
          <a:noFill/>
        </p:spPr>
        <p:txBody>
          <a:bodyPr wrap="square">
            <a:spAutoFit/>
          </a:bodyPr>
          <a:lstStyle/>
          <a:p>
            <a:pPr algn="l">
              <a:defRPr sz="1800" b="1">
                <a:solidFill>
                  <a:srgbClr val="F8FAFC"/>
                </a:solidFill>
                <a:latin typeface="Calibri"/>
              </a:defRPr>
            </a:pPr>
            <a:r>
              <a:t>Cocok persis → dipakai. Selisih 1 digit → dikoreksi.</a:t>
            </a:r>
          </a:p>
        </p:txBody>
      </p:sp>
      <p:sp>
        <p:nvSpPr>
          <p:cNvPr id="7" name="TextBox 6"/>
          <p:cNvSpPr txBox="1"/>
          <p:nvPr/>
        </p:nvSpPr>
        <p:spPr>
          <a:xfrm>
            <a:off x="822960" y="3191256"/>
            <a:ext cx="10607040" cy="548640"/>
          </a:xfrm>
          <a:prstGeom prst="rect">
            <a:avLst/>
          </a:prstGeom>
          <a:noFill/>
        </p:spPr>
        <p:txBody>
          <a:bodyPr wrap="square">
            <a:spAutoFit/>
          </a:bodyPr>
          <a:lstStyle/>
          <a:p>
            <a:pPr algn="l">
              <a:defRPr sz="1400" b="0">
                <a:solidFill>
                  <a:srgbClr val="A3AEC2"/>
                </a:solidFill>
                <a:latin typeface="Calibri"/>
              </a:defRPr>
            </a:pPr>
            <a:r>
              <a:t>Jarak edit maksimum 1. Pada jarak 2, kode 4 digit bertabrakan terus-menerus, jadi itu batas atasnya.</a:t>
            </a:r>
          </a:p>
        </p:txBody>
      </p:sp>
      <p:sp>
        <p:nvSpPr>
          <p:cNvPr id="8" name="TextBox 7"/>
          <p:cNvSpPr txBox="1"/>
          <p:nvPr/>
        </p:nvSpPr>
        <p:spPr>
          <a:xfrm>
            <a:off x="822960" y="3749040"/>
            <a:ext cx="10607040" cy="320040"/>
          </a:xfrm>
          <a:prstGeom prst="rect">
            <a:avLst/>
          </a:prstGeom>
          <a:noFill/>
        </p:spPr>
        <p:txBody>
          <a:bodyPr wrap="square">
            <a:spAutoFit/>
          </a:bodyPr>
          <a:lstStyle/>
          <a:p>
            <a:pPr algn="l">
              <a:defRPr sz="1800" b="1">
                <a:solidFill>
                  <a:srgbClr val="F8FAFC"/>
                </a:solidFill>
                <a:latin typeface="Calibri"/>
              </a:defRPr>
            </a:pPr>
            <a:r>
              <a:t>Kalau dua unit sama dekatnya → sengaja TIDAK ditebak</a:t>
            </a:r>
          </a:p>
        </p:txBody>
      </p:sp>
      <p:sp>
        <p:nvSpPr>
          <p:cNvPr id="9" name="TextBox 8"/>
          <p:cNvSpPr txBox="1"/>
          <p:nvPr/>
        </p:nvSpPr>
        <p:spPr>
          <a:xfrm>
            <a:off x="822960" y="4059936"/>
            <a:ext cx="10607040" cy="548640"/>
          </a:xfrm>
          <a:prstGeom prst="rect">
            <a:avLst/>
          </a:prstGeom>
          <a:noFill/>
        </p:spPr>
        <p:txBody>
          <a:bodyPr wrap="square">
            <a:spAutoFit/>
          </a:bodyPr>
          <a:lstStyle/>
          <a:p>
            <a:pPr algn="l">
              <a:defRPr sz="1400" b="0">
                <a:solidFill>
                  <a:srgbClr val="A3AEC2"/>
                </a:solidFill>
                <a:latin typeface="Calibri"/>
              </a:defRPr>
            </a:pPr>
            <a:r>
              <a:t>Hasilnya ditandai ambigu dan disimpan sebagai tidak dikenali. Menebak berarti ritase tercatat pada truk yang salah — lebih buruk daripada satu lintasan tanpa nama.</a:t>
            </a:r>
          </a:p>
        </p:txBody>
      </p:sp>
      <p:sp>
        <p:nvSpPr>
          <p:cNvPr id="10" name="TextBox 9"/>
          <p:cNvSpPr txBox="1"/>
          <p:nvPr/>
        </p:nvSpPr>
        <p:spPr>
          <a:xfrm>
            <a:off x="822960" y="4617720"/>
            <a:ext cx="10607040" cy="320040"/>
          </a:xfrm>
          <a:prstGeom prst="rect">
            <a:avLst/>
          </a:prstGeom>
          <a:noFill/>
        </p:spPr>
        <p:txBody>
          <a:bodyPr wrap="square">
            <a:spAutoFit/>
          </a:bodyPr>
          <a:lstStyle/>
          <a:p>
            <a:pPr algn="l">
              <a:defRPr sz="1800" b="1">
                <a:solidFill>
                  <a:srgbClr val="F8FAFC"/>
                </a:solidFill>
                <a:latin typeface="Calibri"/>
              </a:defRPr>
            </a:pPr>
            <a:r>
              <a:t>Khusus gerbang keluar: cocokkan dulu ke truk yang di dalam</a:t>
            </a:r>
          </a:p>
        </p:txBody>
      </p:sp>
      <p:sp>
        <p:nvSpPr>
          <p:cNvPr id="11" name="TextBox 10"/>
          <p:cNvSpPr txBox="1"/>
          <p:nvPr/>
        </p:nvSpPr>
        <p:spPr>
          <a:xfrm>
            <a:off x="822960" y="4928616"/>
            <a:ext cx="10607040" cy="548640"/>
          </a:xfrm>
          <a:prstGeom prst="rect">
            <a:avLst/>
          </a:prstGeom>
          <a:noFill/>
        </p:spPr>
        <p:txBody>
          <a:bodyPr wrap="square">
            <a:spAutoFit/>
          </a:bodyPr>
          <a:lstStyle/>
          <a:p>
            <a:pPr algn="l">
              <a:defRPr sz="1400" b="0">
                <a:solidFill>
                  <a:srgbClr val="A3AEC2"/>
                </a:solidFill>
                <a:latin typeface="Calibri"/>
              </a:defRPr>
            </a:pPr>
            <a:r>
              <a:t>Truk yang keluar pasti truk yang tadi masuk dan belum keluar lagi. Himpunan itu biasanya beberapa unit saja, bukan 276 — koreksi yang ambigu se-armada sering menjadi tidak ambigu di situ. Kalau gagal, baru jatuh ke master penuh.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3.5 · KENAPA FALLBACK KE MASTER TETAP ADA</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Jaring pengaman untuk deteksi masuk yang terlewat</a:t>
            </a:r>
          </a:p>
        </p:txBody>
      </p:sp>
      <p:sp>
        <p:nvSpPr>
          <p:cNvPr id="4" name="TextBox 3"/>
          <p:cNvSpPr txBox="1"/>
          <p:nvPr/>
        </p:nvSpPr>
        <p:spPr>
          <a:xfrm>
            <a:off x="822960" y="2011680"/>
            <a:ext cx="10515600" cy="4206240"/>
          </a:xfrm>
          <a:prstGeom prst="rect">
            <a:avLst/>
          </a:prstGeom>
          <a:noFill/>
        </p:spPr>
        <p:txBody>
          <a:bodyPr wrap="square">
            <a:spAutoFit/>
          </a:bodyPr>
          <a:lstStyle/>
          <a:p>
            <a:pPr algn="l">
              <a:defRPr sz="1700" b="0">
                <a:solidFill>
                  <a:srgbClr val="A3AEC2"/>
                </a:solidFill>
                <a:latin typeface="Calibri"/>
              </a:defRPr>
            </a:pPr>
            <a:r>
              <a:t>Himpunan 'truk di dalam pit' disimpulkan dari lintasan yang tercatat. Kalau satu lintasan masuk gagal terdeteksi, truk itu tidak pernah masuk daftar.</a:t>
            </a:r>
          </a:p>
          <a:p>
            <a:pPr algn="l">
              <a:defRPr sz="1700" b="0">
                <a:solidFill>
                  <a:srgbClr val="A3AEC2"/>
                </a:solidFill>
                <a:latin typeface="Calibri"/>
              </a:defRPr>
            </a:pPr>
          </a:p>
          <a:p>
            <a:pPr algn="l">
              <a:defRPr sz="1700" b="0">
                <a:solidFill>
                  <a:srgbClr val="A3AEC2"/>
                </a:solidFill>
                <a:latin typeface="Calibri"/>
              </a:defRPr>
            </a:pPr>
            <a:r>
              <a:t>Tanpa fallback, setiap kali truk tersebut keluar hasilnya akan UNKNOWN selamanya — satu frame yang terlewat menghukum truk itu dua kali.</a:t>
            </a:r>
          </a:p>
          <a:p>
            <a:pPr algn="l">
              <a:defRPr sz="1700" b="0">
                <a:solidFill>
                  <a:srgbClr val="A3AEC2"/>
                </a:solidFill>
                <a:latin typeface="Calibri"/>
              </a:defRPr>
            </a:pPr>
          </a:p>
          <a:p>
            <a:pPr algn="l">
              <a:defRPr sz="1700" b="0">
                <a:solidFill>
                  <a:srgbClr val="A3AEC2"/>
                </a:solidFill>
                <a:latin typeface="Calibri"/>
              </a:defRPr>
            </a:pPr>
            <a:r>
              <a:t>Karena itu pencocokan tetap jatuh ke master penuh kalau himpunan pit gagal, dan daftar 'belum berpasangan' di laporan yang menunjukkan ada separuh yang hilang.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BAGIAN 4</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Pertimbangan perangkat</a:t>
            </a:r>
          </a:p>
        </p:txBody>
      </p:sp>
      <p:sp>
        <p:nvSpPr>
          <p:cNvPr id="4" name="TextBox 3"/>
          <p:cNvSpPr txBox="1"/>
          <p:nvPr/>
        </p:nvSpPr>
        <p:spPr>
          <a:xfrm>
            <a:off x="822960" y="2011680"/>
            <a:ext cx="10515600" cy="4206240"/>
          </a:xfrm>
          <a:prstGeom prst="rect">
            <a:avLst/>
          </a:prstGeom>
          <a:noFill/>
        </p:spPr>
        <p:txBody>
          <a:bodyPr wrap="square">
            <a:spAutoFit/>
          </a:bodyPr>
          <a:lstStyle/>
          <a:p>
            <a:pPr algn="l">
              <a:defRPr sz="1700" b="0">
                <a:solidFill>
                  <a:srgbClr val="A3AEC2"/>
                </a:solidFill>
                <a:latin typeface="Calibri"/>
              </a:defRPr>
            </a:pPr>
            <a:r>
              <a:t>Apa yang berjalan di mana, dan kenapa.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4.1 · PEMBAGIAN</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Empat layanan, dua peran</a:t>
            </a:r>
          </a:p>
        </p:txBody>
      </p:sp>
      <p:graphicFrame>
        <p:nvGraphicFramePr>
          <p:cNvPr id="4" name="Table 3"/>
          <p:cNvGraphicFramePr>
            <a:graphicFrameLocks noGrp="1"/>
          </p:cNvGraphicFramePr>
          <p:nvPr/>
        </p:nvGraphicFramePr>
        <p:xfrm>
          <a:off x="822960" y="1965960"/>
          <a:ext cx="10515598" cy="1828800"/>
        </p:xfrm>
        <a:graphic>
          <a:graphicData uri="http://schemas.openxmlformats.org/drawingml/2006/table">
            <a:tbl>
              <a:tblPr firstRow="1" bandRow="1">
                <a:tableStyleId>{5C22544A-7EE6-4342-B048-85BDC9FD1C3A}</a:tableStyleId>
              </a:tblPr>
              <a:tblGrid>
                <a:gridCol w="2867890"/>
                <a:gridCol w="1911927"/>
                <a:gridCol w="5735781"/>
              </a:tblGrid>
              <a:tr h="365760">
                <a:tc>
                  <a:txBody>
                    <a:bodyPr/>
                    <a:lstStyle/>
                    <a:p>
                      <a:pPr>
                        <a:defRPr sz="1300" b="1">
                          <a:solidFill>
                            <a:srgbClr val="07090D"/>
                          </a:solidFill>
                        </a:defRPr>
                      </a:pPr>
                      <a:r>
                        <a:t>Komponen</a:t>
                      </a:r>
                    </a:p>
                  </a:txBody>
                  <a:tcPr>
                    <a:solidFill>
                      <a:srgbClr val="F59E0B"/>
                    </a:solidFill>
                  </a:tcPr>
                </a:tc>
                <a:tc>
                  <a:txBody>
                    <a:bodyPr/>
                    <a:lstStyle/>
                    <a:p>
                      <a:pPr>
                        <a:defRPr sz="1300" b="1">
                          <a:solidFill>
                            <a:srgbClr val="07090D"/>
                          </a:solidFill>
                        </a:defRPr>
                      </a:pPr>
                      <a:r>
                        <a:t>Berjalan di</a:t>
                      </a:r>
                    </a:p>
                  </a:txBody>
                  <a:tcPr>
                    <a:solidFill>
                      <a:srgbClr val="F59E0B"/>
                    </a:solidFill>
                  </a:tcPr>
                </a:tc>
                <a:tc>
                  <a:txBody>
                    <a:bodyPr/>
                    <a:lstStyle/>
                    <a:p>
                      <a:pPr>
                        <a:defRPr sz="1300" b="1">
                          <a:solidFill>
                            <a:srgbClr val="07090D"/>
                          </a:solidFill>
                        </a:defRPr>
                      </a:pPr>
                      <a:r>
                        <a:t>Tugas</a:t>
                      </a:r>
                    </a:p>
                  </a:txBody>
                  <a:tcPr>
                    <a:solidFill>
                      <a:srgbClr val="F59E0B"/>
                    </a:solidFill>
                  </a:tcPr>
                </a:tc>
              </a:tr>
              <a:tr h="365760">
                <a:tc>
                  <a:txBody>
                    <a:bodyPr/>
                    <a:lstStyle/>
                    <a:p>
                      <a:pPr>
                        <a:defRPr sz="1200">
                          <a:solidFill>
                            <a:srgbClr val="F8FAFC"/>
                          </a:solidFill>
                          <a:latin typeface="Consolas"/>
                        </a:defRPr>
                      </a:pPr>
                      <a:r>
                        <a:t>core/backend</a:t>
                      </a:r>
                    </a:p>
                  </a:txBody>
                  <a:tcPr>
                    <a:solidFill>
                      <a:srgbClr val="131722"/>
                    </a:solidFill>
                  </a:tcPr>
                </a:tc>
                <a:tc>
                  <a:txBody>
                    <a:bodyPr/>
                    <a:lstStyle/>
                    <a:p>
                      <a:pPr>
                        <a:defRPr sz="1200">
                          <a:solidFill>
                            <a:srgbClr val="F8FAFC"/>
                          </a:solidFill>
                          <a:latin typeface="Consolas"/>
                        </a:defRPr>
                      </a:pPr>
                      <a:r>
                        <a:t>Server</a:t>
                      </a:r>
                    </a:p>
                  </a:txBody>
                  <a:tcPr>
                    <a:solidFill>
                      <a:srgbClr val="131722"/>
                    </a:solidFill>
                  </a:tcPr>
                </a:tc>
                <a:tc>
                  <a:txBody>
                    <a:bodyPr/>
                    <a:lstStyle/>
                    <a:p>
                      <a:pPr>
                        <a:defRPr sz="1200">
                          <a:solidFill>
                            <a:srgbClr val="F8FAFC"/>
                          </a:solidFill>
                          <a:latin typeface="Consolas"/>
                        </a:defRPr>
                      </a:pPr>
                      <a:r>
                        <a:t>Kumpulkan lintasan, master armada, laporan, API perangkat</a:t>
                      </a:r>
                    </a:p>
                  </a:txBody>
                  <a:tcPr>
                    <a:solidFill>
                      <a:srgbClr val="131722"/>
                    </a:solidFill>
                  </a:tcPr>
                </a:tc>
              </a:tr>
              <a:tr h="365760">
                <a:tc>
                  <a:txBody>
                    <a:bodyPr/>
                    <a:lstStyle/>
                    <a:p>
                      <a:pPr>
                        <a:defRPr sz="1200">
                          <a:solidFill>
                            <a:srgbClr val="F8FAFC"/>
                          </a:solidFill>
                          <a:latin typeface="Consolas"/>
                        </a:defRPr>
                      </a:pPr>
                      <a:r>
                        <a:t>core/frontend</a:t>
                      </a:r>
                    </a:p>
                  </a:txBody>
                  <a:tcPr>
                    <a:solidFill>
                      <a:srgbClr val="131722"/>
                    </a:solidFill>
                  </a:tcPr>
                </a:tc>
                <a:tc>
                  <a:txBody>
                    <a:bodyPr/>
                    <a:lstStyle/>
                    <a:p>
                      <a:pPr>
                        <a:defRPr sz="1200">
                          <a:solidFill>
                            <a:srgbClr val="F8FAFC"/>
                          </a:solidFill>
                          <a:latin typeface="Consolas"/>
                        </a:defRPr>
                      </a:pPr>
                      <a:r>
                        <a:t>Server</a:t>
                      </a:r>
                    </a:p>
                  </a:txBody>
                  <a:tcPr>
                    <a:solidFill>
                      <a:srgbClr val="131722"/>
                    </a:solidFill>
                  </a:tcPr>
                </a:tc>
                <a:tc>
                  <a:txBody>
                    <a:bodyPr/>
                    <a:lstStyle/>
                    <a:p>
                      <a:pPr>
                        <a:defRPr sz="1200">
                          <a:solidFill>
                            <a:srgbClr val="F8FAFC"/>
                          </a:solidFill>
                          <a:latin typeface="Consolas"/>
                        </a:defRPr>
                      </a:pPr>
                      <a:r>
                        <a:t>Dashboard lintas-gerbang</a:t>
                      </a:r>
                    </a:p>
                  </a:txBody>
                  <a:tcPr>
                    <a:solidFill>
                      <a:srgbClr val="131722"/>
                    </a:solidFill>
                  </a:tcPr>
                </a:tc>
              </a:tr>
              <a:tr h="365760">
                <a:tc>
                  <a:txBody>
                    <a:bodyPr/>
                    <a:lstStyle/>
                    <a:p>
                      <a:pPr>
                        <a:defRPr sz="1200">
                          <a:solidFill>
                            <a:srgbClr val="F8FAFC"/>
                          </a:solidFill>
                          <a:latin typeface="Consolas"/>
                        </a:defRPr>
                      </a:pPr>
                      <a:r>
                        <a:t>edge/backend</a:t>
                      </a:r>
                    </a:p>
                  </a:txBody>
                  <a:tcPr>
                    <a:solidFill>
                      <a:srgbClr val="131722"/>
                    </a:solidFill>
                  </a:tcPr>
                </a:tc>
                <a:tc>
                  <a:txBody>
                    <a:bodyPr/>
                    <a:lstStyle/>
                    <a:p>
                      <a:pPr>
                        <a:defRPr sz="1200">
                          <a:solidFill>
                            <a:srgbClr val="F8FAFC"/>
                          </a:solidFill>
                          <a:latin typeface="Consolas"/>
                        </a:defRPr>
                      </a:pPr>
                      <a:r>
                        <a:t>Tiap Jetson</a:t>
                      </a:r>
                    </a:p>
                  </a:txBody>
                  <a:tcPr>
                    <a:solidFill>
                      <a:srgbClr val="131722"/>
                    </a:solidFill>
                  </a:tcPr>
                </a:tc>
                <a:tc>
                  <a:txBody>
                    <a:bodyPr/>
                    <a:lstStyle/>
                    <a:p>
                      <a:pPr>
                        <a:defRPr sz="1200">
                          <a:solidFill>
                            <a:srgbClr val="F8FAFC"/>
                          </a:solidFill>
                          <a:latin typeface="Consolas"/>
                        </a:defRPr>
                      </a:pPr>
                      <a:r>
                        <a:t>Tangkap, deteksi, OCR, voting, simpan, antre kirim</a:t>
                      </a:r>
                    </a:p>
                  </a:txBody>
                  <a:tcPr>
                    <a:solidFill>
                      <a:srgbClr val="131722"/>
                    </a:solidFill>
                  </a:tcPr>
                </a:tc>
              </a:tr>
              <a:tr h="365760">
                <a:tc>
                  <a:txBody>
                    <a:bodyPr/>
                    <a:lstStyle/>
                    <a:p>
                      <a:pPr>
                        <a:defRPr sz="1200">
                          <a:solidFill>
                            <a:srgbClr val="F8FAFC"/>
                          </a:solidFill>
                          <a:latin typeface="Consolas"/>
                        </a:defRPr>
                      </a:pPr>
                      <a:r>
                        <a:t>edge/frontend</a:t>
                      </a:r>
                    </a:p>
                  </a:txBody>
                  <a:tcPr>
                    <a:solidFill>
                      <a:srgbClr val="131722"/>
                    </a:solidFill>
                  </a:tcPr>
                </a:tc>
                <a:tc>
                  <a:txBody>
                    <a:bodyPr/>
                    <a:lstStyle/>
                    <a:p>
                      <a:pPr>
                        <a:defRPr sz="1200">
                          <a:solidFill>
                            <a:srgbClr val="F8FAFC"/>
                          </a:solidFill>
                          <a:latin typeface="Consolas"/>
                        </a:defRPr>
                      </a:pPr>
                      <a:r>
                        <a:t>Tiap Jetson</a:t>
                      </a:r>
                    </a:p>
                  </a:txBody>
                  <a:tcPr>
                    <a:solidFill>
                      <a:srgbClr val="131722"/>
                    </a:solidFill>
                  </a:tcPr>
                </a:tc>
                <a:tc>
                  <a:txBody>
                    <a:bodyPr/>
                    <a:lstStyle/>
                    <a:p>
                      <a:pPr>
                        <a:defRPr sz="1200">
                          <a:solidFill>
                            <a:srgbClr val="F8FAFC"/>
                          </a:solidFill>
                          <a:latin typeface="Consolas"/>
                        </a:defRPr>
                      </a:pPr>
                      <a:r>
                        <a:t>Konsol satu gerbang: status, uji baca, riwayat</a:t>
                      </a:r>
                    </a:p>
                  </a:txBody>
                  <a:tcPr>
                    <a:solidFill>
                      <a:srgbClr val="131722"/>
                    </a:solidFill>
                  </a:tcPr>
                </a:tc>
              </a:tr>
            </a:tbl>
          </a:graphicData>
        </a:graphic>
      </p:graphicFrame>
      <p:sp>
        <p:nvSpPr>
          <p:cNvPr id="5" name="TextBox 4"/>
          <p:cNvSpPr txBox="1"/>
          <p:nvPr/>
        </p:nvSpPr>
        <p:spPr>
          <a:xfrm>
            <a:off x="822960" y="3931920"/>
            <a:ext cx="10515600" cy="1097280"/>
          </a:xfrm>
          <a:prstGeom prst="rect">
            <a:avLst/>
          </a:prstGeom>
          <a:noFill/>
        </p:spPr>
        <p:txBody>
          <a:bodyPr wrap="square">
            <a:spAutoFit/>
          </a:bodyPr>
          <a:lstStyle/>
          <a:p>
            <a:pPr algn="l">
              <a:defRPr sz="1300" b="0">
                <a:solidFill>
                  <a:srgbClr val="A3AEC2"/>
                </a:solidFill>
                <a:latin typeface="Calibri"/>
              </a:defRPr>
            </a:pPr>
            <a:r>
              <a:t>edge/ sengaja tidak mengimpor apa pun dari core/ — satu perangkat harus bisa dipasang sendirian, tanpa core/ ada di disk.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4.2 · PERANGKAT LAPANGAN</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Jetson Orin Nano Super, satu per gerbang</a:t>
            </a:r>
          </a:p>
        </p:txBody>
      </p:sp>
      <p:sp>
        <p:nvSpPr>
          <p:cNvPr id="4" name="TextBox 3"/>
          <p:cNvSpPr txBox="1"/>
          <p:nvPr/>
        </p:nvSpPr>
        <p:spPr>
          <a:xfrm>
            <a:off x="822960" y="2011680"/>
            <a:ext cx="10607040" cy="320040"/>
          </a:xfrm>
          <a:prstGeom prst="rect">
            <a:avLst/>
          </a:prstGeom>
          <a:noFill/>
        </p:spPr>
        <p:txBody>
          <a:bodyPr wrap="square">
            <a:spAutoFit/>
          </a:bodyPr>
          <a:lstStyle/>
          <a:p>
            <a:pPr algn="l">
              <a:defRPr sz="1800" b="1">
                <a:solidFill>
                  <a:srgbClr val="F8FAFC"/>
                </a:solidFill>
                <a:latin typeface="Calibri"/>
              </a:defRPr>
            </a:pPr>
            <a:r>
              <a:t>Alasan memilih perangkat ber-GPU di lokasi</a:t>
            </a:r>
          </a:p>
        </p:txBody>
      </p:sp>
      <p:sp>
        <p:nvSpPr>
          <p:cNvPr id="5" name="TextBox 4"/>
          <p:cNvSpPr txBox="1"/>
          <p:nvPr/>
        </p:nvSpPr>
        <p:spPr>
          <a:xfrm>
            <a:off x="822960" y="2322576"/>
            <a:ext cx="10607040" cy="548640"/>
          </a:xfrm>
          <a:prstGeom prst="rect">
            <a:avLst/>
          </a:prstGeom>
          <a:noFill/>
        </p:spPr>
        <p:txBody>
          <a:bodyPr wrap="square">
            <a:spAutoFit/>
          </a:bodyPr>
          <a:lstStyle/>
          <a:p>
            <a:pPr algn="l">
              <a:defRPr sz="1400" b="0">
                <a:solidFill>
                  <a:srgbClr val="A3AEC2"/>
                </a:solidFill>
                <a:latin typeface="Calibri"/>
              </a:defRPr>
            </a:pPr>
            <a:r>
              <a:t>OCR pada model visual-bahasa terlalu berat untuk CPU tertanam. Inferensi harus terjadi di gerbang, karena mengirim video ke pusat justru yang ingin dihindari.</a:t>
            </a:r>
          </a:p>
        </p:txBody>
      </p:sp>
      <p:sp>
        <p:nvSpPr>
          <p:cNvPr id="6" name="TextBox 5"/>
          <p:cNvSpPr txBox="1"/>
          <p:nvPr/>
        </p:nvSpPr>
        <p:spPr>
          <a:xfrm>
            <a:off x="822960" y="2880360"/>
            <a:ext cx="10607040" cy="320040"/>
          </a:xfrm>
          <a:prstGeom prst="rect">
            <a:avLst/>
          </a:prstGeom>
          <a:noFill/>
        </p:spPr>
        <p:txBody>
          <a:bodyPr wrap="square">
            <a:spAutoFit/>
          </a:bodyPr>
          <a:lstStyle/>
          <a:p>
            <a:pPr algn="l">
              <a:defRPr sz="1800" b="1">
                <a:solidFill>
                  <a:srgbClr val="F8FAFC"/>
                </a:solidFill>
                <a:latin typeface="Calibri"/>
              </a:defRPr>
            </a:pPr>
            <a:r>
              <a:t>Image terpisah untuk ARM64/JetPack</a:t>
            </a:r>
          </a:p>
        </p:txBody>
      </p:sp>
      <p:sp>
        <p:nvSpPr>
          <p:cNvPr id="7" name="TextBox 6"/>
          <p:cNvSpPr txBox="1"/>
          <p:nvPr/>
        </p:nvSpPr>
        <p:spPr>
          <a:xfrm>
            <a:off x="822960" y="3191256"/>
            <a:ext cx="10607040" cy="548640"/>
          </a:xfrm>
          <a:prstGeom prst="rect">
            <a:avLst/>
          </a:prstGeom>
          <a:noFill/>
        </p:spPr>
        <p:txBody>
          <a:bodyPr wrap="square">
            <a:spAutoFit/>
          </a:bodyPr>
          <a:lstStyle/>
          <a:p>
            <a:pPr algn="l">
              <a:defRPr sz="1400" b="0">
                <a:solidFill>
                  <a:srgbClr val="A3AEC2"/>
                </a:solidFill>
                <a:latin typeface="Calibri"/>
              </a:defRPr>
            </a:pPr>
            <a:r>
              <a:t>Dockerfile.jetson memakai basis l4t-ml NVIDIA dengan roda torch ARM64 bawaan JetPack — bukan turunan dari image dev x86.</a:t>
            </a:r>
          </a:p>
        </p:txBody>
      </p:sp>
      <p:sp>
        <p:nvSpPr>
          <p:cNvPr id="8" name="TextBox 7"/>
          <p:cNvSpPr txBox="1"/>
          <p:nvPr/>
        </p:nvSpPr>
        <p:spPr>
          <a:xfrm>
            <a:off x="822960" y="3749040"/>
            <a:ext cx="10607040" cy="320040"/>
          </a:xfrm>
          <a:prstGeom prst="rect">
            <a:avLst/>
          </a:prstGeom>
          <a:noFill/>
        </p:spPr>
        <p:txBody>
          <a:bodyPr wrap="square">
            <a:spAutoFit/>
          </a:bodyPr>
          <a:lstStyle/>
          <a:p>
            <a:pPr algn="l">
              <a:defRPr sz="1800" b="1">
                <a:solidFill>
                  <a:srgbClr val="F8FAFC"/>
                </a:solidFill>
                <a:latin typeface="Calibri"/>
              </a:defRPr>
            </a:pPr>
            <a:r>
              <a:t>Image dev sengaja tanpa ultralytics/paddleocr</a:t>
            </a:r>
          </a:p>
        </p:txBody>
      </p:sp>
      <p:sp>
        <p:nvSpPr>
          <p:cNvPr id="9" name="TextBox 8"/>
          <p:cNvSpPr txBox="1"/>
          <p:nvPr/>
        </p:nvSpPr>
        <p:spPr>
          <a:xfrm>
            <a:off x="822960" y="4059936"/>
            <a:ext cx="10607040" cy="548640"/>
          </a:xfrm>
          <a:prstGeom prst="rect">
            <a:avLst/>
          </a:prstGeom>
          <a:noFill/>
        </p:spPr>
        <p:txBody>
          <a:bodyPr wrap="square">
            <a:spAutoFit/>
          </a:bodyPr>
          <a:lstStyle/>
          <a:p>
            <a:pPr algn="l">
              <a:defRPr sz="1400" b="0">
                <a:solidFill>
                  <a:srgbClr val="A3AEC2"/>
                </a:solidFill>
                <a:latin typeface="Calibri"/>
              </a:defRPr>
            </a:pPr>
            <a:r>
              <a:t>Dengan SMART_GATE_RUN_AGENT=false, API, replika master, dan pencocokan lokal tetap bisa diuji tanpa kamera, model, atau GPU.</a:t>
            </a:r>
          </a:p>
        </p:txBody>
      </p:sp>
      <p:sp>
        <p:nvSpPr>
          <p:cNvPr id="10" name="TextBox 9"/>
          <p:cNvSpPr txBox="1"/>
          <p:nvPr/>
        </p:nvSpPr>
        <p:spPr>
          <a:xfrm>
            <a:off x="822960" y="4617720"/>
            <a:ext cx="10607040" cy="320040"/>
          </a:xfrm>
          <a:prstGeom prst="rect">
            <a:avLst/>
          </a:prstGeom>
          <a:noFill/>
        </p:spPr>
        <p:txBody>
          <a:bodyPr wrap="square">
            <a:spAutoFit/>
          </a:bodyPr>
          <a:lstStyle/>
          <a:p>
            <a:pPr algn="l">
              <a:defRPr sz="1800" b="1">
                <a:solidFill>
                  <a:srgbClr val="F8FAFC"/>
                </a:solidFill>
                <a:latin typeface="Calibri"/>
              </a:defRPr>
            </a:pPr>
            <a:r>
              <a:t>Penyimpanan lokal dibatasi</a:t>
            </a:r>
          </a:p>
        </p:txBody>
      </p:sp>
      <p:sp>
        <p:nvSpPr>
          <p:cNvPr id="11" name="TextBox 10"/>
          <p:cNvSpPr txBox="1"/>
          <p:nvPr/>
        </p:nvSpPr>
        <p:spPr>
          <a:xfrm>
            <a:off x="822960" y="4928616"/>
            <a:ext cx="10607040" cy="548640"/>
          </a:xfrm>
          <a:prstGeom prst="rect">
            <a:avLst/>
          </a:prstGeom>
          <a:noFill/>
        </p:spPr>
        <p:txBody>
          <a:bodyPr wrap="square">
            <a:spAutoFit/>
          </a:bodyPr>
          <a:lstStyle/>
          <a:p>
            <a:pPr algn="l">
              <a:defRPr sz="1400" b="0">
                <a:solidFill>
                  <a:srgbClr val="A3AEC2"/>
                </a:solidFill>
                <a:latin typeface="Calibri"/>
              </a:defRPr>
            </a:pPr>
            <a:r>
              <a:t>Antrean kirim dibatasi 500 MB dengan pembuangan tertua-dulu yang dicatat mencolok; potongan gambar riwayat dibatasi 500 terbaru. Jetson punya disk terbatas.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4.3 · CATATAN PENGUKURAN PERANGKAT</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Yang belum boleh dijanjikan</a:t>
            </a:r>
          </a:p>
        </p:txBody>
      </p:sp>
      <p:sp>
        <p:nvSpPr>
          <p:cNvPr id="4" name="TextBox 3"/>
          <p:cNvSpPr txBox="1"/>
          <p:nvPr/>
        </p:nvSpPr>
        <p:spPr>
          <a:xfrm>
            <a:off x="822960" y="2011680"/>
            <a:ext cx="10515600" cy="4206240"/>
          </a:xfrm>
          <a:prstGeom prst="rect">
            <a:avLst/>
          </a:prstGeom>
          <a:noFill/>
        </p:spPr>
        <p:txBody>
          <a:bodyPr wrap="square">
            <a:spAutoFit/>
          </a:bodyPr>
          <a:lstStyle/>
          <a:p>
            <a:pPr algn="l">
              <a:defRPr sz="1700" b="0">
                <a:solidFill>
                  <a:srgbClr val="A3AEC2"/>
                </a:solidFill>
                <a:latin typeface="Calibri"/>
              </a:defRPr>
            </a:pPr>
            <a:r>
              <a:t>Pengujian sejauh ini berjalan di GPU kelas desktop, bukan di Jetson.</a:t>
            </a:r>
          </a:p>
          <a:p>
            <a:pPr algn="l">
              <a:defRPr sz="1700" b="0">
                <a:solidFill>
                  <a:srgbClr val="A3AEC2"/>
                </a:solidFill>
                <a:latin typeface="Calibri"/>
              </a:defRPr>
            </a:pPr>
          </a:p>
          <a:p>
            <a:pPr algn="l">
              <a:defRPr sz="1700" b="0">
                <a:solidFill>
                  <a:srgbClr val="A3AEC2"/>
                </a:solidFill>
                <a:latin typeface="Calibri"/>
              </a:defRPr>
            </a:pPr>
            <a:r>
              <a:t>Karena itu deck ini sengaja tidak memuat angka fps, throughput, maupun kapasitas truk per jam. Angka dari perangkat berbeda tidak bisa dipindahkan begitu saja — daya, pendinginan, dan memori Jetson berbeda jauh.</a:t>
            </a:r>
          </a:p>
          <a:p>
            <a:pPr algn="l">
              <a:defRPr sz="1700" b="0">
                <a:solidFill>
                  <a:srgbClr val="A3AEC2"/>
                </a:solidFill>
                <a:latin typeface="Calibri"/>
              </a:defRPr>
            </a:pPr>
          </a:p>
          <a:p>
            <a:pPr algn="l">
              <a:defRPr sz="1700" b="0">
                <a:solidFill>
                  <a:srgbClr val="A3AEC2"/>
                </a:solidFill>
                <a:latin typeface="Calibri"/>
              </a:defRPr>
            </a:pPr>
            <a:r>
              <a:t>Yang sudah pasti: rantai deteksinya berjalan utuh dan hasilnya benar. Yang belum: seberapa cepat ia berjalan di perangkat yang sebenarnya.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BAGIAN 5</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Model data dan jaminan konsistensi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5.1 · SATU TABEL, DUA PRODUSEN</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Lintasan batch dan lintasan gerbang berbagi tempat</a:t>
            </a:r>
          </a:p>
        </p:txBody>
      </p:sp>
      <p:sp>
        <p:nvSpPr>
          <p:cNvPr id="4" name="TextBox 3"/>
          <p:cNvSpPr txBox="1"/>
          <p:nvPr/>
        </p:nvSpPr>
        <p:spPr>
          <a:xfrm>
            <a:off x="822960" y="2011680"/>
            <a:ext cx="10607040" cy="320040"/>
          </a:xfrm>
          <a:prstGeom prst="rect">
            <a:avLst/>
          </a:prstGeom>
          <a:noFill/>
        </p:spPr>
        <p:txBody>
          <a:bodyPr wrap="square">
            <a:spAutoFit/>
          </a:bodyPr>
          <a:lstStyle/>
          <a:p>
            <a:pPr algn="l">
              <a:defRPr sz="1800" b="1">
                <a:solidFill>
                  <a:srgbClr val="F8FAFC"/>
                </a:solidFill>
                <a:latin typeface="Calibri"/>
              </a:defRPr>
            </a:pPr>
            <a:r>
              <a:t>video_results menampung keduanya, dibedakan kolom source</a:t>
            </a:r>
          </a:p>
        </p:txBody>
      </p:sp>
      <p:sp>
        <p:nvSpPr>
          <p:cNvPr id="5" name="TextBox 4"/>
          <p:cNvSpPr txBox="1"/>
          <p:nvPr/>
        </p:nvSpPr>
        <p:spPr>
          <a:xfrm>
            <a:off x="822960" y="2322576"/>
            <a:ext cx="10607040" cy="548640"/>
          </a:xfrm>
          <a:prstGeom prst="rect">
            <a:avLst/>
          </a:prstGeom>
          <a:noFill/>
        </p:spPr>
        <p:txBody>
          <a:bodyPr wrap="square">
            <a:spAutoFit/>
          </a:bodyPr>
          <a:lstStyle/>
          <a:p>
            <a:pPr algn="l">
              <a:defRPr sz="1400" b="0">
                <a:solidFill>
                  <a:srgbClr val="A3AEC2"/>
                </a:solidFill>
                <a:latin typeface="Calibri"/>
              </a:defRPr>
            </a:pPr>
            <a:r>
              <a:t>'batch' untuk pipeline lama, 'edge' untuk kiriman perangkat. Satu penampung, bukan dua model data paralel.</a:t>
            </a:r>
          </a:p>
        </p:txBody>
      </p:sp>
      <p:sp>
        <p:nvSpPr>
          <p:cNvPr id="6" name="TextBox 5"/>
          <p:cNvSpPr txBox="1"/>
          <p:nvPr/>
        </p:nvSpPr>
        <p:spPr>
          <a:xfrm>
            <a:off x="822960" y="2880360"/>
            <a:ext cx="10607040" cy="320040"/>
          </a:xfrm>
          <a:prstGeom prst="rect">
            <a:avLst/>
          </a:prstGeom>
          <a:noFill/>
        </p:spPr>
        <p:txBody>
          <a:bodyPr wrap="square">
            <a:spAutoFit/>
          </a:bodyPr>
          <a:lstStyle/>
          <a:p>
            <a:pPr algn="l">
              <a:defRPr sz="1800" b="1">
                <a:solidFill>
                  <a:srgbClr val="F8FAFC"/>
                </a:solidFill>
                <a:latin typeface="Calibri"/>
              </a:defRPr>
            </a:pPr>
            <a:r>
              <a:t>idempotency_key UNIQUE adalah penjamin anti-duplikat</a:t>
            </a:r>
          </a:p>
        </p:txBody>
      </p:sp>
      <p:sp>
        <p:nvSpPr>
          <p:cNvPr id="7" name="TextBox 6"/>
          <p:cNvSpPr txBox="1"/>
          <p:nvPr/>
        </p:nvSpPr>
        <p:spPr>
          <a:xfrm>
            <a:off x="822960" y="3191256"/>
            <a:ext cx="10607040" cy="548640"/>
          </a:xfrm>
          <a:prstGeom prst="rect">
            <a:avLst/>
          </a:prstGeom>
          <a:noFill/>
        </p:spPr>
        <p:txBody>
          <a:bodyPr wrap="square">
            <a:spAutoFit/>
          </a:bodyPr>
          <a:lstStyle/>
          <a:p>
            <a:pPr algn="l">
              <a:defRPr sz="1400" b="0">
                <a:solidFill>
                  <a:srgbClr val="A3AEC2"/>
                </a:solidFill>
                <a:latin typeface="Calibri"/>
              </a:defRPr>
            </a:pPr>
            <a:r>
              <a:t>Bukan pengecekan di aplikasi. Indeks UNIQUE-lah yang menahan balapan saat dua percobaan kirim tiba bersamaan.</a:t>
            </a:r>
          </a:p>
        </p:txBody>
      </p:sp>
      <p:sp>
        <p:nvSpPr>
          <p:cNvPr id="8" name="TextBox 7"/>
          <p:cNvSpPr txBox="1"/>
          <p:nvPr/>
        </p:nvSpPr>
        <p:spPr>
          <a:xfrm>
            <a:off x="822960" y="3749040"/>
            <a:ext cx="10607040" cy="320040"/>
          </a:xfrm>
          <a:prstGeom prst="rect">
            <a:avLst/>
          </a:prstGeom>
          <a:noFill/>
        </p:spPr>
        <p:txBody>
          <a:bodyPr wrap="square">
            <a:spAutoFit/>
          </a:bodyPr>
          <a:lstStyle/>
          <a:p>
            <a:pPr algn="l">
              <a:defRPr sz="1800" b="1">
                <a:solidFill>
                  <a:srgbClr val="F8FAFC"/>
                </a:solidFill>
                <a:latin typeface="Calibri"/>
              </a:defRPr>
            </a:pPr>
            <a:r>
              <a:t>Waktu lintasan dinormalkan saat masuk</a:t>
            </a:r>
          </a:p>
        </p:txBody>
      </p:sp>
      <p:sp>
        <p:nvSpPr>
          <p:cNvPr id="9" name="TextBox 8"/>
          <p:cNvSpPr txBox="1"/>
          <p:nvPr/>
        </p:nvSpPr>
        <p:spPr>
          <a:xfrm>
            <a:off x="822960" y="4059936"/>
            <a:ext cx="10607040" cy="548640"/>
          </a:xfrm>
          <a:prstGeom prst="rect">
            <a:avLst/>
          </a:prstGeom>
          <a:noFill/>
        </p:spPr>
        <p:txBody>
          <a:bodyPr wrap="square">
            <a:spAutoFit/>
          </a:bodyPr>
          <a:lstStyle/>
          <a:p>
            <a:pPr algn="l">
              <a:defRPr sz="1400" b="0">
                <a:solidFill>
                  <a:srgbClr val="A3AEC2"/>
                </a:solidFill>
                <a:latin typeface="Calibri"/>
              </a:defRPr>
            </a:pPr>
            <a:r>
              <a:t>Perangkat mengirim ISO 8601 UTC berakhiran Z; kolomnya memakai bentuk naif. Menyimpan keduanya bercampur pernah membuat /api/ritase dan /api/shift-report gagal total.</a:t>
            </a:r>
          </a:p>
        </p:txBody>
      </p:sp>
      <p:sp>
        <p:nvSpPr>
          <p:cNvPr id="10" name="TextBox 9"/>
          <p:cNvSpPr txBox="1"/>
          <p:nvPr/>
        </p:nvSpPr>
        <p:spPr>
          <a:xfrm>
            <a:off x="822960" y="4617720"/>
            <a:ext cx="10607040" cy="320040"/>
          </a:xfrm>
          <a:prstGeom prst="rect">
            <a:avLst/>
          </a:prstGeom>
          <a:noFill/>
        </p:spPr>
        <p:txBody>
          <a:bodyPr wrap="square">
            <a:spAutoFit/>
          </a:bodyPr>
          <a:lstStyle/>
          <a:p>
            <a:pPr algn="l">
              <a:defRPr sz="1800" b="1">
                <a:solidFill>
                  <a:srgbClr val="F8FAFC"/>
                </a:solidFill>
                <a:latin typeface="Calibri"/>
              </a:defRPr>
            </a:pPr>
            <a:r>
              <a:t>Lintasan gerbang tidak membawa pembacaan per frame</a:t>
            </a:r>
          </a:p>
        </p:txBody>
      </p:sp>
      <p:sp>
        <p:nvSpPr>
          <p:cNvPr id="11" name="TextBox 10"/>
          <p:cNvSpPr txBox="1"/>
          <p:nvPr/>
        </p:nvSpPr>
        <p:spPr>
          <a:xfrm>
            <a:off x="822960" y="4928616"/>
            <a:ext cx="10607040" cy="548640"/>
          </a:xfrm>
          <a:prstGeom prst="rect">
            <a:avLst/>
          </a:prstGeom>
          <a:noFill/>
        </p:spPr>
        <p:txBody>
          <a:bodyPr wrap="square">
            <a:spAutoFit/>
          </a:bodyPr>
          <a:lstStyle/>
          <a:p>
            <a:pPr algn="l">
              <a:defRPr sz="1400" b="0">
                <a:solidFill>
                  <a:srgbClr val="A3AEC2"/>
                </a:solidFill>
                <a:latin typeface="Calibri"/>
              </a:defRPr>
            </a:pPr>
            <a:r>
              <a:t>Perangkat mengirim satu hasil voting, bukan seluruh jejaknya. Jadi kolom pembacaan per frame hanya terisi untuk lintasan dari pipeline batch.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5.2 · RITASE</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Definisinya, dan kenapa dipasangkan lintas gerbang</a:t>
            </a:r>
          </a:p>
        </p:txBody>
      </p:sp>
      <p:sp>
        <p:nvSpPr>
          <p:cNvPr id="4" name="TextBox 3"/>
          <p:cNvSpPr txBox="1"/>
          <p:nvPr/>
        </p:nvSpPr>
        <p:spPr>
          <a:xfrm>
            <a:off x="822960" y="2011680"/>
            <a:ext cx="10515600" cy="4206240"/>
          </a:xfrm>
          <a:prstGeom prst="rect">
            <a:avLst/>
          </a:prstGeom>
          <a:noFill/>
        </p:spPr>
        <p:txBody>
          <a:bodyPr wrap="square">
            <a:spAutoFit/>
          </a:bodyPr>
          <a:lstStyle/>
          <a:p>
            <a:pPr algn="l">
              <a:defRPr sz="1700" b="0">
                <a:solidFill>
                  <a:srgbClr val="A3AEC2"/>
                </a:solidFill>
                <a:latin typeface="Calibri"/>
              </a:defRPr>
            </a:pPr>
            <a:r>
              <a:t>Satu ritase = satu lintasan masuk dipasangkan dengan satu lintasan keluar, per nomor lambung.</a:t>
            </a:r>
          </a:p>
          <a:p>
            <a:pPr algn="l">
              <a:defRPr sz="1700" b="0">
                <a:solidFill>
                  <a:srgbClr val="A3AEC2"/>
                </a:solidFill>
                <a:latin typeface="Calibri"/>
              </a:defRPr>
            </a:pPr>
          </a:p>
          <a:p>
            <a:pPr algn="l">
              <a:defRPr sz="1700" b="0">
                <a:solidFill>
                  <a:srgbClr val="A3AEC2"/>
                </a:solidFill>
                <a:latin typeface="Calibri"/>
              </a:defRPr>
            </a:pPr>
            <a:r>
              <a:t>Pemasangan dilakukan LINTAS GERBANG, bukan di dalam satu gerbang, karena truk bisa masuk lewat gerbang A dan keluar lewat gerbang B.</a:t>
            </a:r>
          </a:p>
          <a:p>
            <a:pPr algn="l">
              <a:defRPr sz="1700" b="0">
                <a:solidFill>
                  <a:srgbClr val="A3AEC2"/>
                </a:solidFill>
                <a:latin typeface="Calibri"/>
              </a:defRPr>
            </a:pPr>
          </a:p>
          <a:p>
            <a:pPr algn="l">
              <a:defRPr sz="1700" b="0">
                <a:solidFill>
                  <a:srgbClr val="A3AEC2"/>
                </a:solidFill>
                <a:latin typeface="Calibri"/>
              </a:defRPr>
            </a:pPr>
            <a:r>
              <a:t>Dua mode, dipilih otomatis:</a:t>
            </a:r>
          </a:p>
          <a:p>
            <a:pPr algn="l">
              <a:defRPr sz="1700" b="0">
                <a:solidFill>
                  <a:srgbClr val="A3AEC2"/>
                </a:solidFill>
                <a:latin typeface="Calibri"/>
              </a:defRPr>
            </a:pPr>
            <a:r>
              <a:t>• kronologis — dipakai saat semua lintasan punya waktu asli; menghasilkan durasi siklus</a:t>
            </a:r>
          </a:p>
          <a:p>
            <a:pPr algn="l">
              <a:defRPr sz="1700" b="0">
                <a:solidFill>
                  <a:srgbClr val="A3AEC2"/>
                </a:solidFill>
                <a:latin typeface="Calibri"/>
              </a:defRPr>
            </a:pPr>
            <a:r>
              <a:t>• hitungan — min(jumlah masuk, jumlah keluar); dipakai saat waktu belum tersedia, dan sengaja tidak mengarang durasi</a:t>
            </a:r>
          </a:p>
          <a:p>
            <a:pPr algn="l">
              <a:defRPr sz="1700" b="0">
                <a:solidFill>
                  <a:srgbClr val="A3AEC2"/>
                </a:solidFill>
                <a:latin typeface="Calibri"/>
              </a:defRPr>
            </a:pPr>
          </a:p>
          <a:p>
            <a:pPr algn="l">
              <a:defRPr sz="1700" b="0">
                <a:solidFill>
                  <a:srgbClr val="A3AEC2"/>
                </a:solidFill>
                <a:latin typeface="Calibri"/>
              </a:defRPr>
            </a:pPr>
            <a:r>
              <a:t>Lintasan yang tidak berpasangan tidak pernah dibuang — ditampilkan terpisah supaya selisihnya selalu bisa ditelusuri.</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BAGIAN 6</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Pengujian dan temuan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6.1 · CAKUPAN</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Suite otomatis</a:t>
            </a:r>
          </a:p>
        </p:txBody>
      </p:sp>
      <p:graphicFrame>
        <p:nvGraphicFramePr>
          <p:cNvPr id="4" name="Table 3"/>
          <p:cNvGraphicFramePr>
            <a:graphicFrameLocks noGrp="1"/>
          </p:cNvGraphicFramePr>
          <p:nvPr/>
        </p:nvGraphicFramePr>
        <p:xfrm>
          <a:off x="822960" y="1965960"/>
          <a:ext cx="10515600" cy="1463040"/>
        </p:xfrm>
        <a:graphic>
          <a:graphicData uri="http://schemas.openxmlformats.org/drawingml/2006/table">
            <a:tbl>
              <a:tblPr firstRow="1" bandRow="1">
                <a:tableStyleId>{5C22544A-7EE6-4342-B048-85BDC9FD1C3A}</a:tableStyleId>
              </a:tblPr>
              <a:tblGrid>
                <a:gridCol w="2628900"/>
                <a:gridCol w="1752600"/>
                <a:gridCol w="6134100"/>
              </a:tblGrid>
              <a:tr h="365760">
                <a:tc>
                  <a:txBody>
                    <a:bodyPr/>
                    <a:lstStyle/>
                    <a:p>
                      <a:pPr>
                        <a:defRPr sz="1300" b="1">
                          <a:solidFill>
                            <a:srgbClr val="07090D"/>
                          </a:solidFill>
                        </a:defRPr>
                      </a:pPr>
                      <a:r>
                        <a:t>Suite</a:t>
                      </a:r>
                    </a:p>
                  </a:txBody>
                  <a:tcPr>
                    <a:solidFill>
                      <a:srgbClr val="F59E0B"/>
                    </a:solidFill>
                  </a:tcPr>
                </a:tc>
                <a:tc>
                  <a:txBody>
                    <a:bodyPr/>
                    <a:lstStyle/>
                    <a:p>
                      <a:pPr>
                        <a:defRPr sz="1300" b="1">
                          <a:solidFill>
                            <a:srgbClr val="07090D"/>
                          </a:solidFill>
                        </a:defRPr>
                      </a:pPr>
                      <a:r>
                        <a:t>Jumlah</a:t>
                      </a:r>
                    </a:p>
                  </a:txBody>
                  <a:tcPr>
                    <a:solidFill>
                      <a:srgbClr val="F59E0B"/>
                    </a:solidFill>
                  </a:tcPr>
                </a:tc>
                <a:tc>
                  <a:txBody>
                    <a:bodyPr/>
                    <a:lstStyle/>
                    <a:p>
                      <a:pPr>
                        <a:defRPr sz="1300" b="1">
                          <a:solidFill>
                            <a:srgbClr val="07090D"/>
                          </a:solidFill>
                        </a:defRPr>
                      </a:pPr>
                      <a:r>
                        <a:t>Menjaga</a:t>
                      </a:r>
                    </a:p>
                  </a:txBody>
                  <a:tcPr>
                    <a:solidFill>
                      <a:srgbClr val="F59E0B"/>
                    </a:solidFill>
                  </a:tcPr>
                </a:tc>
              </a:tr>
              <a:tr h="365760">
                <a:tc>
                  <a:txBody>
                    <a:bodyPr/>
                    <a:lstStyle/>
                    <a:p>
                      <a:pPr>
                        <a:defRPr sz="1200">
                          <a:solidFill>
                            <a:srgbClr val="F8FAFC"/>
                          </a:solidFill>
                          <a:latin typeface="Consolas"/>
                        </a:defRPr>
                      </a:pPr>
                      <a:r>
                        <a:t>core/backend</a:t>
                      </a:r>
                    </a:p>
                  </a:txBody>
                  <a:tcPr>
                    <a:solidFill>
                      <a:srgbClr val="131722"/>
                    </a:solidFill>
                  </a:tcPr>
                </a:tc>
                <a:tc>
                  <a:txBody>
                    <a:bodyPr/>
                    <a:lstStyle/>
                    <a:p>
                      <a:pPr>
                        <a:defRPr sz="1200">
                          <a:solidFill>
                            <a:srgbClr val="F8FAFC"/>
                          </a:solidFill>
                          <a:latin typeface="Consolas"/>
                        </a:defRPr>
                      </a:pPr>
                      <a:r>
                        <a:t>174</a:t>
                      </a:r>
                    </a:p>
                  </a:txBody>
                  <a:tcPr>
                    <a:solidFill>
                      <a:srgbClr val="131722"/>
                    </a:solidFill>
                  </a:tcPr>
                </a:tc>
                <a:tc>
                  <a:txBody>
                    <a:bodyPr/>
                    <a:lstStyle/>
                    <a:p>
                      <a:pPr>
                        <a:defRPr sz="1200">
                          <a:solidFill>
                            <a:srgbClr val="F8FAFC"/>
                          </a:solidFill>
                          <a:latin typeface="Consolas"/>
                        </a:defRPr>
                      </a:pPr>
                      <a:r>
                        <a:t>Kontrak API, bentuk respons, ritase, pencocokan, ingestion</a:t>
                      </a:r>
                    </a:p>
                  </a:txBody>
                  <a:tcPr>
                    <a:solidFill>
                      <a:srgbClr val="131722"/>
                    </a:solidFill>
                  </a:tcPr>
                </a:tc>
              </a:tr>
              <a:tr h="365760">
                <a:tc>
                  <a:txBody>
                    <a:bodyPr/>
                    <a:lstStyle/>
                    <a:p>
                      <a:pPr>
                        <a:defRPr sz="1200">
                          <a:solidFill>
                            <a:srgbClr val="F8FAFC"/>
                          </a:solidFill>
                          <a:latin typeface="Consolas"/>
                        </a:defRPr>
                      </a:pPr>
                      <a:r>
                        <a:t>edge/backend</a:t>
                      </a:r>
                    </a:p>
                  </a:txBody>
                  <a:tcPr>
                    <a:solidFill>
                      <a:srgbClr val="131722"/>
                    </a:solidFill>
                  </a:tcPr>
                </a:tc>
                <a:tc>
                  <a:txBody>
                    <a:bodyPr/>
                    <a:lstStyle/>
                    <a:p>
                      <a:pPr>
                        <a:defRPr sz="1200">
                          <a:solidFill>
                            <a:srgbClr val="F8FAFC"/>
                          </a:solidFill>
                          <a:latin typeface="Consolas"/>
                        </a:defRPr>
                      </a:pPr>
                      <a:r>
                        <a:t>105</a:t>
                      </a:r>
                    </a:p>
                  </a:txBody>
                  <a:tcPr>
                    <a:solidFill>
                      <a:srgbClr val="131722"/>
                    </a:solidFill>
                  </a:tcPr>
                </a:tc>
                <a:tc>
                  <a:txBody>
                    <a:bodyPr/>
                    <a:lstStyle/>
                    <a:p>
                      <a:pPr>
                        <a:defRPr sz="1200">
                          <a:solidFill>
                            <a:srgbClr val="F8FAFC"/>
                          </a:solidFill>
                          <a:latin typeface="Consolas"/>
                        </a:defRPr>
                      </a:pPr>
                      <a:r>
                        <a:t>Jendela deteksi, antrean, API gerbang, sinkronisasi salinan</a:t>
                      </a:r>
                    </a:p>
                  </a:txBody>
                  <a:tcPr>
                    <a:solidFill>
                      <a:srgbClr val="131722"/>
                    </a:solidFill>
                  </a:tcPr>
                </a:tc>
              </a:tr>
              <a:tr h="365760">
                <a:tc>
                  <a:txBody>
                    <a:bodyPr/>
                    <a:lstStyle/>
                    <a:p>
                      <a:pPr>
                        <a:defRPr sz="1200">
                          <a:solidFill>
                            <a:srgbClr val="F8FAFC"/>
                          </a:solidFill>
                          <a:latin typeface="Consolas"/>
                        </a:defRPr>
                      </a:pPr>
                      <a:r>
                        <a:t>Total</a:t>
                      </a:r>
                    </a:p>
                  </a:txBody>
                  <a:tcPr>
                    <a:solidFill>
                      <a:srgbClr val="131722"/>
                    </a:solidFill>
                  </a:tcPr>
                </a:tc>
                <a:tc>
                  <a:txBody>
                    <a:bodyPr/>
                    <a:lstStyle/>
                    <a:p>
                      <a:pPr>
                        <a:defRPr sz="1200">
                          <a:solidFill>
                            <a:srgbClr val="F8FAFC"/>
                          </a:solidFill>
                          <a:latin typeface="Consolas"/>
                        </a:defRPr>
                      </a:pPr>
                      <a:r>
                        <a:t>279</a:t>
                      </a:r>
                    </a:p>
                  </a:txBody>
                  <a:tcPr>
                    <a:solidFill>
                      <a:srgbClr val="131722"/>
                    </a:solidFill>
                  </a:tcPr>
                </a:tc>
                <a:tc>
                  <a:txBody>
                    <a:bodyPr/>
                    <a:lstStyle/>
                    <a:p>
                      <a:pPr>
                        <a:defRPr sz="1200">
                          <a:solidFill>
                            <a:srgbClr val="F8FAFC"/>
                          </a:solidFill>
                          <a:latin typeface="Consolas"/>
                        </a:defRPr>
                      </a:pPr>
                      <a:r>
                        <a:t>Keduanya wajib hijau sebelum perubahan dianggap selesai</a:t>
                      </a:r>
                    </a:p>
                  </a:txBody>
                  <a:tcPr>
                    <a:solidFill>
                      <a:srgbClr val="131722"/>
                    </a:solidFill>
                  </a:tcPr>
                </a:tc>
              </a:tr>
            </a:tbl>
          </a:graphicData>
        </a:graphic>
      </p:graphicFrame>
      <p:sp>
        <p:nvSpPr>
          <p:cNvPr id="5" name="TextBox 4"/>
          <p:cNvSpPr txBox="1"/>
          <p:nvPr/>
        </p:nvSpPr>
        <p:spPr>
          <a:xfrm>
            <a:off x="822960" y="3566160"/>
            <a:ext cx="10515600" cy="1097280"/>
          </a:xfrm>
          <a:prstGeom prst="rect">
            <a:avLst/>
          </a:prstGeom>
          <a:noFill/>
        </p:spPr>
        <p:txBody>
          <a:bodyPr wrap="square">
            <a:spAutoFit/>
          </a:bodyPr>
          <a:lstStyle/>
          <a:p>
            <a:pPr algn="l">
              <a:defRPr sz="1300" b="0">
                <a:solidFill>
                  <a:srgbClr val="A3AEC2"/>
                </a:solidFill>
                <a:latin typeface="Calibri"/>
              </a:defRPr>
            </a:pPr>
            <a:r>
              <a:t>Termasuk tes yang memastikan salinan algoritma di gerbang identik byte demi byte dengan aslinya di pusat, dan tes yang memastikan seluruh modul perangkat benar-benar bisa diimpor.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6.2 · HASIL PADA REKAMAN NYATA</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Sepuluh klip, kamera CAM 04, 27 Oktober 2023</a:t>
            </a:r>
          </a:p>
        </p:txBody>
      </p:sp>
      <p:graphicFrame>
        <p:nvGraphicFramePr>
          <p:cNvPr id="4" name="Table 3"/>
          <p:cNvGraphicFramePr>
            <a:graphicFrameLocks noGrp="1"/>
          </p:cNvGraphicFramePr>
          <p:nvPr/>
        </p:nvGraphicFramePr>
        <p:xfrm>
          <a:off x="822960" y="1965960"/>
          <a:ext cx="10515599" cy="2926080"/>
        </p:xfrm>
        <a:graphic>
          <a:graphicData uri="http://schemas.openxmlformats.org/drawingml/2006/table">
            <a:tbl>
              <a:tblPr firstRow="1" bandRow="1">
                <a:tableStyleId>{5C22544A-7EE6-4342-B048-85BDC9FD1C3A}</a:tableStyleId>
              </a:tblPr>
              <a:tblGrid>
                <a:gridCol w="6008914"/>
                <a:gridCol w="4506685"/>
              </a:tblGrid>
              <a:tr h="365760">
                <a:tc>
                  <a:txBody>
                    <a:bodyPr/>
                    <a:lstStyle/>
                    <a:p>
                      <a:pPr>
                        <a:defRPr sz="1300" b="1">
                          <a:solidFill>
                            <a:srgbClr val="07090D"/>
                          </a:solidFill>
                        </a:defRPr>
                      </a:pPr>
                      <a:r>
                        <a:t>Yang diuji</a:t>
                      </a:r>
                    </a:p>
                  </a:txBody>
                  <a:tcPr>
                    <a:solidFill>
                      <a:srgbClr val="F59E0B"/>
                    </a:solidFill>
                  </a:tcPr>
                </a:tc>
                <a:tc>
                  <a:txBody>
                    <a:bodyPr/>
                    <a:lstStyle/>
                    <a:p>
                      <a:pPr>
                        <a:defRPr sz="1300" b="1">
                          <a:solidFill>
                            <a:srgbClr val="07090D"/>
                          </a:solidFill>
                        </a:defRPr>
                      </a:pPr>
                      <a:r>
                        <a:t>Hasil</a:t>
                      </a:r>
                    </a:p>
                  </a:txBody>
                  <a:tcPr>
                    <a:solidFill>
                      <a:srgbClr val="F59E0B"/>
                    </a:solidFill>
                  </a:tcPr>
                </a:tc>
              </a:tr>
              <a:tr h="365760">
                <a:tc>
                  <a:txBody>
                    <a:bodyPr/>
                    <a:lstStyle/>
                    <a:p>
                      <a:pPr>
                        <a:defRPr sz="1200">
                          <a:solidFill>
                            <a:srgbClr val="F8FAFC"/>
                          </a:solidFill>
                          <a:latin typeface="Consolas"/>
                        </a:defRPr>
                      </a:pPr>
                      <a:r>
                        <a:t>Klip diproses</a:t>
                      </a:r>
                    </a:p>
                  </a:txBody>
                  <a:tcPr>
                    <a:solidFill>
                      <a:srgbClr val="131722"/>
                    </a:solidFill>
                  </a:tcPr>
                </a:tc>
                <a:tc>
                  <a:txBody>
                    <a:bodyPr/>
                    <a:lstStyle/>
                    <a:p>
                      <a:pPr>
                        <a:defRPr sz="1200">
                          <a:solidFill>
                            <a:srgbClr val="F8FAFC"/>
                          </a:solidFill>
                          <a:latin typeface="Consolas"/>
                        </a:defRPr>
                      </a:pPr>
                      <a:r>
                        <a:t>10</a:t>
                      </a:r>
                    </a:p>
                  </a:txBody>
                  <a:tcPr>
                    <a:solidFill>
                      <a:srgbClr val="131722"/>
                    </a:solidFill>
                  </a:tcPr>
                </a:tc>
              </a:tr>
              <a:tr h="365760">
                <a:tc>
                  <a:txBody>
                    <a:bodyPr/>
                    <a:lstStyle/>
                    <a:p>
                      <a:pPr>
                        <a:defRPr sz="1200">
                          <a:solidFill>
                            <a:srgbClr val="F8FAFC"/>
                          </a:solidFill>
                          <a:latin typeface="Consolas"/>
                        </a:defRPr>
                      </a:pPr>
                      <a:r>
                        <a:t>Nomor lambung benar</a:t>
                      </a:r>
                    </a:p>
                  </a:txBody>
                  <a:tcPr>
                    <a:solidFill>
                      <a:srgbClr val="131722"/>
                    </a:solidFill>
                  </a:tcPr>
                </a:tc>
                <a:tc>
                  <a:txBody>
                    <a:bodyPr/>
                    <a:lstStyle/>
                    <a:p>
                      <a:pPr>
                        <a:defRPr sz="1200">
                          <a:solidFill>
                            <a:srgbClr val="10B981"/>
                          </a:solidFill>
                          <a:latin typeface="Consolas"/>
                        </a:defRPr>
                      </a:pPr>
                      <a:r>
                        <a:t>✓ 10 / 10</a:t>
                      </a:r>
                    </a:p>
                  </a:txBody>
                  <a:tcPr>
                    <a:solidFill>
                      <a:srgbClr val="131722"/>
                    </a:solidFill>
                  </a:tcPr>
                </a:tc>
              </a:tr>
              <a:tr h="365760">
                <a:tc>
                  <a:txBody>
                    <a:bodyPr/>
                    <a:lstStyle/>
                    <a:p>
                      <a:pPr>
                        <a:defRPr sz="1200">
                          <a:solidFill>
                            <a:srgbClr val="F8FAFC"/>
                          </a:solidFill>
                          <a:latin typeface="Consolas"/>
                        </a:defRPr>
                      </a:pPr>
                      <a:r>
                        <a:t>Cocok persis ke master</a:t>
                      </a:r>
                    </a:p>
                  </a:txBody>
                  <a:tcPr>
                    <a:solidFill>
                      <a:srgbClr val="131722"/>
                    </a:solidFill>
                  </a:tcPr>
                </a:tc>
                <a:tc>
                  <a:txBody>
                    <a:bodyPr/>
                    <a:lstStyle/>
                    <a:p>
                      <a:pPr>
                        <a:defRPr sz="1200">
                          <a:solidFill>
                            <a:srgbClr val="10B981"/>
                          </a:solidFill>
                          <a:latin typeface="Consolas"/>
                        </a:defRPr>
                      </a:pPr>
                      <a:r>
                        <a:t>✓ 10 / 10</a:t>
                      </a:r>
                    </a:p>
                  </a:txBody>
                  <a:tcPr>
                    <a:solidFill>
                      <a:srgbClr val="131722"/>
                    </a:solidFill>
                  </a:tcPr>
                </a:tc>
              </a:tr>
              <a:tr h="365760">
                <a:tc>
                  <a:txBody>
                    <a:bodyPr/>
                    <a:lstStyle/>
                    <a:p>
                      <a:pPr>
                        <a:defRPr sz="1200">
                          <a:solidFill>
                            <a:srgbClr val="F8FAFC"/>
                          </a:solidFill>
                          <a:latin typeface="Consolas"/>
                        </a:defRPr>
                      </a:pPr>
                      <a:r>
                        <a:t>Lintasan tercatat</a:t>
                      </a:r>
                    </a:p>
                  </a:txBody>
                  <a:tcPr>
                    <a:solidFill>
                      <a:srgbClr val="131722"/>
                    </a:solidFill>
                  </a:tcPr>
                </a:tc>
                <a:tc>
                  <a:txBody>
                    <a:bodyPr/>
                    <a:lstStyle/>
                    <a:p>
                      <a:pPr>
                        <a:defRPr sz="1200">
                          <a:solidFill>
                            <a:srgbClr val="10B981"/>
                          </a:solidFill>
                          <a:latin typeface="Consolas"/>
                        </a:defRPr>
                      </a:pPr>
                      <a:r>
                        <a:t>✓ 10 (satu klip = satu lintasan)</a:t>
                      </a:r>
                    </a:p>
                  </a:txBody>
                  <a:tcPr>
                    <a:solidFill>
                      <a:srgbClr val="131722"/>
                    </a:solidFill>
                  </a:tcPr>
                </a:tc>
              </a:tr>
              <a:tr h="365760">
                <a:tc>
                  <a:txBody>
                    <a:bodyPr/>
                    <a:lstStyle/>
                    <a:p>
                      <a:pPr>
                        <a:defRPr sz="1200">
                          <a:solidFill>
                            <a:srgbClr val="F8FAFC"/>
                          </a:solidFill>
                          <a:latin typeface="Consolas"/>
                        </a:defRPr>
                      </a:pPr>
                      <a:r>
                        <a:t>Ritase terbentuk</a:t>
                      </a:r>
                    </a:p>
                  </a:txBody>
                  <a:tcPr>
                    <a:solidFill>
                      <a:srgbClr val="131722"/>
                    </a:solidFill>
                  </a:tcPr>
                </a:tc>
                <a:tc>
                  <a:txBody>
                    <a:bodyPr/>
                    <a:lstStyle/>
                    <a:p>
                      <a:pPr>
                        <a:defRPr sz="1200">
                          <a:solidFill>
                            <a:srgbClr val="10B981"/>
                          </a:solidFill>
                          <a:latin typeface="Consolas"/>
                        </a:defRPr>
                      </a:pPr>
                      <a:r>
                        <a:t>✓ 5, tanpa sisa</a:t>
                      </a:r>
                    </a:p>
                  </a:txBody>
                  <a:tcPr>
                    <a:solidFill>
                      <a:srgbClr val="131722"/>
                    </a:solidFill>
                  </a:tcPr>
                </a:tc>
              </a:tr>
              <a:tr h="365760">
                <a:tc>
                  <a:txBody>
                    <a:bodyPr/>
                    <a:lstStyle/>
                    <a:p>
                      <a:pPr>
                        <a:defRPr sz="1200">
                          <a:solidFill>
                            <a:srgbClr val="F8FAFC"/>
                          </a:solidFill>
                          <a:latin typeface="Consolas"/>
                        </a:defRPr>
                      </a:pPr>
                      <a:r>
                        <a:t>Potongan plat tersimpan</a:t>
                      </a:r>
                    </a:p>
                  </a:txBody>
                  <a:tcPr>
                    <a:solidFill>
                      <a:srgbClr val="131722"/>
                    </a:solidFill>
                  </a:tcPr>
                </a:tc>
                <a:tc>
                  <a:txBody>
                    <a:bodyPr/>
                    <a:lstStyle/>
                    <a:p>
                      <a:pPr>
                        <a:defRPr sz="1200">
                          <a:solidFill>
                            <a:srgbClr val="10B981"/>
                          </a:solidFill>
                          <a:latin typeface="Consolas"/>
                        </a:defRPr>
                      </a:pPr>
                      <a:r>
                        <a:t>✓ 10 / 10</a:t>
                      </a:r>
                    </a:p>
                  </a:txBody>
                  <a:tcPr>
                    <a:solidFill>
                      <a:srgbClr val="131722"/>
                    </a:solidFill>
                  </a:tcPr>
                </a:tc>
              </a:tr>
              <a:tr h="365760">
                <a:tc>
                  <a:txBody>
                    <a:bodyPr/>
                    <a:lstStyle/>
                    <a:p>
                      <a:pPr>
                        <a:defRPr sz="1200">
                          <a:solidFill>
                            <a:srgbClr val="F8FAFC"/>
                          </a:solidFill>
                          <a:latin typeface="Consolas"/>
                        </a:defRPr>
                      </a:pPr>
                      <a:r>
                        <a:t>Terkirim ke pusat</a:t>
                      </a:r>
                    </a:p>
                  </a:txBody>
                  <a:tcPr>
                    <a:solidFill>
                      <a:srgbClr val="131722"/>
                    </a:solidFill>
                  </a:tcPr>
                </a:tc>
                <a:tc>
                  <a:txBody>
                    <a:bodyPr/>
                    <a:lstStyle/>
                    <a:p>
                      <a:pPr>
                        <a:defRPr sz="1200">
                          <a:solidFill>
                            <a:srgbClr val="10B981"/>
                          </a:solidFill>
                          <a:latin typeface="Consolas"/>
                        </a:defRPr>
                      </a:pPr>
                      <a:r>
                        <a:t>✓ 10 / 10, HTTP 201</a:t>
                      </a:r>
                    </a:p>
                  </a:txBody>
                  <a:tcPr>
                    <a:solidFill>
                      <a:srgbClr val="131722"/>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6.3 · TEMUAN YANG DIPERBAIKI</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Ditemukan karena dijalankan sungguhan</a:t>
            </a:r>
          </a:p>
        </p:txBody>
      </p:sp>
      <p:sp>
        <p:nvSpPr>
          <p:cNvPr id="4" name="TextBox 3"/>
          <p:cNvSpPr txBox="1"/>
          <p:nvPr/>
        </p:nvSpPr>
        <p:spPr>
          <a:xfrm>
            <a:off x="822960" y="2011680"/>
            <a:ext cx="10607040" cy="320040"/>
          </a:xfrm>
          <a:prstGeom prst="rect">
            <a:avLst/>
          </a:prstGeom>
          <a:noFill/>
        </p:spPr>
        <p:txBody>
          <a:bodyPr wrap="square">
            <a:spAutoFit/>
          </a:bodyPr>
          <a:lstStyle/>
          <a:p>
            <a:pPr algn="l">
              <a:defRPr sz="1800" b="1">
                <a:solidFill>
                  <a:srgbClr val="F8FAFC"/>
                </a:solidFill>
                <a:latin typeface="Calibri"/>
              </a:defRPr>
            </a:pPr>
            <a:r>
              <a:t>Agen gerbang tidak bisa start sama sekali</a:t>
            </a:r>
          </a:p>
        </p:txBody>
      </p:sp>
      <p:sp>
        <p:nvSpPr>
          <p:cNvPr id="5" name="TextBox 4"/>
          <p:cNvSpPr txBox="1"/>
          <p:nvPr/>
        </p:nvSpPr>
        <p:spPr>
          <a:xfrm>
            <a:off x="822960" y="2322576"/>
            <a:ext cx="10607040" cy="548640"/>
          </a:xfrm>
          <a:prstGeom prst="rect">
            <a:avLst/>
          </a:prstGeom>
          <a:noFill/>
        </p:spPr>
        <p:txBody>
          <a:bodyPr wrap="square">
            <a:spAutoFit/>
          </a:bodyPr>
          <a:lstStyle/>
          <a:p>
            <a:pPr algn="l">
              <a:defRPr sz="1400" b="0">
                <a:solidFill>
                  <a:srgbClr val="A3AEC2"/>
                </a:solidFill>
                <a:latin typeface="Calibri"/>
              </a:defRPr>
            </a:pPr>
            <a:r>
              <a:t>Dua modul masih menunjuk lokasi kode lama yang hilang setelah repo dipecah. Artinya tidak ada gerbang yang akan mendeteksi apa pun. Tidak terdeteksi karena tidak ada tes yang mengimpor modul itu — sekarang ada.</a:t>
            </a:r>
          </a:p>
        </p:txBody>
      </p:sp>
      <p:sp>
        <p:nvSpPr>
          <p:cNvPr id="6" name="TextBox 5"/>
          <p:cNvSpPr txBox="1"/>
          <p:nvPr/>
        </p:nvSpPr>
        <p:spPr>
          <a:xfrm>
            <a:off x="822960" y="2880360"/>
            <a:ext cx="10607040" cy="320040"/>
          </a:xfrm>
          <a:prstGeom prst="rect">
            <a:avLst/>
          </a:prstGeom>
          <a:noFill/>
        </p:spPr>
        <p:txBody>
          <a:bodyPr wrap="square">
            <a:spAutoFit/>
          </a:bodyPr>
          <a:lstStyle/>
          <a:p>
            <a:pPr algn="l">
              <a:defRPr sz="1800" b="1">
                <a:solidFill>
                  <a:srgbClr val="F8FAFC"/>
                </a:solidFill>
                <a:latin typeface="Calibri"/>
              </a:defRPr>
            </a:pPr>
            <a:r>
              <a:t>Perangkat tanpa CUDA mati diam-diam</a:t>
            </a:r>
          </a:p>
        </p:txBody>
      </p:sp>
      <p:sp>
        <p:nvSpPr>
          <p:cNvPr id="7" name="TextBox 6"/>
          <p:cNvSpPr txBox="1"/>
          <p:nvPr/>
        </p:nvSpPr>
        <p:spPr>
          <a:xfrm>
            <a:off x="822960" y="3191256"/>
            <a:ext cx="10607040" cy="548640"/>
          </a:xfrm>
          <a:prstGeom prst="rect">
            <a:avLst/>
          </a:prstGeom>
          <a:noFill/>
        </p:spPr>
        <p:txBody>
          <a:bodyPr wrap="square">
            <a:spAutoFit/>
          </a:bodyPr>
          <a:lstStyle/>
          <a:p>
            <a:pPr algn="l">
              <a:defRPr sz="1400" b="0">
                <a:solidFill>
                  <a:srgbClr val="A3AEC2"/>
                </a:solidFill>
                <a:latin typeface="Calibri"/>
              </a:defRPr>
            </a:pPr>
            <a:r>
              <a:t>Utas inferensi memaksa 'cuda' dan berhenti, sementara utas lain tetap hidup — gerbang melaporkan dirinya sehat padahal tidak mendeteksi. Sekarang jatuh ke CPU dan kegagalannya tampil di layar.</a:t>
            </a:r>
          </a:p>
        </p:txBody>
      </p:sp>
      <p:sp>
        <p:nvSpPr>
          <p:cNvPr id="8" name="TextBox 7"/>
          <p:cNvSpPr txBox="1"/>
          <p:nvPr/>
        </p:nvSpPr>
        <p:spPr>
          <a:xfrm>
            <a:off x="822960" y="3749040"/>
            <a:ext cx="10607040" cy="320040"/>
          </a:xfrm>
          <a:prstGeom prst="rect">
            <a:avLst/>
          </a:prstGeom>
          <a:noFill/>
        </p:spPr>
        <p:txBody>
          <a:bodyPr wrap="square">
            <a:spAutoFit/>
          </a:bodyPr>
          <a:lstStyle/>
          <a:p>
            <a:pPr algn="l">
              <a:defRPr sz="1800" b="1">
                <a:solidFill>
                  <a:srgbClr val="F8FAFC"/>
                </a:solidFill>
                <a:latin typeface="Calibri"/>
              </a:defRPr>
            </a:pPr>
            <a:r>
              <a:t>Satu lintasan gerbang membuat dua laporan utama gagal</a:t>
            </a:r>
          </a:p>
        </p:txBody>
      </p:sp>
      <p:sp>
        <p:nvSpPr>
          <p:cNvPr id="9" name="TextBox 8"/>
          <p:cNvSpPr txBox="1"/>
          <p:nvPr/>
        </p:nvSpPr>
        <p:spPr>
          <a:xfrm>
            <a:off x="822960" y="4059936"/>
            <a:ext cx="10607040" cy="548640"/>
          </a:xfrm>
          <a:prstGeom prst="rect">
            <a:avLst/>
          </a:prstGeom>
          <a:noFill/>
        </p:spPr>
        <p:txBody>
          <a:bodyPr wrap="square">
            <a:spAutoFit/>
          </a:bodyPr>
          <a:lstStyle/>
          <a:p>
            <a:pPr algn="l">
              <a:defRPr sz="1400" b="0">
                <a:solidFill>
                  <a:srgbClr val="A3AEC2"/>
                </a:solidFill>
                <a:latin typeface="Calibri"/>
              </a:defRPr>
            </a:pPr>
            <a:r>
              <a:t>Perbedaan format waktu membuat /api/ritase dan /api/shift-report mengembalikan 500 pada lintasan gerbang pertama yang masuk.</a:t>
            </a:r>
          </a:p>
        </p:txBody>
      </p:sp>
      <p:sp>
        <p:nvSpPr>
          <p:cNvPr id="10" name="TextBox 9"/>
          <p:cNvSpPr txBox="1"/>
          <p:nvPr/>
        </p:nvSpPr>
        <p:spPr>
          <a:xfrm>
            <a:off x="822960" y="4617720"/>
            <a:ext cx="10607040" cy="320040"/>
          </a:xfrm>
          <a:prstGeom prst="rect">
            <a:avLst/>
          </a:prstGeom>
          <a:noFill/>
        </p:spPr>
        <p:txBody>
          <a:bodyPr wrap="square">
            <a:spAutoFit/>
          </a:bodyPr>
          <a:lstStyle/>
          <a:p>
            <a:pPr algn="l">
              <a:defRPr sz="1800" b="1">
                <a:solidFill>
                  <a:srgbClr val="F8FAFC"/>
                </a:solidFill>
                <a:latin typeface="Calibri"/>
              </a:defRPr>
            </a:pPr>
            <a:r>
              <a:t>Hitungan 'di dalam pit' menghitung lintasan, bukan truk</a:t>
            </a:r>
          </a:p>
        </p:txBody>
      </p:sp>
      <p:sp>
        <p:nvSpPr>
          <p:cNvPr id="11" name="TextBox 10"/>
          <p:cNvSpPr txBox="1"/>
          <p:nvPr/>
        </p:nvSpPr>
        <p:spPr>
          <a:xfrm>
            <a:off x="822960" y="4928616"/>
            <a:ext cx="10607040" cy="548640"/>
          </a:xfrm>
          <a:prstGeom prst="rect">
            <a:avLst/>
          </a:prstGeom>
          <a:noFill/>
        </p:spPr>
        <p:txBody>
          <a:bodyPr wrap="square">
            <a:spAutoFit/>
          </a:bodyPr>
          <a:lstStyle/>
          <a:p>
            <a:pPr algn="l">
              <a:defRPr sz="1400" b="0">
                <a:solidFill>
                  <a:srgbClr val="A3AEC2"/>
                </a:solidFill>
                <a:latin typeface="Calibri"/>
              </a:defRPr>
            </a:pPr>
            <a:r>
              <a:t>Truk yang masuk lalu keluar terhitung di dua tempat sekaligus. Armada 5 unit yang semuanya sudah pulang dilaporkan 5 di dalam DAN 5 di luar.</a:t>
            </a:r>
          </a:p>
        </p:txBody>
      </p:sp>
      <p:sp>
        <p:nvSpPr>
          <p:cNvPr id="12" name="TextBox 11"/>
          <p:cNvSpPr txBox="1"/>
          <p:nvPr/>
        </p:nvSpPr>
        <p:spPr>
          <a:xfrm>
            <a:off x="822960" y="5486400"/>
            <a:ext cx="10607040" cy="320040"/>
          </a:xfrm>
          <a:prstGeom prst="rect">
            <a:avLst/>
          </a:prstGeom>
          <a:noFill/>
        </p:spPr>
        <p:txBody>
          <a:bodyPr wrap="square">
            <a:spAutoFit/>
          </a:bodyPr>
          <a:lstStyle/>
          <a:p>
            <a:pPr algn="l">
              <a:defRPr sz="1800" b="1">
                <a:solidFill>
                  <a:srgbClr val="F8FAFC"/>
                </a:solidFill>
                <a:latin typeface="Calibri"/>
              </a:defRPr>
            </a:pPr>
            <a:r>
              <a:t>Satu truk tercatat dua kali karena jeda deteksi</a:t>
            </a:r>
          </a:p>
        </p:txBody>
      </p:sp>
      <p:sp>
        <p:nvSpPr>
          <p:cNvPr id="13" name="TextBox 12"/>
          <p:cNvSpPr txBox="1"/>
          <p:nvPr/>
        </p:nvSpPr>
        <p:spPr>
          <a:xfrm>
            <a:off x="822960" y="5797296"/>
            <a:ext cx="10607040" cy="548640"/>
          </a:xfrm>
          <a:prstGeom prst="rect">
            <a:avLst/>
          </a:prstGeom>
          <a:noFill/>
        </p:spPr>
        <p:txBody>
          <a:bodyPr wrap="square">
            <a:spAutoFit/>
          </a:bodyPr>
          <a:lstStyle/>
          <a:p>
            <a:pPr algn="l">
              <a:defRPr sz="1400" b="0">
                <a:solidFill>
                  <a:srgbClr val="A3AEC2"/>
                </a:solidFill>
                <a:latin typeface="Calibri"/>
              </a:defRPr>
            </a:pPr>
            <a:r>
              <a:t>Plat sempat hilang 1,87 detik di tengah lintasan, melewati ambang 1,5 detik, sehingga jendela tertutup dan terbuka lagi.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6.4 · CARA AMBANG JEDA DITENTUKAN</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Diukur, bukan ditebak</a:t>
            </a:r>
          </a:p>
        </p:txBody>
      </p:sp>
      <p:sp>
        <p:nvSpPr>
          <p:cNvPr id="4" name="TextBox 3"/>
          <p:cNvSpPr txBox="1"/>
          <p:nvPr/>
        </p:nvSpPr>
        <p:spPr>
          <a:xfrm>
            <a:off x="822960" y="2011680"/>
            <a:ext cx="10515600" cy="4206240"/>
          </a:xfrm>
          <a:prstGeom prst="rect">
            <a:avLst/>
          </a:prstGeom>
          <a:noFill/>
        </p:spPr>
        <p:txBody>
          <a:bodyPr wrap="square">
            <a:spAutoFit/>
          </a:bodyPr>
          <a:lstStyle/>
          <a:p>
            <a:pPr algn="l">
              <a:defRPr sz="1700" b="0">
                <a:solidFill>
                  <a:srgbClr val="A3AEC2"/>
                </a:solidFill>
                <a:latin typeface="Calibri"/>
              </a:defRPr>
            </a:pPr>
            <a:r>
              <a:t>Jeda deteksi diukur pada kesepuluh klip: berapa lama plat tidak terlihat sementara truk masih melintas.</a:t>
            </a:r>
          </a:p>
          <a:p>
            <a:pPr algn="l">
              <a:defRPr sz="1700" b="0">
                <a:solidFill>
                  <a:srgbClr val="A3AEC2"/>
                </a:solidFill>
                <a:latin typeface="Calibri"/>
              </a:defRPr>
            </a:pPr>
          </a:p>
          <a:p>
            <a:pPr algn="l">
              <a:defRPr sz="1700" b="0">
                <a:solidFill>
                  <a:srgbClr val="A3AEC2"/>
                </a:solidFill>
                <a:latin typeface="Calibri"/>
              </a:defRPr>
            </a:pPr>
            <a:r>
              <a:t>• Jeda terpanjang di seluruh rekaman: 1,87 detik (klip keluar HD 2221)</a:t>
            </a:r>
          </a:p>
          <a:p>
            <a:pPr algn="l">
              <a:defRPr sz="1700" b="0">
                <a:solidFill>
                  <a:srgbClr val="A3AEC2"/>
                </a:solidFill>
                <a:latin typeface="Calibri"/>
              </a:defRPr>
            </a:pPr>
            <a:r>
              <a:t>• Jeda terpanjang di klip lain: 0,71 detik</a:t>
            </a:r>
          </a:p>
          <a:p>
            <a:pPr algn="l">
              <a:defRPr sz="1700" b="0">
                <a:solidFill>
                  <a:srgbClr val="A3AEC2"/>
                </a:solidFill>
                <a:latin typeface="Calibri"/>
              </a:defRPr>
            </a:pPr>
            <a:r>
              <a:t>• Ambang lama: 1,5 detik — kurang sedikit, tepat di klip itu</a:t>
            </a:r>
          </a:p>
          <a:p>
            <a:pPr algn="l">
              <a:defRPr sz="1700" b="0">
                <a:solidFill>
                  <a:srgbClr val="A3AEC2"/>
                </a:solidFill>
                <a:latin typeface="Calibri"/>
              </a:defRPr>
            </a:pPr>
            <a:r>
              <a:t>• Ambang baru: 2,5 detik</a:t>
            </a:r>
          </a:p>
          <a:p>
            <a:pPr algn="l">
              <a:defRPr sz="1700" b="0">
                <a:solidFill>
                  <a:srgbClr val="A3AEC2"/>
                </a:solidFill>
                <a:latin typeface="Calibri"/>
              </a:defRPr>
            </a:pPr>
          </a:p>
          <a:p>
            <a:pPr algn="l">
              <a:defRPr sz="1700" b="0">
                <a:solidFill>
                  <a:srgbClr val="A3AEC2"/>
                </a:solidFill>
                <a:latin typeface="Calibri"/>
              </a:defRPr>
            </a:pPr>
            <a:r>
              <a:t>2,5 detik melewati kasus terburuk yang teramati dengan margin, dan masih jauh di bawah jarak antar-truk yang sebenarnya (siklus teramati berjarak menit, bukan detik). Setelah diubah, klip itu menghasilkan satu jendela 6,6 detik dengan 15 pembacaan.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BAGIAN 7</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Yang belum selesai</a:t>
            </a:r>
          </a:p>
        </p:txBody>
      </p:sp>
      <p:sp>
        <p:nvSpPr>
          <p:cNvPr id="4" name="TextBox 3"/>
          <p:cNvSpPr txBox="1"/>
          <p:nvPr/>
        </p:nvSpPr>
        <p:spPr>
          <a:xfrm>
            <a:off x="822960" y="2011680"/>
            <a:ext cx="10515600" cy="4206240"/>
          </a:xfrm>
          <a:prstGeom prst="rect">
            <a:avLst/>
          </a:prstGeom>
          <a:noFill/>
        </p:spPr>
        <p:txBody>
          <a:bodyPr wrap="square">
            <a:spAutoFit/>
          </a:bodyPr>
          <a:lstStyle/>
          <a:p>
            <a:pPr algn="l">
              <a:defRPr sz="1700" b="0">
                <a:solidFill>
                  <a:srgbClr val="A3AEC2"/>
                </a:solidFill>
                <a:latin typeface="Calibri"/>
              </a:defRPr>
            </a:pPr>
            <a:r>
              <a:t>• Rantai deteksi belum pernah berjalan dari kamera langsung — baru dari rekaman.</a:t>
            </a:r>
          </a:p>
          <a:p>
            <a:pPr algn="l">
              <a:defRPr sz="1700" b="0">
                <a:solidFill>
                  <a:srgbClr val="A3AEC2"/>
                </a:solidFill>
                <a:latin typeface="Calibri"/>
              </a:defRPr>
            </a:pPr>
          </a:p>
          <a:p>
            <a:pPr algn="l">
              <a:defRPr sz="1700" b="0">
                <a:solidFill>
                  <a:srgbClr val="A3AEC2"/>
                </a:solidFill>
                <a:latin typeface="Calibri"/>
              </a:defRPr>
            </a:pPr>
            <a:r>
              <a:t>• Kecepatan pemrosesan belum diukur di Jetson. Angka dari GPU desktop tidak bisa dipindahkan, jadi tidak ada klaim fps di dokumen ini.</a:t>
            </a:r>
          </a:p>
          <a:p>
            <a:pPr algn="l">
              <a:defRPr sz="1700" b="0">
                <a:solidFill>
                  <a:srgbClr val="A3AEC2"/>
                </a:solidFill>
                <a:latin typeface="Calibri"/>
              </a:defRPr>
            </a:pPr>
          </a:p>
          <a:p>
            <a:pPr algn="l">
              <a:defRPr sz="1700" b="0">
                <a:solidFill>
                  <a:srgbClr val="A3AEC2"/>
                </a:solidFill>
                <a:latin typeface="Calibri"/>
              </a:defRPr>
            </a:pPr>
            <a:r>
              <a:t>• Tayangan langsung WebRTC belum diimplementasikan; menunggu media relay sungguhan untuk menguji, karena menulis negosiasi WebRTC tanpa lawan uji menghasilkan kode yang tampak benar dan tidak pernah bekerja.</a:t>
            </a:r>
          </a:p>
          <a:p>
            <a:pPr algn="l">
              <a:defRPr sz="1700" b="0">
                <a:solidFill>
                  <a:srgbClr val="A3AEC2"/>
                </a:solidFill>
                <a:latin typeface="Calibri"/>
              </a:defRPr>
            </a:pPr>
          </a:p>
          <a:p>
            <a:pPr algn="l">
              <a:defRPr sz="1700" b="0">
                <a:solidFill>
                  <a:srgbClr val="A3AEC2"/>
                </a:solidFill>
                <a:latin typeface="Calibri"/>
              </a:defRPr>
            </a:pPr>
            <a:r>
              <a:t>• Penyimpanan rekaman 7 hari untuk sengketa sudah ada kodenya, tapi belum dirangkai ke layanan gerbang.</a:t>
            </a:r>
          </a:p>
          <a:p>
            <a:pPr algn="l">
              <a:defRPr sz="1700" b="0">
                <a:solidFill>
                  <a:srgbClr val="A3AEC2"/>
                </a:solidFill>
                <a:latin typeface="Calibri"/>
              </a:defRPr>
            </a:pPr>
          </a:p>
          <a:p>
            <a:pPr algn="l">
              <a:defRPr sz="1700" b="0">
                <a:solidFill>
                  <a:srgbClr val="A3AEC2"/>
                </a:solidFill>
                <a:latin typeface="Calibri"/>
              </a:defRPr>
            </a:pPr>
            <a:r>
              <a:t>• Docker compose di repo ini khusus pengembangan; pemisahan per-peran untuk produksi sengaja ditunda sampai arsitekturnya mengendap.</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2194560"/>
            <a:ext cx="10515600" cy="1097280"/>
          </a:xfrm>
          <a:prstGeom prst="rect">
            <a:avLst/>
          </a:prstGeom>
          <a:noFill/>
        </p:spPr>
        <p:txBody>
          <a:bodyPr wrap="square">
            <a:spAutoFit/>
          </a:bodyPr>
          <a:lstStyle/>
          <a:p>
            <a:pPr algn="l">
              <a:defRPr sz="4000" b="1">
                <a:solidFill>
                  <a:srgbClr val="F8FAFC"/>
                </a:solidFill>
                <a:latin typeface="Calibri"/>
              </a:defRPr>
            </a:pPr>
            <a:r>
              <a:t>Ringkasnya</a:t>
            </a:r>
          </a:p>
        </p:txBody>
      </p:sp>
      <p:sp>
        <p:nvSpPr>
          <p:cNvPr id="3" name="TextBox 2"/>
          <p:cNvSpPr txBox="1"/>
          <p:nvPr/>
        </p:nvSpPr>
        <p:spPr>
          <a:xfrm>
            <a:off x="822960" y="3383280"/>
            <a:ext cx="10515600" cy="1463040"/>
          </a:xfrm>
          <a:prstGeom prst="rect">
            <a:avLst/>
          </a:prstGeom>
          <a:noFill/>
        </p:spPr>
        <p:txBody>
          <a:bodyPr wrap="square">
            <a:spAutoFit/>
          </a:bodyPr>
          <a:lstStyle/>
          <a:p>
            <a:pPr algn="l">
              <a:defRPr sz="2000" b="0">
                <a:solidFill>
                  <a:srgbClr val="A3AEC2"/>
                </a:solidFill>
                <a:latin typeface="Calibri"/>
              </a:defRPr>
            </a:pPr>
            <a:r>
              <a:t>Deteksi berjalan di gerbang, hasilnya dikumpulkan di pusat.</a:t>
            </a:r>
          </a:p>
          <a:p>
            <a:pPr algn="l">
              <a:defRPr sz="2000" b="0">
                <a:solidFill>
                  <a:srgbClr val="A3AEC2"/>
                </a:solidFill>
                <a:latin typeface="Calibri"/>
              </a:defRPr>
            </a:pPr>
            <a:r>
              <a:t>Sepuluh rekaman nyata terbaca benar seluruhnya, membentuk lima ritase dengan durasi siklus yang diambil dari jam pada rekaman.</a:t>
            </a:r>
          </a:p>
          <a:p>
            <a:pPr algn="l">
              <a:defRPr sz="2000" b="0">
                <a:solidFill>
                  <a:srgbClr val="A3AEC2"/>
                </a:solidFill>
                <a:latin typeface="Calibri"/>
              </a:defRPr>
            </a:pPr>
            <a:r>
              <a:t>Yang belum teruji disebutkan apa adanya, bukan dihaluskan.</a:t>
            </a:r>
          </a:p>
        </p:txBody>
      </p:sp>
      <p:sp>
        <p:nvSpPr>
          <p:cNvPr id="4" name="TextBox 3"/>
          <p:cNvSpPr txBox="1"/>
          <p:nvPr/>
        </p:nvSpPr>
        <p:spPr>
          <a:xfrm>
            <a:off x="822960" y="5852160"/>
            <a:ext cx="10515600" cy="548640"/>
          </a:xfrm>
          <a:prstGeom prst="rect">
            <a:avLst/>
          </a:prstGeom>
          <a:noFill/>
        </p:spPr>
        <p:txBody>
          <a:bodyPr wrap="square">
            <a:spAutoFit/>
          </a:bodyPr>
          <a:lstStyle/>
          <a:p>
            <a:pPr algn="l">
              <a:defRPr sz="1300" b="0">
                <a:solidFill>
                  <a:srgbClr val="F59E0B"/>
                </a:solidFill>
                <a:latin typeface="Consolas"/>
              </a:defRPr>
            </a:pPr>
            <a:r>
              <a:t>279 tes otomatis hijau · seluruh angka berasal dari data yang benar-benar dihasilkan sistem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